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9" r:id="rId3"/>
    <p:sldId id="280" r:id="rId4"/>
    <p:sldId id="258" r:id="rId5"/>
    <p:sldId id="270" r:id="rId6"/>
    <p:sldId id="266" r:id="rId7"/>
    <p:sldId id="285" r:id="rId8"/>
    <p:sldId id="286" r:id="rId9"/>
    <p:sldId id="287" r:id="rId10"/>
    <p:sldId id="264" r:id="rId11"/>
    <p:sldId id="260" r:id="rId12"/>
    <p:sldId id="277" r:id="rId13"/>
    <p:sldId id="278" r:id="rId14"/>
    <p:sldId id="284" r:id="rId15"/>
    <p:sldId id="281" r:id="rId16"/>
    <p:sldId id="271" r:id="rId17"/>
    <p:sldId id="283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0B15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555-4A80-B873-F948EB771E20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555-4A80-B873-F948EB771E20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1555-4A80-B873-F948EB771E20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1555-4A80-B873-F948EB771E2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Patient (user)</c:v>
                </c:pt>
                <c:pt idx="1">
                  <c:v>Family / caregiver</c:v>
                </c:pt>
                <c:pt idx="2">
                  <c:v>Healthcare professional</c:v>
                </c:pt>
                <c:pt idx="3">
                  <c:v>Technology evaluator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47.4</c:v>
                </c:pt>
                <c:pt idx="1">
                  <c:v>13.2</c:v>
                </c:pt>
                <c:pt idx="2">
                  <c:v>7.9</c:v>
                </c:pt>
                <c:pt idx="3">
                  <c:v>31.6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55-4A80-B873-F948EB771E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8B9-4DE3-A170-B04E02D042B7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8B9-4DE3-A170-B04E02D042B7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8B9-4DE3-A170-B04E02D042B7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8B9-4DE3-A170-B04E02D042B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Rarely</c:v>
                </c:pt>
                <c:pt idx="1">
                  <c:v>Occasionally</c:v>
                </c:pt>
                <c:pt idx="2">
                  <c:v>Frequently</c:v>
                </c:pt>
                <c:pt idx="3">
                  <c:v>Almost daily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13.5</c:v>
                </c:pt>
                <c:pt idx="1">
                  <c:v>43.2</c:v>
                </c:pt>
                <c:pt idx="2">
                  <c:v>8.1</c:v>
                </c:pt>
                <c:pt idx="3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B9-4DE3-A170-B04E02D042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F732-4645-B6E1-A2194525BB0A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F732-4645-B6E1-A2194525BB0A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F732-4645-B6E1-A2194525BB0A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F732-4645-B6E1-A2194525BB0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Voice alert only</c:v>
                </c:pt>
                <c:pt idx="1">
                  <c:v>Voice + facial expression</c:v>
                </c:pt>
                <c:pt idx="2">
                  <c:v>Voice + phone notification</c:v>
                </c:pt>
                <c:pt idx="3">
                  <c:v>Simple sound alarm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55.3</c:v>
                </c:pt>
                <c:pt idx="1">
                  <c:v>13.2</c:v>
                </c:pt>
                <c:pt idx="2">
                  <c:v>15.8</c:v>
                </c:pt>
                <c:pt idx="3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32-4645-B6E1-A2194525BB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04C-4055-AF9F-3A9CD2349AF6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04C-4055-AF9F-3A9CD2349AF6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004C-4055-AF9F-3A9CD2349AF6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004C-4055-AF9F-3A9CD2349AF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Repeat every 2-3 min</c:v>
                </c:pt>
                <c:pt idx="1">
                  <c:v>Gradually increase volume</c:v>
                </c:pt>
                <c:pt idx="2">
                  <c:v>Notify caregiver after one miss</c:v>
                </c:pt>
                <c:pt idx="3">
                  <c:v>Wait, then escalate to caregiver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11.1</c:v>
                </c:pt>
                <c:pt idx="1">
                  <c:v>36.1</c:v>
                </c:pt>
                <c:pt idx="2">
                  <c:v>22.2</c:v>
                </c:pt>
                <c:pt idx="3">
                  <c:v>30.6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4C-4055-AF9F-3A9CD2349A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D25-4CC3-A147-8FB9162BC799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D25-4CC3-A147-8FB9162BC799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D25-4CC3-A147-8FB9162BC79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5 minutes</c:v>
                </c:pt>
                <c:pt idx="1">
                  <c:v>15 minutes</c:v>
                </c:pt>
                <c:pt idx="2">
                  <c:v>30 minutes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50</c:v>
                </c:pt>
                <c:pt idx="2">
                  <c:v>44.7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25-4CC3-A147-8FB9162BC7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ABD-4D2C-B1AF-2DABA704314B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ABD-4D2C-B1AF-2DABA704314B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ABD-4D2C-B1AF-2DABA704314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Very useful</c:v>
                </c:pt>
                <c:pt idx="1">
                  <c:v>Somewhat useful</c:v>
                </c:pt>
                <c:pt idx="2">
                  <c:v>Not useful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53.1</c:v>
                </c:pt>
                <c:pt idx="1">
                  <c:v>34.4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BD-4D2C-B1AF-2DABA70431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AD6-4E3B-A7B3-7FFF4B9790D4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AD6-4E3B-A7B3-7FFF4B9790D4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AD6-4E3B-A7B3-7FFF4B9790D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Empathetic verbal encouragement</c:v>
                </c:pt>
                <c:pt idx="1">
                  <c:v>Firm, direct reminder</c:v>
                </c:pt>
                <c:pt idx="2">
                  <c:v>Alert a caregiver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81.5</c:v>
                </c:pt>
                <c:pt idx="1">
                  <c:v>11.1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D6-4E3B-A7B3-7FFF4B9790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E93-4B9A-B489-8CDE326BB24D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E93-4B9A-B489-8CDE326BB24D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E93-4B9A-B489-8CDE326BB24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Warm and friendly</c:v>
                </c:pt>
                <c:pt idx="1">
                  <c:v>Calm and formal</c:v>
                </c:pt>
                <c:pt idx="2">
                  <c:v>Neutral, robotic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60.7</c:v>
                </c:pt>
                <c:pt idx="1">
                  <c:v>21.4</c:v>
                </c:pt>
                <c:pt idx="2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93-4B9A-B489-8CDE326BB2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8"/>
          <c:w val="0.6"/>
          <c:h val="0.560000000000000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dPt>
            <c:idx val="0"/>
            <c:bubble3D val="0"/>
            <c:spPr>
              <a:solidFill>
                <a:srgbClr val="4338C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A5-4920-8BB8-40F4D598AD7B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9A5-4920-8BB8-40F4D598AD7B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9A5-4920-8BB8-40F4D598AD7B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9A5-4920-8BB8-40F4D598AD7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Essential</c:v>
                </c:pt>
                <c:pt idx="1">
                  <c:v>Important</c:v>
                </c:pt>
                <c:pt idx="2">
                  <c:v>Optional</c:v>
                </c:pt>
                <c:pt idx="3">
                  <c:v>Not important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3.4</c:v>
                </c:pt>
                <c:pt idx="2">
                  <c:v>3.4</c:v>
                </c:pt>
                <c:pt idx="3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A5-4920-8BB8-40F4D598AD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solidFill>
                <a:srgbClr val="4A5078"/>
              </a:solidFill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3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dgth.2025.168060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2196/65776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</a:t>
            </a:r>
            <a:endParaRPr lang="en-US" sz="4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6068" y="1147630"/>
            <a:ext cx="5934456" cy="1101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Companion</a:t>
            </a:r>
            <a:endParaRPr lang="en-US" sz="48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22" y="2482654"/>
            <a:ext cx="5934456" cy="498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</a:rPr>
              <a:t>PicoBot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Your Smart Reminder, Your Health Partner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9224" y="3739896"/>
            <a:ext cx="713232" cy="713232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assets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6" y="3839748"/>
            <a:ext cx="513527" cy="513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19656" y="3739896"/>
            <a:ext cx="713232" cy="71323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508" y="3839748"/>
            <a:ext cx="513527" cy="513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9344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Voice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Assistant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990088" y="3739896"/>
            <a:ext cx="713232" cy="713232"/>
          </a:xfrm>
          <a:prstGeom prst="ellipse">
            <a:avLst/>
          </a:prstGeom>
          <a:solidFill>
            <a:srgbClr val="2563EB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assets/icons/sm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9940" y="3839748"/>
            <a:ext cx="513527" cy="513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79776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160520" y="3739896"/>
            <a:ext cx="713232" cy="713232"/>
          </a:xfrm>
          <a:prstGeom prst="ellipse">
            <a:avLst/>
          </a:prstGeom>
          <a:solidFill>
            <a:srgbClr val="E11D74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assets/icons/footpri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372" y="3839748"/>
            <a:ext cx="513527" cy="5135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50208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Movement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330952" y="3739896"/>
            <a:ext cx="713232" cy="713232"/>
          </a:xfrm>
          <a:prstGeom prst="ellipse">
            <a:avLst/>
          </a:prstGeom>
          <a:solidFill>
            <a:srgbClr val="EA580C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assets/icons/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0804" y="3839748"/>
            <a:ext cx="513527" cy="513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39" y="4517136"/>
            <a:ext cx="13429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Emergency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1500" b="1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pic>
        <p:nvPicPr>
          <p:cNvPr id="26" name="Robot Picture" descr="Smart Medicine Companion Robot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9750">
                        <a14:foregroundMark x1="10500" y1="29576" x2="12333" y2="71094"/>
                        <a14:foregroundMark x1="11167" y1="30134" x2="45750" y2="24442"/>
                        <a14:foregroundMark x1="52750" y1="24442" x2="75333" y2="20536"/>
                        <a14:foregroundMark x1="75333" y1="19866" x2="89167" y2="25000"/>
                        <a14:foregroundMark x1="90250" y1="26228" x2="87333" y2="65625"/>
                        <a14:foregroundMark x1="88917" y1="46205" x2="90250" y2="46205"/>
                        <a14:foregroundMark x1="89583" y1="46540" x2="88250" y2="64063"/>
                        <a14:foregroundMark x1="20250" y1="84933" x2="87333" y2="64955"/>
                        <a14:foregroundMark x1="69000" y1="24777" x2="71500" y2="23772"/>
                        <a14:foregroundMark x1="71083" y1="24777" x2="72917" y2="247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3552" y="1385375"/>
            <a:ext cx="5363778" cy="4004954"/>
          </a:xfrm>
          <a:prstGeom prst="rect">
            <a:avLst/>
          </a:prstGeom>
        </p:spPr>
      </p:pic>
      <p:sp>
        <p:nvSpPr>
          <p:cNvPr id="300" name="Presented By"/>
          <p:cNvSpPr txBox="1"/>
          <p:nvPr/>
        </p:nvSpPr>
        <p:spPr>
          <a:xfrm>
            <a:off x="438912" y="5440000"/>
            <a:ext cx="720798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Adika Sultana-23101162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1FFFF309-F4D7-4EC0-AA88-7512FE74632B}"/>
              </a:ext>
            </a:extLst>
          </p:cNvPr>
          <p:cNvSpPr/>
          <p:nvPr/>
        </p:nvSpPr>
        <p:spPr>
          <a:xfrm>
            <a:off x="2313432" y="733836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</a:t>
            </a:r>
            <a:endParaRPr lang="en-US" sz="4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A5AA7-4838-47F4-9D1B-78CD7E79F97C}"/>
              </a:ext>
            </a:extLst>
          </p:cNvPr>
          <p:cNvSpPr txBox="1"/>
          <p:nvPr/>
        </p:nvSpPr>
        <p:spPr>
          <a:xfrm>
            <a:off x="4160520" y="137936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</a:t>
            </a:r>
            <a:endParaRPr lang="en-US" sz="4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6431" y="267173"/>
            <a:ext cx="7774193" cy="64008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Executive Summary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3" name="Card 1"/>
          <p:cNvSpPr/>
          <p:nvPr/>
        </p:nvSpPr>
        <p:spPr>
          <a:xfrm>
            <a:off x="548640" y="1188720"/>
            <a:ext cx="357530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adge 1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Card Title 1"/>
          <p:cNvSpPr txBox="1"/>
          <p:nvPr/>
        </p:nvSpPr>
        <p:spPr>
          <a:xfrm>
            <a:off x="1371600" y="1415534"/>
            <a:ext cx="26151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chemeClr val="accent2"/>
                </a:solidFill>
                <a:latin typeface="Times New Roman"/>
              </a:rPr>
              <a:t>Why We Built It</a:t>
            </a:r>
          </a:p>
        </p:txBody>
      </p:sp>
      <p:sp>
        <p:nvSpPr>
          <p:cNvPr id="26" name="Card Body 1"/>
          <p:cNvSpPr txBox="1"/>
          <p:nvPr/>
        </p:nvSpPr>
        <p:spPr>
          <a:xfrm>
            <a:off x="777240" y="1947208"/>
            <a:ext cx="330098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latin typeface="Times New Roman"/>
              </a:rPr>
              <a:t>Many elderly and chronically ill patients forget their medicine, and many skip it on purpose. Reminder apps only fight forgetting, and caregivers cannot always be present. We built </a:t>
            </a:r>
            <a:r>
              <a:rPr sz="1600" b="1" i="0" dirty="0" err="1">
                <a:latin typeface="Times New Roman"/>
              </a:rPr>
              <a:t>PicoBot</a:t>
            </a:r>
            <a:r>
              <a:rPr sz="1600" b="1" i="0" dirty="0">
                <a:latin typeface="Times New Roman"/>
              </a:rPr>
              <a:t> to close this gap.</a:t>
            </a:r>
          </a:p>
        </p:txBody>
      </p:sp>
      <p:sp>
        <p:nvSpPr>
          <p:cNvPr id="27" name="Card 2"/>
          <p:cNvSpPr/>
          <p:nvPr/>
        </p:nvSpPr>
        <p:spPr>
          <a:xfrm>
            <a:off x="4306824" y="1188720"/>
            <a:ext cx="357530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adge 2"/>
          <p:cNvSpPr/>
          <p:nvPr/>
        </p:nvSpPr>
        <p:spPr>
          <a:xfrm>
            <a:off x="4535424" y="13716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Card Title 2"/>
          <p:cNvSpPr txBox="1"/>
          <p:nvPr/>
        </p:nvSpPr>
        <p:spPr>
          <a:xfrm>
            <a:off x="5061204" y="1415533"/>
            <a:ext cx="26151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chemeClr val="accent5">
                    <a:lumMod val="75000"/>
                  </a:schemeClr>
                </a:solidFill>
                <a:latin typeface="Times New Roman"/>
              </a:rPr>
              <a:t>Our Goal</a:t>
            </a:r>
          </a:p>
        </p:txBody>
      </p:sp>
      <p:sp>
        <p:nvSpPr>
          <p:cNvPr id="30" name="Card Body 2"/>
          <p:cNvSpPr txBox="1"/>
          <p:nvPr/>
        </p:nvSpPr>
        <p:spPr>
          <a:xfrm>
            <a:off x="4535424" y="2011680"/>
            <a:ext cx="311810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latin typeface="Times New Roman"/>
              </a:rPr>
              <a:t>Raise medication adherence with a low-cost companion robot that tackles both forgetting and unwillingness, and keeps the user safe with an instant emergency SMS alert.</a:t>
            </a:r>
          </a:p>
        </p:txBody>
      </p:sp>
      <p:sp>
        <p:nvSpPr>
          <p:cNvPr id="31" name="Card 3"/>
          <p:cNvSpPr/>
          <p:nvPr/>
        </p:nvSpPr>
        <p:spPr>
          <a:xfrm>
            <a:off x="8065008" y="1188720"/>
            <a:ext cx="357530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adge 3"/>
          <p:cNvSpPr/>
          <p:nvPr/>
        </p:nvSpPr>
        <p:spPr>
          <a:xfrm>
            <a:off x="8293608" y="137160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Card Title 3"/>
          <p:cNvSpPr txBox="1"/>
          <p:nvPr/>
        </p:nvSpPr>
        <p:spPr>
          <a:xfrm>
            <a:off x="8887968" y="1415534"/>
            <a:ext cx="26151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2F0B15"/>
                </a:solidFill>
                <a:latin typeface="Times New Roman"/>
              </a:rPr>
              <a:t>My Contribution</a:t>
            </a:r>
          </a:p>
        </p:txBody>
      </p:sp>
      <p:sp>
        <p:nvSpPr>
          <p:cNvPr id="34" name="Card Body 3"/>
          <p:cNvSpPr txBox="1"/>
          <p:nvPr/>
        </p:nvSpPr>
        <p:spPr>
          <a:xfrm>
            <a:off x="8293608" y="2011680"/>
            <a:ext cx="3118104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dirty="0">
                <a:latin typeface="Times New Roman"/>
              </a:rPr>
              <a:t>50% Literature Gap · 50% Survey · Problem Statement · Why This Topic · Conceptual Model · Hardware &amp; Budget · </a:t>
            </a:r>
            <a:r>
              <a:rPr lang="en-US" sz="1600" b="1" dirty="0">
                <a:latin typeface="Times New Roman"/>
              </a:rPr>
              <a:t>Fully</a:t>
            </a:r>
            <a:r>
              <a:rPr sz="1600" b="1" dirty="0">
                <a:latin typeface="Times New Roman"/>
              </a:rPr>
              <a:t> Circuit Design · 50% Hardware Implementation · Gantt Chart · Video</a:t>
            </a:r>
          </a:p>
        </p:txBody>
      </p:sp>
      <p:sp>
        <p:nvSpPr>
          <p:cNvPr id="35" name="Stat Tile 1"/>
          <p:cNvSpPr/>
          <p:nvPr/>
        </p:nvSpPr>
        <p:spPr>
          <a:xfrm>
            <a:off x="548640" y="4206240"/>
            <a:ext cx="263575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tat Number 1"/>
          <p:cNvSpPr txBox="1"/>
          <p:nvPr/>
        </p:nvSpPr>
        <p:spPr>
          <a:xfrm>
            <a:off x="731520" y="4297680"/>
            <a:ext cx="226999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4338CA"/>
                </a:solidFill>
                <a:latin typeface="Times New Roman"/>
              </a:rPr>
              <a:t>75%</a:t>
            </a:r>
          </a:p>
        </p:txBody>
      </p:sp>
      <p:sp>
        <p:nvSpPr>
          <p:cNvPr id="37" name="Stat Label 1"/>
          <p:cNvSpPr txBox="1"/>
          <p:nvPr/>
        </p:nvSpPr>
        <p:spPr>
          <a:xfrm>
            <a:off x="731520" y="5120640"/>
            <a:ext cx="2269998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0" i="0" dirty="0">
                <a:solidFill>
                  <a:srgbClr val="4A5078"/>
                </a:solidFill>
                <a:latin typeface="Times New Roman"/>
              </a:rPr>
              <a:t>of 28 older adults want daily medication reminders [15]</a:t>
            </a:r>
          </a:p>
        </p:txBody>
      </p:sp>
      <p:sp>
        <p:nvSpPr>
          <p:cNvPr id="38" name="Stat Tile 2"/>
          <p:cNvSpPr/>
          <p:nvPr/>
        </p:nvSpPr>
        <p:spPr>
          <a:xfrm>
            <a:off x="3367278" y="4206240"/>
            <a:ext cx="263575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tat Number 2"/>
          <p:cNvSpPr txBox="1"/>
          <p:nvPr/>
        </p:nvSpPr>
        <p:spPr>
          <a:xfrm>
            <a:off x="3550158" y="4297680"/>
            <a:ext cx="226999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A580C"/>
                </a:solidFill>
                <a:latin typeface="Times New Roman"/>
              </a:rPr>
              <a:t>79%</a:t>
            </a:r>
          </a:p>
        </p:txBody>
      </p:sp>
      <p:sp>
        <p:nvSpPr>
          <p:cNvPr id="40" name="Stat Label 2"/>
          <p:cNvSpPr txBox="1"/>
          <p:nvPr/>
        </p:nvSpPr>
        <p:spPr>
          <a:xfrm>
            <a:off x="3550158" y="5120640"/>
            <a:ext cx="2269998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0" i="0" dirty="0">
                <a:solidFill>
                  <a:srgbClr val="4A5078"/>
                </a:solidFill>
                <a:latin typeface="Times New Roman"/>
              </a:rPr>
              <a:t>want emergency assistance from a caregiving AI [15]</a:t>
            </a:r>
          </a:p>
        </p:txBody>
      </p:sp>
      <p:sp>
        <p:nvSpPr>
          <p:cNvPr id="41" name="Stat Tile 3"/>
          <p:cNvSpPr/>
          <p:nvPr/>
        </p:nvSpPr>
        <p:spPr>
          <a:xfrm>
            <a:off x="6185916" y="4206240"/>
            <a:ext cx="263575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Stat Number 3"/>
          <p:cNvSpPr txBox="1"/>
          <p:nvPr/>
        </p:nvSpPr>
        <p:spPr>
          <a:xfrm>
            <a:off x="6368796" y="4297680"/>
            <a:ext cx="226999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7C3AED"/>
                </a:solidFill>
                <a:latin typeface="Times New Roman"/>
              </a:rPr>
              <a:t>2</a:t>
            </a:r>
          </a:p>
        </p:txBody>
      </p:sp>
      <p:sp>
        <p:nvSpPr>
          <p:cNvPr id="43" name="Stat Label 3"/>
          <p:cNvSpPr txBox="1"/>
          <p:nvPr/>
        </p:nvSpPr>
        <p:spPr>
          <a:xfrm>
            <a:off x="6368796" y="5120640"/>
            <a:ext cx="2269998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0" i="0" dirty="0">
                <a:solidFill>
                  <a:srgbClr val="4A5078"/>
                </a:solidFill>
                <a:latin typeface="Times New Roman"/>
              </a:rPr>
              <a:t>causes of non-adherence: forgetting and unwillingness</a:t>
            </a:r>
          </a:p>
        </p:txBody>
      </p:sp>
      <p:sp>
        <p:nvSpPr>
          <p:cNvPr id="44" name="Stat Tile 4"/>
          <p:cNvSpPr/>
          <p:nvPr/>
        </p:nvSpPr>
        <p:spPr>
          <a:xfrm>
            <a:off x="9004554" y="4206240"/>
            <a:ext cx="263575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Stat Number 4"/>
          <p:cNvSpPr txBox="1"/>
          <p:nvPr/>
        </p:nvSpPr>
        <p:spPr>
          <a:xfrm>
            <a:off x="9187434" y="4401383"/>
            <a:ext cx="226999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4000" b="1" i="0" dirty="0">
                <a:solidFill>
                  <a:srgbClr val="0D9488"/>
                </a:solidFill>
                <a:latin typeface="Times New Roman"/>
              </a:rPr>
              <a:t>Tk </a:t>
            </a:r>
            <a:r>
              <a:rPr sz="4000" b="1" i="0" dirty="0">
                <a:solidFill>
                  <a:srgbClr val="0D9488"/>
                </a:solidFill>
                <a:latin typeface="Times New Roman"/>
              </a:rPr>
              <a:t>4,236</a:t>
            </a:r>
          </a:p>
        </p:txBody>
      </p:sp>
      <p:sp>
        <p:nvSpPr>
          <p:cNvPr id="46" name="Stat Label 4"/>
          <p:cNvSpPr txBox="1"/>
          <p:nvPr/>
        </p:nvSpPr>
        <p:spPr>
          <a:xfrm>
            <a:off x="9187434" y="5120640"/>
            <a:ext cx="2269998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0" i="0" dirty="0">
                <a:solidFill>
                  <a:srgbClr val="4A5078"/>
                </a:solidFill>
                <a:latin typeface="Times New Roman"/>
              </a:rPr>
              <a:t>total cost of the </a:t>
            </a:r>
            <a:r>
              <a:rPr sz="1400" b="0" i="0" dirty="0" err="1">
                <a:solidFill>
                  <a:srgbClr val="4A5078"/>
                </a:solidFill>
                <a:latin typeface="Times New Roman"/>
              </a:rPr>
              <a:t>PicoBot</a:t>
            </a:r>
            <a:r>
              <a:rPr sz="1400" b="0" i="0" dirty="0">
                <a:solidFill>
                  <a:srgbClr val="4A5078"/>
                </a:solidFill>
                <a:latin typeface="Times New Roman"/>
              </a:rPr>
              <a:t>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43560" y="507492"/>
            <a:ext cx="7559040" cy="64008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My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4" name="Progress Track"/>
          <p:cNvSpPr/>
          <p:nvPr/>
        </p:nvSpPr>
        <p:spPr>
          <a:xfrm>
            <a:off x="548640" y="1572768"/>
            <a:ext cx="11091672" cy="182880"/>
          </a:xfrm>
          <a:prstGeom prst="roundRect">
            <a:avLst>
              <a:gd name="adj" fmla="val 50000"/>
            </a:avLst>
          </a:prstGeom>
          <a:solidFill>
            <a:srgbClr val="E3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ogress 50"/>
          <p:cNvSpPr/>
          <p:nvPr/>
        </p:nvSpPr>
        <p:spPr>
          <a:xfrm>
            <a:off x="548640" y="1572768"/>
            <a:ext cx="5545836" cy="18288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Done Card 1"/>
          <p:cNvSpPr/>
          <p:nvPr/>
        </p:nvSpPr>
        <p:spPr>
          <a:xfrm>
            <a:off x="548640" y="196596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Done Badge 1"/>
          <p:cNvSpPr/>
          <p:nvPr/>
        </p:nvSpPr>
        <p:spPr>
          <a:xfrm>
            <a:off x="685800" y="207596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2" name="Done Title 1"/>
          <p:cNvSpPr txBox="1"/>
          <p:nvPr/>
        </p:nvSpPr>
        <p:spPr>
          <a:xfrm>
            <a:off x="685800" y="251172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Literature Gap</a:t>
            </a:r>
          </a:p>
        </p:txBody>
      </p:sp>
      <p:sp>
        <p:nvSpPr>
          <p:cNvPr id="203" name="Done Body 1"/>
          <p:cNvSpPr txBox="1"/>
          <p:nvPr/>
        </p:nvSpPr>
        <p:spPr>
          <a:xfrm>
            <a:off x="685800" y="286596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Read 2 papers and built the literature gap from them.</a:t>
            </a:r>
          </a:p>
        </p:txBody>
      </p:sp>
      <p:sp>
        <p:nvSpPr>
          <p:cNvPr id="204" name="Done Card 2"/>
          <p:cNvSpPr/>
          <p:nvPr/>
        </p:nvSpPr>
        <p:spPr>
          <a:xfrm>
            <a:off x="2794400" y="196596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Done Badge 2"/>
          <p:cNvSpPr/>
          <p:nvPr/>
        </p:nvSpPr>
        <p:spPr>
          <a:xfrm>
            <a:off x="2931560" y="20759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6" name="Done Title 2"/>
          <p:cNvSpPr txBox="1"/>
          <p:nvPr/>
        </p:nvSpPr>
        <p:spPr>
          <a:xfrm>
            <a:off x="2931560" y="251172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Survey</a:t>
            </a:r>
          </a:p>
        </p:txBody>
      </p:sp>
      <p:sp>
        <p:nvSpPr>
          <p:cNvPr id="207" name="Done Body 2"/>
          <p:cNvSpPr txBox="1"/>
          <p:nvPr/>
        </p:nvSpPr>
        <p:spPr>
          <a:xfrm>
            <a:off x="2931560" y="286596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50% of the survey is done, based on the literature gap.</a:t>
            </a:r>
          </a:p>
        </p:txBody>
      </p:sp>
      <p:sp>
        <p:nvSpPr>
          <p:cNvPr id="208" name="Done Card 3"/>
          <p:cNvSpPr/>
          <p:nvPr/>
        </p:nvSpPr>
        <p:spPr>
          <a:xfrm>
            <a:off x="5040160" y="196596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Done Badge 3"/>
          <p:cNvSpPr/>
          <p:nvPr/>
        </p:nvSpPr>
        <p:spPr>
          <a:xfrm>
            <a:off x="5177320" y="20759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0" name="Done Title 3"/>
          <p:cNvSpPr txBox="1"/>
          <p:nvPr/>
        </p:nvSpPr>
        <p:spPr>
          <a:xfrm>
            <a:off x="5177320" y="251172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211" name="Done Body 3"/>
          <p:cNvSpPr txBox="1"/>
          <p:nvPr/>
        </p:nvSpPr>
        <p:spPr>
          <a:xfrm>
            <a:off x="5177320" y="286596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Forgetting, refusal, no confirmation and absent caregivers.</a:t>
            </a:r>
          </a:p>
        </p:txBody>
      </p:sp>
      <p:sp>
        <p:nvSpPr>
          <p:cNvPr id="212" name="Done Card 4"/>
          <p:cNvSpPr/>
          <p:nvPr/>
        </p:nvSpPr>
        <p:spPr>
          <a:xfrm>
            <a:off x="7285920" y="196596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Done Badge 4"/>
          <p:cNvSpPr/>
          <p:nvPr/>
        </p:nvSpPr>
        <p:spPr>
          <a:xfrm>
            <a:off x="7423080" y="20759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4" name="Done Title 4"/>
          <p:cNvSpPr txBox="1"/>
          <p:nvPr/>
        </p:nvSpPr>
        <p:spPr>
          <a:xfrm>
            <a:off x="7423080" y="251172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Why This Topic</a:t>
            </a:r>
          </a:p>
        </p:txBody>
      </p:sp>
      <p:sp>
        <p:nvSpPr>
          <p:cNvPr id="215" name="Done Body 4"/>
          <p:cNvSpPr txBox="1"/>
          <p:nvPr/>
        </p:nvSpPr>
        <p:spPr>
          <a:xfrm>
            <a:off x="7423080" y="286596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Most tools fix only forgetting; we join robotics, AI voice and IoT.</a:t>
            </a:r>
          </a:p>
        </p:txBody>
      </p:sp>
      <p:sp>
        <p:nvSpPr>
          <p:cNvPr id="216" name="Done Card 5"/>
          <p:cNvSpPr/>
          <p:nvPr/>
        </p:nvSpPr>
        <p:spPr>
          <a:xfrm>
            <a:off x="9531680" y="196596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Done Badge 5"/>
          <p:cNvSpPr/>
          <p:nvPr/>
        </p:nvSpPr>
        <p:spPr>
          <a:xfrm>
            <a:off x="9668840" y="20759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8" name="Done Title 5"/>
          <p:cNvSpPr txBox="1"/>
          <p:nvPr/>
        </p:nvSpPr>
        <p:spPr>
          <a:xfrm>
            <a:off x="9668840" y="251172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Conceptual Model</a:t>
            </a:r>
          </a:p>
        </p:txBody>
      </p:sp>
      <p:sp>
        <p:nvSpPr>
          <p:cNvPr id="219" name="Done Body 5"/>
          <p:cNvSpPr txBox="1"/>
          <p:nvPr/>
        </p:nvSpPr>
        <p:spPr>
          <a:xfrm>
            <a:off x="9668840" y="286596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Forgetting: reminder + confirmation. Unwillingness: emotional engagement.</a:t>
            </a:r>
          </a:p>
        </p:txBody>
      </p:sp>
      <p:sp>
        <p:nvSpPr>
          <p:cNvPr id="220" name="Done Card 6"/>
          <p:cNvSpPr/>
          <p:nvPr/>
        </p:nvSpPr>
        <p:spPr>
          <a:xfrm>
            <a:off x="5040160" y="372312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Done Badge 6"/>
          <p:cNvSpPr/>
          <p:nvPr/>
        </p:nvSpPr>
        <p:spPr>
          <a:xfrm>
            <a:off x="5177320" y="3833120"/>
            <a:ext cx="365760" cy="365760"/>
          </a:xfrm>
          <a:prstGeom prst="ellipse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2" name="Done Title 6"/>
          <p:cNvSpPr txBox="1"/>
          <p:nvPr/>
        </p:nvSpPr>
        <p:spPr>
          <a:xfrm>
            <a:off x="5177320" y="426888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Circuit Design</a:t>
            </a:r>
          </a:p>
        </p:txBody>
      </p:sp>
      <p:sp>
        <p:nvSpPr>
          <p:cNvPr id="223" name="Done Body 6"/>
          <p:cNvSpPr txBox="1"/>
          <p:nvPr/>
        </p:nvSpPr>
        <p:spPr>
          <a:xfrm>
            <a:off x="5177320" y="462312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ESP32-S3 wiring for all modules and power.</a:t>
            </a:r>
          </a:p>
        </p:txBody>
      </p:sp>
      <p:sp>
        <p:nvSpPr>
          <p:cNvPr id="224" name="Done Card 7"/>
          <p:cNvSpPr/>
          <p:nvPr/>
        </p:nvSpPr>
        <p:spPr>
          <a:xfrm>
            <a:off x="9531680" y="372312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Done Badge 7"/>
          <p:cNvSpPr/>
          <p:nvPr/>
        </p:nvSpPr>
        <p:spPr>
          <a:xfrm>
            <a:off x="9668840" y="383312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6" name="Done Title 7"/>
          <p:cNvSpPr txBox="1"/>
          <p:nvPr/>
        </p:nvSpPr>
        <p:spPr>
          <a:xfrm>
            <a:off x="9668840" y="426888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Video</a:t>
            </a:r>
          </a:p>
        </p:txBody>
      </p:sp>
      <p:sp>
        <p:nvSpPr>
          <p:cNvPr id="227" name="Done Body 7"/>
          <p:cNvSpPr txBox="1"/>
          <p:nvPr/>
        </p:nvSpPr>
        <p:spPr>
          <a:xfrm>
            <a:off x="9668840" y="462312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Project video showing how PicoBot works.</a:t>
            </a:r>
          </a:p>
        </p:txBody>
      </p:sp>
      <p:sp>
        <p:nvSpPr>
          <p:cNvPr id="228" name="Done Card 8"/>
          <p:cNvSpPr/>
          <p:nvPr/>
        </p:nvSpPr>
        <p:spPr>
          <a:xfrm>
            <a:off x="7285920" y="372312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Done Badge 8"/>
          <p:cNvSpPr/>
          <p:nvPr/>
        </p:nvSpPr>
        <p:spPr>
          <a:xfrm>
            <a:off x="7423080" y="383312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0" name="Done Title 8"/>
          <p:cNvSpPr txBox="1"/>
          <p:nvPr/>
        </p:nvSpPr>
        <p:spPr>
          <a:xfrm>
            <a:off x="7423080" y="426888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Gantt Chart</a:t>
            </a:r>
          </a:p>
        </p:txBody>
      </p:sp>
      <p:sp>
        <p:nvSpPr>
          <p:cNvPr id="231" name="Done Body 8"/>
          <p:cNvSpPr txBox="1"/>
          <p:nvPr/>
        </p:nvSpPr>
        <p:spPr>
          <a:xfrm>
            <a:off x="7423080" y="462312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12-week plan; the last 2 weeks are for the paper and report.</a:t>
            </a:r>
          </a:p>
        </p:txBody>
      </p:sp>
      <p:sp>
        <p:nvSpPr>
          <p:cNvPr id="232" name="Done Card 9"/>
          <p:cNvSpPr/>
          <p:nvPr/>
        </p:nvSpPr>
        <p:spPr>
          <a:xfrm>
            <a:off x="548640" y="372312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Done Badge 9"/>
          <p:cNvSpPr/>
          <p:nvPr/>
        </p:nvSpPr>
        <p:spPr>
          <a:xfrm>
            <a:off x="685800" y="383312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4" name="Done Title 9"/>
          <p:cNvSpPr txBox="1"/>
          <p:nvPr/>
        </p:nvSpPr>
        <p:spPr>
          <a:xfrm>
            <a:off x="685800" y="4268880"/>
            <a:ext cx="183428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500" b="1" i="0">
                <a:solidFill>
                  <a:srgbClr val="1E1B4B"/>
                </a:solidFill>
                <a:latin typeface="Times New Roman"/>
              </a:rPr>
              <a:t>Hardware &amp; Budget</a:t>
            </a:r>
          </a:p>
        </p:txBody>
      </p:sp>
      <p:sp>
        <p:nvSpPr>
          <p:cNvPr id="235" name="Done Body 9"/>
          <p:cNvSpPr txBox="1"/>
          <p:nvPr/>
        </p:nvSpPr>
        <p:spPr>
          <a:xfrm>
            <a:off x="685800" y="462312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 dirty="0">
                <a:solidFill>
                  <a:srgbClr val="4A5078"/>
                </a:solidFill>
                <a:latin typeface="Times New Roman"/>
              </a:rPr>
              <a:t>15 components selected, total cost </a:t>
            </a:r>
            <a:r>
              <a:rPr lang="en-US" sz="1150" b="0" i="0" dirty="0" err="1">
                <a:solidFill>
                  <a:srgbClr val="4A5078"/>
                </a:solidFill>
                <a:latin typeface="Times New Roman"/>
              </a:rPr>
              <a:t>tk</a:t>
            </a:r>
            <a:r>
              <a:rPr lang="en-US" sz="1150" b="0" i="0" dirty="0">
                <a:solidFill>
                  <a:srgbClr val="4A5078"/>
                </a:solidFill>
                <a:latin typeface="Times New Roman"/>
              </a:rPr>
              <a:t> 4,236.</a:t>
            </a:r>
          </a:p>
        </p:txBody>
      </p:sp>
      <p:sp>
        <p:nvSpPr>
          <p:cNvPr id="236" name="Done Card 10"/>
          <p:cNvSpPr/>
          <p:nvPr/>
        </p:nvSpPr>
        <p:spPr>
          <a:xfrm>
            <a:off x="2794400" y="3723120"/>
            <a:ext cx="21086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Done Badge 10"/>
          <p:cNvSpPr/>
          <p:nvPr/>
        </p:nvSpPr>
        <p:spPr>
          <a:xfrm>
            <a:off x="2931560" y="3833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8" name="Done Title 10"/>
          <p:cNvSpPr txBox="1"/>
          <p:nvPr/>
        </p:nvSpPr>
        <p:spPr>
          <a:xfrm>
            <a:off x="2931560" y="426888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1250" b="1" i="0">
                <a:solidFill>
                  <a:srgbClr val="1E1B4B"/>
                </a:solidFill>
                <a:latin typeface="Times New Roman"/>
              </a:rPr>
              <a:t>Hardware Implementation</a:t>
            </a:r>
          </a:p>
        </p:txBody>
      </p:sp>
      <p:sp>
        <p:nvSpPr>
          <p:cNvPr id="239" name="Done Body 10"/>
          <p:cNvSpPr txBox="1"/>
          <p:nvPr/>
        </p:nvSpPr>
        <p:spPr>
          <a:xfrm>
            <a:off x="2931560" y="4623120"/>
            <a:ext cx="183428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1150" b="0" i="0">
                <a:solidFill>
                  <a:srgbClr val="4A5078"/>
                </a:solidFill>
                <a:latin typeface="Times New Roman"/>
              </a:rPr>
              <a:t>Wired MQ-2, PIR, touch, voltage divider, I2S amplifier, buck converter and capacitor.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45"/>
          <a:stretch/>
        </p:blipFill>
        <p:spPr bwMode="auto">
          <a:xfrm>
            <a:off x="5669323" y="1207008"/>
            <a:ext cx="6397845" cy="438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1"/>
          <p:cNvSpPr/>
          <p:nvPr/>
        </p:nvSpPr>
        <p:spPr>
          <a:xfrm>
            <a:off x="3588571" y="489625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12648" y="1417320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37" y="1489009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91351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Many elderly or chronically ill patients simply forget medicine timing, dosage, or whether they already took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" y="2660904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assets/icons/repe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37" y="2732593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7322" y="2634576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ea typeface="Arial" pitchFamily="34" charset="-122"/>
                <a:cs typeface="Times New Roman" panose="02020603050405020304" pitchFamily="18" charset="0"/>
              </a:rPr>
              <a:t>Even when reminded, many skip medicine on purpose low mood, denial, or simply not feeling like it.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12648" y="3904488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2" descr="assets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337" y="3976177"/>
            <a:ext cx="368686" cy="3686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7322" y="3784975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Reminder apps only fight forgetting  they can't sense reluctance or confirm the dose was truly taken.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2648" y="5148072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3" descr="assets/icons/al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37" y="5219761"/>
            <a:ext cx="368686" cy="3686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83" y="5122103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Caregivers can't always be present, leaving emergencies or emotional low points without easily accessible help.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929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5500"/>
            <a:ext cx="7640204" cy="440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Shape 12"/>
          <p:cNvSpPr/>
          <p:nvPr/>
        </p:nvSpPr>
        <p:spPr>
          <a:xfrm>
            <a:off x="742774" y="1280160"/>
            <a:ext cx="0" cy="5074920"/>
          </a:xfrm>
          <a:prstGeom prst="line">
            <a:avLst/>
          </a:prstGeom>
          <a:noFill/>
          <a:ln w="12700">
            <a:solidFill>
              <a:srgbClr val="C9C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3"/>
          <p:cNvSpPr/>
          <p:nvPr/>
        </p:nvSpPr>
        <p:spPr>
          <a:xfrm>
            <a:off x="6355079" y="566928"/>
            <a:ext cx="507492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D28D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We Choose This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6D28D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Topic?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10698480" y="548640"/>
            <a:ext cx="731520" cy="731520"/>
          </a:xfrm>
          <a:prstGeom prst="ellipse">
            <a:avLst/>
          </a:prstGeom>
          <a:solidFill>
            <a:srgbClr val="EA580C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5" descr="assets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893" y="651053"/>
            <a:ext cx="526694" cy="52669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91893" y="198120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6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901" y="204520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07352" y="19583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Non-adherence has two causes  forgetting and unwillingness yet most tools fix only the first.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6446520" y="3044952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7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108960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73824" y="304740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Combines robotics, AI voice, affective computing, and IoT to address both memory and motivation.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6446520" y="4005072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8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069080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07352" y="4079434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Supports independent living and emotional well-being, not just pill-time alerts.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6446520" y="4965192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9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5029200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07352" y="4882717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Backed by recent adherence and social-robotics research scalable, research-grounded design.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8463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62399" y="471543"/>
            <a:ext cx="6958405" cy="64008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Literature Gap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graphicFrame>
        <p:nvGraphicFramePr>
          <p:cNvPr id="23" name="Literature G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52730"/>
              </p:ext>
            </p:extLst>
          </p:nvPr>
        </p:nvGraphicFramePr>
        <p:xfrm>
          <a:off x="503816" y="1312435"/>
          <a:ext cx="11290686" cy="4957483"/>
        </p:xfrm>
        <a:graphic>
          <a:graphicData uri="http://schemas.openxmlformats.org/drawingml/2006/table">
            <a:tbl>
              <a:tblPr/>
              <a:tblGrid>
                <a:gridCol w="32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6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3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265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Study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Reminder &amp; Confirmation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Emotional Refusal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Safety Net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125"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1E1B4B"/>
                          </a:solidFill>
                          <a:latin typeface="Times New Roman"/>
                        </a:rPr>
                        <a:t>Tamantini</a:t>
                      </a:r>
                      <a:r>
                        <a:rPr sz="1600" b="1" i="0" dirty="0">
                          <a:solidFill>
                            <a:srgbClr val="1E1B4B"/>
                          </a:solidFill>
                          <a:latin typeface="Times New Roman"/>
                        </a:rPr>
                        <a:t> et al. (2025) [14]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Virtual agent that switches between enthusiastic and neutral style from the user’s facial emotion (20 participants)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6B7299"/>
                          </a:solidFill>
                          <a:latin typeface="Times New Roman"/>
                        </a:rPr>
                        <a:t>Not addressed</a:t>
                      </a:r>
                    </a:p>
                    <a:p>
                      <a:pPr algn="ctr"/>
                      <a:r>
                        <a:rPr sz="1600" b="0" i="0">
                          <a:solidFill>
                            <a:srgbClr val="4A5078"/>
                          </a:solidFill>
                          <a:latin typeface="Times New Roman"/>
                        </a:rPr>
                        <a:t>Questionnaire task, not medicine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E1B4B"/>
                          </a:solidFill>
                          <a:latin typeface="Times New Roman"/>
                        </a:rPr>
                        <a:t>Yes</a:t>
                      </a:r>
                    </a:p>
                    <a:p>
                      <a:pPr algn="ctr"/>
                      <a:r>
                        <a:rPr sz="1600" b="0" i="0">
                          <a:solidFill>
                            <a:srgbClr val="4A5078"/>
                          </a:solidFill>
                          <a:latin typeface="Times New Roman"/>
                        </a:rPr>
                        <a:t>Adapts speaking style to the user’s emotion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6B7299"/>
                          </a:solidFill>
                          <a:latin typeface="Times New Roman"/>
                        </a:rPr>
                        <a:t>Not addressed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4A5078"/>
                          </a:solidFill>
                          <a:latin typeface="Times New Roman"/>
                        </a:rPr>
                        <a:t>Not medicine-specific; needs a camera and GPT-4; no significant experience gain over a static form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6637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1E1B4B"/>
                          </a:solidFill>
                          <a:latin typeface="Times New Roman"/>
                        </a:rPr>
                        <a:t>Wolfe et al. (2025) [15]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Mixed-method study of older adults’ views on caregiving AI chatbots (medication reminders, companionship)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E0D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/>
                        </a:rPr>
                        <a:t>Interest only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75% (21/28) want daily medication reminders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E0D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/>
                        </a:rPr>
                        <a:t>Partly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Users split into adapters, wary and resisters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E0D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/>
                        </a:rPr>
                        <a:t>Interest only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79% (22/28) want emergency assistance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E0D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4A5078"/>
                          </a:solidFill>
                          <a:latin typeface="Times New Roman"/>
                        </a:rPr>
                        <a:t>Attitude study, not a built system; usability barriers remain for older adults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E0D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545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338CA"/>
                          </a:solidFill>
                          <a:latin typeface="Times New Roman"/>
                        </a:rPr>
                        <a:t>PicoBot (Ours)</a:t>
                      </a:r>
                    </a:p>
                    <a:p>
                      <a:pPr algn="ctr"/>
                      <a:r>
                        <a:rPr sz="1600" b="0" i="0">
                          <a:solidFill>
                            <a:srgbClr val="4A5078"/>
                          </a:solidFill>
                          <a:latin typeface="Times New Roman"/>
                        </a:rPr>
                        <a:t>Reminder + persuasion + emergency alert in one low-cost ESP32-S3 robot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4338CA"/>
                          </a:solidFill>
                          <a:latin typeface="Times New Roman"/>
                        </a:rPr>
                        <a:t>Yes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RTC alarm, voice, button confirmation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4338CA"/>
                          </a:solidFill>
                          <a:latin typeface="Times New Roman"/>
                        </a:rPr>
                        <a:t>Yes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Empathetic voice + mood-aware face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4338CA"/>
                          </a:solidFill>
                          <a:latin typeface="Times New Roman"/>
                        </a:rPr>
                        <a:t>Yes</a:t>
                      </a:r>
                    </a:p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MQ-2 gas alert, SMS, SD log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4A5078"/>
                          </a:solidFill>
                          <a:latin typeface="Times New Roman"/>
                        </a:rPr>
                        <a:t>Prototype stage  field evaluation is proposed future work</a:t>
                      </a:r>
                    </a:p>
                  </a:txBody>
                  <a:tcPr marL="109728" marR="109728" anchor="ctr">
                    <a:lnL w="6350">
                      <a:solidFill>
                        <a:srgbClr val="E3E1F5"/>
                      </a:solidFill>
                    </a:lnL>
                    <a:lnR w="6350">
                      <a:solidFill>
                        <a:srgbClr val="E3E1F5"/>
                      </a:solidFill>
                    </a:lnR>
                    <a:lnT w="6350">
                      <a:solidFill>
                        <a:srgbClr val="E3E1F5"/>
                      </a:solidFill>
                    </a:lnT>
                    <a:lnB w="6350">
                      <a:solidFill>
                        <a:srgbClr val="E3E1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0" y="566928"/>
            <a:ext cx="12191695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lang="en-US" sz="4000" b="1" dirty="0">
                <a:solidFill>
                  <a:srgbClr val="1E1B4B"/>
                </a:solidFill>
                <a:latin typeface="Times New Roman"/>
                <a:cs typeface="Times New Roman"/>
              </a:rPr>
              <a:t>Survey Analysis</a:t>
            </a:r>
          </a:p>
        </p:txBody>
      </p:sp>
      <p:sp>
        <p:nvSpPr>
          <p:cNvPr id="19" name="Card 1"/>
          <p:cNvSpPr/>
          <p:nvPr/>
        </p:nvSpPr>
        <p:spPr>
          <a:xfrm>
            <a:off x="5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Q1 · Respondent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What is your relationship to the intended user of the robot?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38 responses</a:t>
            </a:r>
          </a:p>
        </p:txBody>
      </p:sp>
      <p:sp>
        <p:nvSpPr>
          <p:cNvPr id="24" name="Card 2"/>
          <p:cNvSpPr/>
          <p:nvPr/>
        </p:nvSpPr>
        <p:spPr>
          <a:xfrm>
            <a:off x="432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7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Q2 · Respondent Background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How often does the intended user forget to take medicine on time?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42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47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37 responses</a:t>
            </a:r>
          </a:p>
        </p:txBody>
      </p:sp>
      <p:sp>
        <p:nvSpPr>
          <p:cNvPr id="29" name="Card 3"/>
          <p:cNvSpPr/>
          <p:nvPr/>
        </p:nvSpPr>
        <p:spPr>
          <a:xfrm>
            <a:off x="80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Q3 · Reminder &amp; Alert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Which reminder method would be most effective for the user?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81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2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38 responses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4BA11-4923-4846-866A-0907051810F7}"/>
              </a:ext>
            </a:extLst>
          </p:cNvPr>
          <p:cNvSpPr txBox="1"/>
          <p:nvPr/>
        </p:nvSpPr>
        <p:spPr>
          <a:xfrm>
            <a:off x="11525000" y="6392992"/>
            <a:ext cx="433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0" y="566928"/>
            <a:ext cx="12191695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lang="en-US" sz="4000" b="1" dirty="0">
                <a:solidFill>
                  <a:srgbClr val="1E1B4B"/>
                </a:solidFill>
                <a:latin typeface="Times New Roman"/>
                <a:cs typeface="Times New Roman"/>
              </a:rPr>
              <a:t>Survey Analysis</a:t>
            </a:r>
          </a:p>
        </p:txBody>
      </p:sp>
      <p:sp>
        <p:nvSpPr>
          <p:cNvPr id="19" name="Card 4"/>
          <p:cNvSpPr/>
          <p:nvPr/>
        </p:nvSpPr>
        <p:spPr>
          <a:xfrm>
            <a:off x="5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Q4 · Reminder &amp; Alert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If the first reminder is ignored, how should the robot respond?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36 responses</a:t>
            </a:r>
          </a:p>
        </p:txBody>
      </p:sp>
      <p:sp>
        <p:nvSpPr>
          <p:cNvPr id="24" name="Card 5"/>
          <p:cNvSpPr/>
          <p:nvPr/>
        </p:nvSpPr>
        <p:spPr>
          <a:xfrm>
            <a:off x="432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7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Q5 · Reminder &amp; Alert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How long should the robot keep reminding before a dose is logged as missed?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42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47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38 responses</a:t>
            </a:r>
          </a:p>
        </p:txBody>
      </p:sp>
      <p:sp>
        <p:nvSpPr>
          <p:cNvPr id="29" name="Card 6"/>
          <p:cNvSpPr/>
          <p:nvPr/>
        </p:nvSpPr>
        <p:spPr>
          <a:xfrm>
            <a:off x="80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Q6 · Emotional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How useful would a facial expression feature be for the user?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81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2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32 responses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59A184-633B-4863-90B3-E5F4E28672C8}"/>
              </a:ext>
            </a:extLst>
          </p:cNvPr>
          <p:cNvSpPr txBox="1"/>
          <p:nvPr/>
        </p:nvSpPr>
        <p:spPr>
          <a:xfrm>
            <a:off x="11475000" y="6291072"/>
            <a:ext cx="50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0" y="566928"/>
            <a:ext cx="12191695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lang="en-US" sz="4000" b="1" dirty="0">
                <a:solidFill>
                  <a:srgbClr val="1E1B4B"/>
                </a:solidFill>
                <a:latin typeface="Times New Roman"/>
                <a:cs typeface="Times New Roman"/>
              </a:rPr>
              <a:t>Survey Analysis</a:t>
            </a:r>
          </a:p>
        </p:txBody>
      </p:sp>
      <p:sp>
        <p:nvSpPr>
          <p:cNvPr id="18" name="Page Number"/>
          <p:cNvSpPr txBox="1"/>
          <p:nvPr/>
        </p:nvSpPr>
        <p:spPr>
          <a:xfrm>
            <a:off x="11368735" y="6355080"/>
            <a:ext cx="5486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lang="en-US" sz="1900" b="1" dirty="0">
                <a:solidFill>
                  <a:srgbClr val="4338CA"/>
                </a:solidFill>
                <a:latin typeface="Times New Roman"/>
                <a:cs typeface="Times New Roman"/>
              </a:rPr>
              <a:t>09</a:t>
            </a:r>
          </a:p>
        </p:txBody>
      </p:sp>
      <p:sp>
        <p:nvSpPr>
          <p:cNvPr id="19" name="Card 7"/>
          <p:cNvSpPr/>
          <p:nvPr/>
        </p:nvSpPr>
        <p:spPr>
          <a:xfrm>
            <a:off x="5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Q7 · Emotional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When the user shows reluctance, what robot response is most appropriate?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27 responses</a:t>
            </a:r>
          </a:p>
        </p:txBody>
      </p:sp>
      <p:sp>
        <p:nvSpPr>
          <p:cNvPr id="24" name="Card 8"/>
          <p:cNvSpPr/>
          <p:nvPr/>
        </p:nvSpPr>
        <p:spPr>
          <a:xfrm>
            <a:off x="432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7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Q8 · Emotional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What tone of voice would be most acceptable for spoken reminders?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42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47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28 responses</a:t>
            </a:r>
          </a:p>
        </p:txBody>
      </p:sp>
      <p:sp>
        <p:nvSpPr>
          <p:cNvPr id="29" name="Card 9"/>
          <p:cNvSpPr/>
          <p:nvPr/>
        </p:nvSpPr>
        <p:spPr>
          <a:xfrm>
            <a:off x="8075000" y="1400000"/>
            <a:ext cx="355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5000" y="153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Times New Roman"/>
              </a:rPr>
              <a:t>Q9 · Safety &amp;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5000" y="1830000"/>
            <a:ext cx="325000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Times New Roman"/>
              </a:rPr>
              <a:t>How important is the movement / presence detection feature?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8175000" y="2630000"/>
          <a:ext cx="3350000" cy="3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225000" y="5860000"/>
            <a:ext cx="32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078"/>
                </a:solidFill>
                <a:latin typeface="Times New Roman"/>
              </a:rPr>
              <a:t>29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7280" y="411480"/>
            <a:ext cx="999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Concept Model: Solving Both Sides of Non-Adherence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grpSp>
        <p:nvGrpSpPr>
          <p:cNvPr id="507" name="Stage1 Causes"/>
          <p:cNvGrpSpPr/>
          <p:nvPr/>
        </p:nvGrpSpPr>
        <p:grpSpPr>
          <a:xfrm>
            <a:off x="890016" y="1393581"/>
            <a:ext cx="10411968" cy="800338"/>
            <a:chOff x="890016" y="1393581"/>
            <a:chExt cx="10411968" cy="800338"/>
          </a:xfrm>
        </p:grpSpPr>
        <p:sp>
          <p:nvSpPr>
            <p:cNvPr id="501" name="Card"/>
            <p:cNvSpPr/>
            <p:nvPr/>
          </p:nvSpPr>
          <p:spPr>
            <a:xfrm>
              <a:off x="890016" y="1393581"/>
              <a:ext cx="3840480" cy="80033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02" name="Icon"/>
            <p:cNvSpPr/>
            <p:nvPr/>
          </p:nvSpPr>
          <p:spPr>
            <a:xfrm>
              <a:off x="915619" y="1553649"/>
              <a:ext cx="480202" cy="480202"/>
            </a:xfrm>
            <a:prstGeom prst="ellipse">
              <a:avLst/>
            </a:prstGeom>
            <a:solidFill>
              <a:srgbClr val="E11D74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03" name="CardText"/>
            <p:cNvSpPr txBox="1"/>
            <p:nvPr/>
          </p:nvSpPr>
          <p:spPr>
            <a:xfrm>
              <a:off x="1425691" y="1393581"/>
              <a:ext cx="3279202" cy="800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Forgetting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A507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Wrong time, wrong dose, or no memory of taking it at all</a:t>
              </a:r>
            </a:p>
          </p:txBody>
        </p:sp>
        <p:sp>
          <p:nvSpPr>
            <p:cNvPr id="504" name="Card"/>
            <p:cNvSpPr/>
            <p:nvPr/>
          </p:nvSpPr>
          <p:spPr>
            <a:xfrm>
              <a:off x="7461504" y="1393581"/>
              <a:ext cx="3840480" cy="80033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05" name="Icon"/>
            <p:cNvSpPr/>
            <p:nvPr/>
          </p:nvSpPr>
          <p:spPr>
            <a:xfrm>
              <a:off x="7487107" y="1553649"/>
              <a:ext cx="480202" cy="480202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06" name="CardText"/>
            <p:cNvSpPr txBox="1"/>
            <p:nvPr/>
          </p:nvSpPr>
          <p:spPr>
            <a:xfrm>
              <a:off x="7997179" y="1393581"/>
              <a:ext cx="3279202" cy="800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Unwillingness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A507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mood, denial, or simply not feeling like it today</a:t>
              </a:r>
            </a:p>
          </p:txBody>
        </p:sp>
      </p:grpSp>
      <p:grpSp>
        <p:nvGrpSpPr>
          <p:cNvPr id="510" name="Stage2 ArrowsDown"/>
          <p:cNvGrpSpPr/>
          <p:nvPr/>
        </p:nvGrpSpPr>
        <p:grpSpPr>
          <a:xfrm>
            <a:off x="2810256" y="2193919"/>
            <a:ext cx="6571488" cy="508040"/>
            <a:chOff x="2810256" y="2193919"/>
            <a:chExt cx="6571488" cy="508040"/>
          </a:xfrm>
        </p:grpSpPr>
        <p:cxnSp>
          <p:nvCxnSpPr>
            <p:cNvPr id="508" name="ArrowDown1"/>
            <p:cNvCxnSpPr/>
            <p:nvPr/>
          </p:nvCxnSpPr>
          <p:spPr>
            <a:xfrm>
              <a:off x="2810256" y="2193919"/>
              <a:ext cx="1" cy="508040"/>
            </a:xfrm>
            <a:prstGeom prst="line">
              <a:avLst/>
            </a:prstGeom>
            <a:ln w="28575">
              <a:solidFill>
                <a:srgbClr val="E11D74"/>
              </a:solidFill>
              <a:tailEnd type="triangle" w="med" len="med"/>
            </a:ln>
          </p:spPr>
        </p:cxnSp>
        <p:cxnSp>
          <p:nvCxnSpPr>
            <p:cNvPr id="509" name="ArrowDown2"/>
            <p:cNvCxnSpPr/>
            <p:nvPr/>
          </p:nvCxnSpPr>
          <p:spPr>
            <a:xfrm>
              <a:off x="9381744" y="2193919"/>
              <a:ext cx="1" cy="508040"/>
            </a:xfrm>
            <a:prstGeom prst="line">
              <a:avLst/>
            </a:prstGeom>
            <a:ln w="28575">
              <a:solidFill>
                <a:srgbClr val="EA580C"/>
              </a:solidFill>
              <a:tailEnd type="triangle" w="med" len="med"/>
            </a:ln>
          </p:spPr>
        </p:cxnSp>
      </p:grpSp>
      <p:grpSp>
        <p:nvGrpSpPr>
          <p:cNvPr id="517" name="Stage3 Solutions"/>
          <p:cNvGrpSpPr/>
          <p:nvPr/>
        </p:nvGrpSpPr>
        <p:grpSpPr>
          <a:xfrm>
            <a:off x="890016" y="2715878"/>
            <a:ext cx="10411968" cy="869932"/>
            <a:chOff x="890016" y="2715878"/>
            <a:chExt cx="10411968" cy="869932"/>
          </a:xfrm>
        </p:grpSpPr>
        <p:sp>
          <p:nvSpPr>
            <p:cNvPr id="511" name="Card"/>
            <p:cNvSpPr/>
            <p:nvPr/>
          </p:nvSpPr>
          <p:spPr>
            <a:xfrm>
              <a:off x="890016" y="2715878"/>
              <a:ext cx="3840480" cy="86993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12" name="Icon"/>
            <p:cNvSpPr/>
            <p:nvPr/>
          </p:nvSpPr>
          <p:spPr>
            <a:xfrm>
              <a:off x="915619" y="2889864"/>
              <a:ext cx="521960" cy="52196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13" name="CardText"/>
            <p:cNvSpPr txBox="1"/>
            <p:nvPr/>
          </p:nvSpPr>
          <p:spPr>
            <a:xfrm>
              <a:off x="1467449" y="2715878"/>
              <a:ext cx="3237444" cy="8699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Reminder + Confirmation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A507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Voice alarm, RTC schedule, persistent alerts until the button is pressed</a:t>
              </a:r>
            </a:p>
          </p:txBody>
        </p:sp>
        <p:sp>
          <p:nvSpPr>
            <p:cNvPr id="514" name="Card"/>
            <p:cNvSpPr/>
            <p:nvPr/>
          </p:nvSpPr>
          <p:spPr>
            <a:xfrm>
              <a:off x="7461504" y="2715878"/>
              <a:ext cx="3840480" cy="86993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15" name="Icon"/>
            <p:cNvSpPr/>
            <p:nvPr/>
          </p:nvSpPr>
          <p:spPr>
            <a:xfrm>
              <a:off x="7487107" y="2889864"/>
              <a:ext cx="521960" cy="52196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16" name="CardText"/>
            <p:cNvSpPr txBox="1"/>
            <p:nvPr/>
          </p:nvSpPr>
          <p:spPr>
            <a:xfrm>
              <a:off x="8038937" y="2715878"/>
              <a:ext cx="3237444" cy="8699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 Engagement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A507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Empathetic voice persuasion and mood-aware facial expressions</a:t>
              </a:r>
            </a:p>
          </p:txBody>
        </p:sp>
      </p:grpSp>
      <p:grpSp>
        <p:nvGrpSpPr>
          <p:cNvPr id="522" name="Stage4 Hub"/>
          <p:cNvGrpSpPr/>
          <p:nvPr/>
        </p:nvGrpSpPr>
        <p:grpSpPr>
          <a:xfrm>
            <a:off x="2810256" y="3571892"/>
            <a:ext cx="6571488" cy="1708040"/>
            <a:chOff x="2810256" y="3571892"/>
            <a:chExt cx="6571488" cy="1708040"/>
          </a:xfrm>
        </p:grpSpPr>
        <p:cxnSp>
          <p:nvCxnSpPr>
            <p:cNvPr id="518" name="ArrowToHubL"/>
            <p:cNvCxnSpPr/>
            <p:nvPr/>
          </p:nvCxnSpPr>
          <p:spPr>
            <a:xfrm>
              <a:off x="2810256" y="3585811"/>
              <a:ext cx="2688336" cy="382770"/>
            </a:xfrm>
            <a:prstGeom prst="line">
              <a:avLst/>
            </a:prstGeom>
            <a:ln w="28575">
              <a:solidFill>
                <a:srgbClr val="4F46E5"/>
              </a:solidFill>
              <a:tailEnd type="triangle" w="med" len="med"/>
            </a:ln>
          </p:spPr>
        </p:cxnSp>
        <p:cxnSp>
          <p:nvCxnSpPr>
            <p:cNvPr id="519" name="ArrowToHubR"/>
            <p:cNvCxnSpPr/>
            <p:nvPr/>
          </p:nvCxnSpPr>
          <p:spPr>
            <a:xfrm flipH="1">
              <a:off x="6778752" y="3585811"/>
              <a:ext cx="2602992" cy="382770"/>
            </a:xfrm>
            <a:prstGeom prst="line">
              <a:avLst/>
            </a:prstGeom>
            <a:ln w="28575">
              <a:solidFill>
                <a:srgbClr val="7C3AED"/>
              </a:solidFill>
              <a:tailEnd type="triangle" w="med" len="med"/>
            </a:ln>
          </p:spPr>
        </p:cxnSp>
        <p:pic>
          <p:nvPicPr>
            <p:cNvPr id="520" name="Robot Hub" descr="Smart Medicine Companion Robot"/>
            <p:cNvPicPr>
              <a:picLocks noChangeAspect="1"/>
            </p:cNvPicPr>
            <p:nvPr/>
          </p:nvPicPr>
          <p:blipFill>
            <a:blip r:embed="rId3"/>
            <a:srcRect l="4200" r="4200"/>
            <a:stretch>
              <a:fillRect/>
            </a:stretch>
          </p:blipFill>
          <p:spPr>
            <a:xfrm>
              <a:off x="5225491" y="3571892"/>
              <a:ext cx="1741018" cy="1419730"/>
            </a:xfrm>
            <a:prstGeom prst="ellipse">
              <a:avLst/>
            </a:prstGeom>
            <a:ln w="34925">
              <a:solidFill>
                <a:srgbClr val="6D28D9"/>
              </a:solidFill>
            </a:ln>
            <a:effectLst>
              <a:outerShdw blurRad="90000" dist="25000" dir="5400000" rotWithShape="0">
                <a:srgbClr val="6B7299">
                  <a:alpha val="30000"/>
                </a:srgbClr>
              </a:outerShdw>
            </a:effectLst>
          </p:spPr>
        </p:pic>
        <p:sp>
          <p:nvSpPr>
            <p:cNvPr id="521" name="HubCaption"/>
            <p:cNvSpPr txBox="1"/>
            <p:nvPr/>
          </p:nvSpPr>
          <p:spPr>
            <a:xfrm>
              <a:off x="3962400" y="5019932"/>
              <a:ext cx="4267200" cy="2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Smart Medicine Companion Robot</a:t>
              </a:r>
            </a:p>
          </p:txBody>
        </p:sp>
      </p:grpSp>
      <p:grpSp>
        <p:nvGrpSpPr>
          <p:cNvPr id="535" name="Stage5 Outcomes"/>
          <p:cNvGrpSpPr/>
          <p:nvPr/>
        </p:nvGrpSpPr>
        <p:grpSpPr>
          <a:xfrm>
            <a:off x="1487424" y="5360473"/>
            <a:ext cx="9217152" cy="939527"/>
            <a:chOff x="1487424" y="5360473"/>
            <a:chExt cx="9217152" cy="939527"/>
          </a:xfrm>
        </p:grpSpPr>
        <p:cxnSp>
          <p:nvCxnSpPr>
            <p:cNvPr id="523" name="ArrowOutcome"/>
            <p:cNvCxnSpPr/>
            <p:nvPr/>
          </p:nvCxnSpPr>
          <p:spPr>
            <a:xfrm flipH="1">
              <a:off x="2895600" y="5360473"/>
              <a:ext cx="3200400" cy="306216"/>
            </a:xfrm>
            <a:prstGeom prst="line">
              <a:avLst/>
            </a:prstGeom>
            <a:ln w="28575">
              <a:solidFill>
                <a:srgbClr val="1E1B4B"/>
              </a:solidFill>
              <a:tailEnd type="triangle" w="med" len="med"/>
            </a:ln>
          </p:spPr>
        </p:cxnSp>
        <p:sp>
          <p:nvSpPr>
            <p:cNvPr id="524" name="Card"/>
            <p:cNvSpPr/>
            <p:nvPr/>
          </p:nvSpPr>
          <p:spPr>
            <a:xfrm>
              <a:off x="14874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25" name="Icon"/>
            <p:cNvSpPr/>
            <p:nvPr/>
          </p:nvSpPr>
          <p:spPr>
            <a:xfrm>
              <a:off x="1513027" y="5821189"/>
              <a:ext cx="359108" cy="359108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26" name="CardText"/>
            <p:cNvSpPr txBox="1"/>
            <p:nvPr/>
          </p:nvSpPr>
          <p:spPr>
            <a:xfrm>
              <a:off x="19020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Medicine Actually Taken</a:t>
              </a:r>
            </a:p>
          </p:txBody>
        </p:sp>
        <p:cxnSp>
          <p:nvCxnSpPr>
            <p:cNvPr id="527" name="ArrowOutcome"/>
            <p:cNvCxnSpPr/>
            <p:nvPr/>
          </p:nvCxnSpPr>
          <p:spPr>
            <a:xfrm>
              <a:off x="6096000" y="5360473"/>
              <a:ext cx="1" cy="306216"/>
            </a:xfrm>
            <a:prstGeom prst="line">
              <a:avLst/>
            </a:prstGeom>
            <a:ln w="28575">
              <a:solidFill>
                <a:srgbClr val="1E1B4B"/>
              </a:solidFill>
              <a:tailEnd type="triangle" w="med" len="med"/>
            </a:ln>
          </p:spPr>
        </p:cxnSp>
        <p:sp>
          <p:nvSpPr>
            <p:cNvPr id="528" name="Card"/>
            <p:cNvSpPr/>
            <p:nvPr/>
          </p:nvSpPr>
          <p:spPr>
            <a:xfrm>
              <a:off x="46878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29" name="Icon"/>
            <p:cNvSpPr/>
            <p:nvPr/>
          </p:nvSpPr>
          <p:spPr>
            <a:xfrm>
              <a:off x="4713427" y="5821189"/>
              <a:ext cx="359108" cy="359108"/>
            </a:xfrm>
            <a:prstGeom prst="ellipse">
              <a:avLst/>
            </a:prstGeom>
            <a:solidFill>
              <a:srgbClr val="4338CA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30" name="CardText"/>
            <p:cNvSpPr txBox="1"/>
            <p:nvPr/>
          </p:nvSpPr>
          <p:spPr>
            <a:xfrm>
              <a:off x="51024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Caregiver Peace of Mind</a:t>
              </a:r>
            </a:p>
          </p:txBody>
        </p:sp>
        <p:cxnSp>
          <p:nvCxnSpPr>
            <p:cNvPr id="531" name="ArrowOutcome"/>
            <p:cNvCxnSpPr/>
            <p:nvPr/>
          </p:nvCxnSpPr>
          <p:spPr>
            <a:xfrm>
              <a:off x="6096000" y="5360473"/>
              <a:ext cx="3200400" cy="306216"/>
            </a:xfrm>
            <a:prstGeom prst="line">
              <a:avLst/>
            </a:prstGeom>
            <a:ln w="28575">
              <a:solidFill>
                <a:srgbClr val="1E1B4B"/>
              </a:solidFill>
              <a:tailEnd type="triangle" w="med" len="med"/>
            </a:ln>
          </p:spPr>
        </p:cxnSp>
        <p:sp>
          <p:nvSpPr>
            <p:cNvPr id="532" name="Card"/>
            <p:cNvSpPr/>
            <p:nvPr/>
          </p:nvSpPr>
          <p:spPr>
            <a:xfrm>
              <a:off x="78882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B7299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33" name="Icon"/>
            <p:cNvSpPr/>
            <p:nvPr/>
          </p:nvSpPr>
          <p:spPr>
            <a:xfrm>
              <a:off x="7913827" y="5821189"/>
              <a:ext cx="359108" cy="359108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34" name="CardText"/>
            <p:cNvSpPr txBox="1"/>
            <p:nvPr/>
          </p:nvSpPr>
          <p:spPr>
            <a:xfrm>
              <a:off x="83028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Emergency Safety Net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/>
      <p:bldP spid="510" grpId="0"/>
      <p:bldP spid="517" grpId="0"/>
      <p:bldP spid="522" grpId="0"/>
      <p:bldP spid="5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Hardware Components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675981" y="151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1558646"/>
            <a:ext cx="250180" cy="250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ESP32-S3-WROOM-1 (N16R8)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79394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06735" y="151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1558646"/>
            <a:ext cx="250180" cy="250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2546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0.96″ I2C OLED Display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0148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337489" y="151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1558646"/>
            <a:ext cx="250180" cy="250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83300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HC-SR501 PIR Sensor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040902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10168243" y="151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1558646"/>
            <a:ext cx="250180" cy="250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4054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DS3231 RTC (ZS-042)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48640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8"/>
          <p:cNvSpPr/>
          <p:nvPr/>
        </p:nvSpPr>
        <p:spPr>
          <a:xfrm>
            <a:off x="1675981" y="273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5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2778646"/>
            <a:ext cx="250180" cy="2501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1792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 I2S Amplifier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3379394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1"/>
          <p:cNvSpPr/>
          <p:nvPr/>
        </p:nvSpPr>
        <p:spPr>
          <a:xfrm>
            <a:off x="4506735" y="273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6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2778646"/>
            <a:ext cx="250180" cy="2501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52546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3W 8Ω Speaker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210148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4"/>
          <p:cNvSpPr/>
          <p:nvPr/>
        </p:nvSpPr>
        <p:spPr>
          <a:xfrm>
            <a:off x="7337489" y="273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7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2778646"/>
            <a:ext cx="250180" cy="2501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283300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KY-040 Rotary Encoder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9040902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27"/>
          <p:cNvSpPr/>
          <p:nvPr/>
        </p:nvSpPr>
        <p:spPr>
          <a:xfrm>
            <a:off x="10168243" y="273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8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2778646"/>
            <a:ext cx="250180" cy="2501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114054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MQ-2 Gas Sensor</a:t>
            </a:r>
            <a:endParaRPr lang="en-US" sz="1600" dirty="0"/>
          </a:p>
        </p:txBody>
      </p:sp>
      <p:sp>
        <p:nvSpPr>
          <p:cNvPr id="40" name="Shape 29"/>
          <p:cNvSpPr/>
          <p:nvPr/>
        </p:nvSpPr>
        <p:spPr>
          <a:xfrm>
            <a:off x="548640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0"/>
          <p:cNvSpPr/>
          <p:nvPr/>
        </p:nvSpPr>
        <p:spPr>
          <a:xfrm>
            <a:off x="1675981" y="395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2" name="Image 9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3998646"/>
            <a:ext cx="250180" cy="2501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21792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TTP223 Touch Module</a:t>
            </a:r>
            <a:endParaRPr lang="en-US" sz="1600" dirty="0"/>
          </a:p>
        </p:txBody>
      </p:sp>
      <p:sp>
        <p:nvSpPr>
          <p:cNvPr id="44" name="Shape 32"/>
          <p:cNvSpPr/>
          <p:nvPr/>
        </p:nvSpPr>
        <p:spPr>
          <a:xfrm>
            <a:off x="3379394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33"/>
          <p:cNvSpPr/>
          <p:nvPr/>
        </p:nvSpPr>
        <p:spPr>
          <a:xfrm>
            <a:off x="4506735" y="395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6" name="Image 10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3998646"/>
            <a:ext cx="250180" cy="2501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452546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SIM800L GSM Module</a:t>
            </a:r>
            <a:endParaRPr lang="en-US" sz="1600" dirty="0"/>
          </a:p>
        </p:txBody>
      </p:sp>
      <p:sp>
        <p:nvSpPr>
          <p:cNvPr id="48" name="Shape 35"/>
          <p:cNvSpPr/>
          <p:nvPr/>
        </p:nvSpPr>
        <p:spPr>
          <a:xfrm>
            <a:off x="6210148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36"/>
          <p:cNvSpPr/>
          <p:nvPr/>
        </p:nvSpPr>
        <p:spPr>
          <a:xfrm>
            <a:off x="7337489" y="395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Image 11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3998646"/>
            <a:ext cx="250180" cy="25018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283300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MP1584 Buck Converter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9040902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Shape 39"/>
          <p:cNvSpPr/>
          <p:nvPr/>
        </p:nvSpPr>
        <p:spPr>
          <a:xfrm>
            <a:off x="10168243" y="395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1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3998646"/>
            <a:ext cx="250180" cy="25018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9114054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µF Capacitor</a:t>
            </a:r>
            <a:endParaRPr lang="en-US" sz="1600" dirty="0"/>
          </a:p>
        </p:txBody>
      </p:sp>
      <p:sp>
        <p:nvSpPr>
          <p:cNvPr id="56" name="Shape 41"/>
          <p:cNvSpPr/>
          <p:nvPr/>
        </p:nvSpPr>
        <p:spPr>
          <a:xfrm>
            <a:off x="1964017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42"/>
          <p:cNvSpPr/>
          <p:nvPr/>
        </p:nvSpPr>
        <p:spPr>
          <a:xfrm>
            <a:off x="3091358" y="517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8" name="Image 1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004" y="5218646"/>
            <a:ext cx="250180" cy="25018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2037169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Jack</a:t>
            </a:r>
            <a:endParaRPr lang="en-US" sz="1600" dirty="0"/>
          </a:p>
        </p:txBody>
      </p:sp>
      <p:sp>
        <p:nvSpPr>
          <p:cNvPr id="60" name="Shape 44"/>
          <p:cNvSpPr/>
          <p:nvPr/>
        </p:nvSpPr>
        <p:spPr>
          <a:xfrm>
            <a:off x="4794771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Shape 45"/>
          <p:cNvSpPr/>
          <p:nvPr/>
        </p:nvSpPr>
        <p:spPr>
          <a:xfrm>
            <a:off x="5922112" y="517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2" name="Image 14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58" y="5218646"/>
            <a:ext cx="250180" cy="25018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4867923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5V/3A Adapter</a:t>
            </a:r>
            <a:endParaRPr lang="en-US" sz="1600" dirty="0"/>
          </a:p>
        </p:txBody>
      </p:sp>
      <p:sp>
        <p:nvSpPr>
          <p:cNvPr id="200" name="Card16 201"/>
          <p:cNvSpPr/>
          <p:nvPr/>
        </p:nvSpPr>
        <p:spPr>
          <a:xfrm>
            <a:off x="7625525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635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Card16 202"/>
          <p:cNvSpPr/>
          <p:nvPr/>
        </p:nvSpPr>
        <p:spPr>
          <a:xfrm>
            <a:off x="8752866" y="5170000"/>
            <a:ext cx="347472" cy="347472"/>
          </a:xfrm>
          <a:prstGeom prst="ellipse">
            <a:avLst/>
          </a:prstGeom>
          <a:solidFill>
            <a:srgbClr val="4F46E5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2" name="Card16 20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512" y="5218646"/>
            <a:ext cx="250180" cy="250180"/>
          </a:xfrm>
          <a:prstGeom prst="rect">
            <a:avLst/>
          </a:prstGeom>
        </p:spPr>
      </p:pic>
      <p:sp>
        <p:nvSpPr>
          <p:cNvPr id="203" name="Card16 204"/>
          <p:cNvSpPr/>
          <p:nvPr/>
        </p:nvSpPr>
        <p:spPr>
          <a:xfrm>
            <a:off x="7698677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Resistors ×4 (SIM800L divider)</a:t>
            </a:r>
            <a:endParaRPr lang="en-US" sz="1600" dirty="0"/>
          </a:p>
        </p:txBody>
      </p:sp>
      <p:sp>
        <p:nvSpPr>
          <p:cNvPr id="64" name="Text 4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Components Budget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Image 1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58" y="4282318"/>
            <a:ext cx="250180" cy="25018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/>
              <a:t>12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84769"/>
              </p:ext>
            </p:extLst>
          </p:nvPr>
        </p:nvGraphicFramePr>
        <p:xfrm>
          <a:off x="1006997" y="1317208"/>
          <a:ext cx="10451940" cy="4640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91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ESP32-S3-WROOM-1 (N16R8) Board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950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KY-040 Rotary Encoder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110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HC-SR501 PIR Sensor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95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TTP223 Touch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40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0.96″ I2C OLED Display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350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DS3231 RTC Module (ZS-042)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345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MQ-2 Gas Sensor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160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SIM800L GSM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650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MAX98357A I2S Amplifier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601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W, 8 Ω Speaker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450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MP1584 Buck Converter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90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 µF Capacitor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15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DC Jack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20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 V / 3 A Adapter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350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Resistors (SIM800L divider)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10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Tk </a:t>
                      </a:r>
                      <a:r>
                        <a:rPr lang="as-IN" sz="1400" dirty="0"/>
                        <a:t>4,236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928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 Circuit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pic>
        <p:nvPicPr>
          <p:cNvPr id="1027" name="Implemented Circuit" descr="Cirkit Designer circuit of the implemented PicoBot hardware: ESP32-S3 with PIR sensor, touch module, MQ-2 gas sensor, MAX98357A I2S amplifier with speaker, MP1584 buck converter, 1000 uF capacitor, DC jack and 5V/3A adapter"/>
          <p:cNvPicPr>
            <a:picLocks noChangeAspect="1"/>
          </p:cNvPicPr>
          <p:nvPr/>
        </p:nvPicPr>
        <p:blipFill>
          <a:blip r:embed="rId3"/>
          <a:srcRect l="8000" t="2500" r="1000" b="24000"/>
          <a:stretch>
            <a:fillRect/>
          </a:stretch>
        </p:blipFill>
        <p:spPr>
          <a:xfrm>
            <a:off x="2396947" y="1500000"/>
            <a:ext cx="7397800" cy="4700000"/>
          </a:xfrm>
          <a:prstGeom prst="rect">
            <a:avLst/>
          </a:prstGeom>
          <a:ln w="12700">
            <a:solidFill>
              <a:srgbClr val="D4D2EE"/>
            </a:solidFill>
          </a:ln>
        </p:spPr>
      </p:pic>
    </p:spTree>
    <p:extLst>
      <p:ext uri="{BB962C8B-B14F-4D97-AF65-F5344CB8AC3E}">
        <p14:creationId xmlns:p14="http://schemas.microsoft.com/office/powerpoint/2010/main" val="8901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0" y="566928"/>
            <a:ext cx="12191695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lang="en-US" sz="4000" b="1" dirty="0">
                <a:solidFill>
                  <a:srgbClr val="1E1B4B"/>
                </a:solidFill>
                <a:latin typeface="Times New Roman"/>
                <a:cs typeface="Times New Roman"/>
              </a:rPr>
              <a:t>Hardware Implementation</a:t>
            </a:r>
          </a:p>
        </p:txBody>
      </p:sp>
      <p:sp>
        <p:nvSpPr>
          <p:cNvPr id="11" name="Card 1"/>
          <p:cNvSpPr/>
          <p:nvPr/>
        </p:nvSpPr>
        <p:spPr>
          <a:xfrm>
            <a:off x="570847" y="1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25400">
            <a:solidFill>
              <a:srgbClr val="EA580C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EA580C"/>
                </a:solidFill>
                <a:latin typeface="Times New Roman"/>
                <a:cs typeface="Times New Roman"/>
              </a:rPr>
              <a:t>MQ-2 Gas Sensor</a:t>
            </a:r>
          </a:p>
          <a:p>
            <a:pPr algn="ctr"/>
            <a:r>
              <a:rPr sz="1500" b="1" dirty="0">
                <a:solidFill>
                  <a:srgbClr val="EA580C"/>
                </a:solidFill>
                <a:latin typeface="Times New Roman"/>
              </a:rPr>
              <a:t>Emergency SMS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detects gas leaks in the room and triggers the alert</a:t>
            </a:r>
          </a:p>
        </p:txBody>
      </p:sp>
      <p:sp>
        <p:nvSpPr>
          <p:cNvPr id="12" name="Card 2"/>
          <p:cNvSpPr/>
          <p:nvPr/>
        </p:nvSpPr>
        <p:spPr>
          <a:xfrm>
            <a:off x="3370847" y="1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EAF1FE"/>
          </a:solidFill>
          <a:ln w="25400">
            <a:solidFill>
              <a:srgbClr val="2563EB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2563EB"/>
                </a:solidFill>
                <a:latin typeface="Times New Roman"/>
                <a:cs typeface="Times New Roman"/>
              </a:rPr>
              <a:t>PIR Sensor</a:t>
            </a:r>
          </a:p>
          <a:p>
            <a:pPr algn="ctr"/>
            <a:r>
              <a:rPr sz="1500" b="1" dirty="0">
                <a:solidFill>
                  <a:srgbClr val="2563EB"/>
                </a:solidFill>
                <a:latin typeface="Times New Roman"/>
              </a:rPr>
              <a:t>Movement Detection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senses user presence and engages automatically</a:t>
            </a:r>
          </a:p>
        </p:txBody>
      </p:sp>
      <p:sp>
        <p:nvSpPr>
          <p:cNvPr id="13" name="Card 3"/>
          <p:cNvSpPr/>
          <p:nvPr/>
        </p:nvSpPr>
        <p:spPr>
          <a:xfrm>
            <a:off x="6170847" y="1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E6F6F3"/>
          </a:solidFill>
          <a:ln w="25400">
            <a:solidFill>
              <a:srgbClr val="0D9488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0D9488"/>
                </a:solidFill>
                <a:latin typeface="Times New Roman"/>
                <a:cs typeface="Times New Roman"/>
              </a:rPr>
              <a:t>Touch Module</a:t>
            </a:r>
          </a:p>
          <a:p>
            <a:pPr algn="ctr"/>
            <a:r>
              <a:rPr sz="1500" b="1" dirty="0">
                <a:solidFill>
                  <a:srgbClr val="0D9488"/>
                </a:solidFill>
                <a:latin typeface="Times New Roman"/>
              </a:rPr>
              <a:t>Persistent Alarm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user touches to confirm medicine taken and stop it</a:t>
            </a:r>
          </a:p>
        </p:txBody>
      </p:sp>
      <p:sp>
        <p:nvSpPr>
          <p:cNvPr id="14" name="Card 4"/>
          <p:cNvSpPr/>
          <p:nvPr/>
        </p:nvSpPr>
        <p:spPr>
          <a:xfrm>
            <a:off x="8970847" y="1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F3EDFF"/>
          </a:solidFill>
          <a:ln w="25400">
            <a:solidFill>
              <a:srgbClr val="7C3AED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7C3AED"/>
                </a:solidFill>
                <a:latin typeface="Times New Roman"/>
                <a:cs typeface="Times New Roman"/>
              </a:rPr>
              <a:t>Buck Converter</a:t>
            </a:r>
          </a:p>
          <a:p>
            <a:pPr algn="ctr"/>
            <a:r>
              <a:rPr sz="1500" b="1" dirty="0">
                <a:solidFill>
                  <a:srgbClr val="7C3AED"/>
                </a:solidFill>
                <a:latin typeface="Times New Roman"/>
              </a:rPr>
              <a:t>Power Supply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steps the 5V/3A adapter down to a steady supply for every module</a:t>
            </a:r>
          </a:p>
        </p:txBody>
      </p:sp>
      <p:sp>
        <p:nvSpPr>
          <p:cNvPr id="15" name="Card 5"/>
          <p:cNvSpPr/>
          <p:nvPr/>
        </p:nvSpPr>
        <p:spPr>
          <a:xfrm>
            <a:off x="1970847" y="3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 w="25400">
            <a:solidFill>
              <a:srgbClr val="4338CA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4338CA"/>
                </a:solidFill>
                <a:latin typeface="Times New Roman"/>
                <a:cs typeface="Times New Roman"/>
              </a:rPr>
              <a:t>Voltage Divider</a:t>
            </a:r>
          </a:p>
          <a:p>
            <a:pPr algn="ctr"/>
            <a:r>
              <a:rPr sz="1500" b="1" dirty="0">
                <a:solidFill>
                  <a:srgbClr val="4338CA"/>
                </a:solidFill>
                <a:latin typeface="Times New Roman"/>
              </a:rPr>
              <a:t>Safe Input Level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two resistors scale the MQ-2 output down for the ESP32-S3</a:t>
            </a:r>
          </a:p>
        </p:txBody>
      </p:sp>
      <p:sp>
        <p:nvSpPr>
          <p:cNvPr id="16" name="Card 6"/>
          <p:cNvSpPr/>
          <p:nvPr/>
        </p:nvSpPr>
        <p:spPr>
          <a:xfrm>
            <a:off x="4770847" y="3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FDEBF3"/>
          </a:solidFill>
          <a:ln w="25400">
            <a:solidFill>
              <a:srgbClr val="DB2777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B2777"/>
                </a:solidFill>
                <a:latin typeface="Times New Roman"/>
                <a:cs typeface="Times New Roman"/>
              </a:rPr>
              <a:t>I2S Amplifier</a:t>
            </a:r>
          </a:p>
          <a:p>
            <a:pPr algn="ctr"/>
            <a:r>
              <a:rPr sz="1500" b="1" dirty="0">
                <a:solidFill>
                  <a:srgbClr val="DB2777"/>
                </a:solidFill>
                <a:latin typeface="Times New Roman"/>
              </a:rPr>
              <a:t>Voice Reminder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 MAX98357A drives the 3 W speaker for spoken reminders</a:t>
            </a:r>
          </a:p>
        </p:txBody>
      </p:sp>
      <p:sp>
        <p:nvSpPr>
          <p:cNvPr id="3" name="Card 7"/>
          <p:cNvSpPr/>
          <p:nvPr/>
        </p:nvSpPr>
        <p:spPr>
          <a:xfrm>
            <a:off x="7570847" y="3700000"/>
            <a:ext cx="2650000" cy="1700000"/>
          </a:xfrm>
          <a:prstGeom prst="roundRect">
            <a:avLst>
              <a:gd name="adj" fmla="val 8000"/>
            </a:avLst>
          </a:prstGeom>
          <a:solidFill>
            <a:srgbClr val="E6F7FB"/>
          </a:solidFill>
          <a:ln w="25400">
            <a:solidFill>
              <a:srgbClr val="0891B2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1000 µF Capacitor</a:t>
            </a:r>
          </a:p>
          <a:p>
            <a:pPr algn="ctr"/>
            <a:r>
              <a:rPr sz="1500" b="1" dirty="0">
                <a:solidFill>
                  <a:srgbClr val="0891B2"/>
                </a:solidFill>
                <a:latin typeface="Times New Roman"/>
              </a:rPr>
              <a:t>Power Filtering</a:t>
            </a:r>
            <a:r>
              <a:rPr sz="1500" dirty="0">
                <a:solidFill>
                  <a:srgbClr val="3A3F66"/>
                </a:solidFill>
                <a:latin typeface="Times New Roman"/>
              </a:rPr>
              <a:t> </a:t>
            </a:r>
            <a:endParaRPr lang="en-US" sz="1500" dirty="0">
              <a:solidFill>
                <a:srgbClr val="3A3F66"/>
              </a:solidFill>
              <a:latin typeface="Times New Roman"/>
            </a:endParaRPr>
          </a:p>
          <a:p>
            <a:pPr algn="ctr"/>
            <a:r>
              <a:rPr sz="1500" dirty="0">
                <a:solidFill>
                  <a:srgbClr val="3A3F66"/>
                </a:solidFill>
                <a:latin typeface="Times New Roman"/>
              </a:rPr>
              <a:t>smooths voltage spikes so the modules stay stable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6B42C-979B-4F13-9656-B4D1EDDE10CE}"/>
              </a:ext>
            </a:extLst>
          </p:cNvPr>
          <p:cNvSpPr txBox="1"/>
          <p:nvPr/>
        </p:nvSpPr>
        <p:spPr>
          <a:xfrm>
            <a:off x="11367034" y="6262026"/>
            <a:ext cx="515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Project Timeline: Gantt Chart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23" name="Header Task"/>
          <p:cNvSpPr txBox="1"/>
          <p:nvPr/>
        </p:nvSpPr>
        <p:spPr>
          <a:xfrm>
            <a:off x="548640" y="1188720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Times New Roman"/>
              </a:rPr>
              <a:t>Task</a:t>
            </a:r>
          </a:p>
        </p:txBody>
      </p:sp>
      <p:sp>
        <p:nvSpPr>
          <p:cNvPr id="24" name="Header W1"/>
          <p:cNvSpPr/>
          <p:nvPr/>
        </p:nvSpPr>
        <p:spPr>
          <a:xfrm>
            <a:off x="4251960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25" name="Header W2"/>
          <p:cNvSpPr/>
          <p:nvPr/>
        </p:nvSpPr>
        <p:spPr>
          <a:xfrm>
            <a:off x="4867656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W2</a:t>
            </a:r>
          </a:p>
        </p:txBody>
      </p:sp>
      <p:sp>
        <p:nvSpPr>
          <p:cNvPr id="26" name="Header W3"/>
          <p:cNvSpPr/>
          <p:nvPr/>
        </p:nvSpPr>
        <p:spPr>
          <a:xfrm>
            <a:off x="5483352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27" name="Header W4"/>
          <p:cNvSpPr/>
          <p:nvPr/>
        </p:nvSpPr>
        <p:spPr>
          <a:xfrm>
            <a:off x="6099048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W4</a:t>
            </a:r>
          </a:p>
        </p:txBody>
      </p:sp>
      <p:sp>
        <p:nvSpPr>
          <p:cNvPr id="28" name="Header W5"/>
          <p:cNvSpPr/>
          <p:nvPr/>
        </p:nvSpPr>
        <p:spPr>
          <a:xfrm>
            <a:off x="6714744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W5</a:t>
            </a:r>
          </a:p>
        </p:txBody>
      </p:sp>
      <p:sp>
        <p:nvSpPr>
          <p:cNvPr id="29" name="Header W6"/>
          <p:cNvSpPr/>
          <p:nvPr/>
        </p:nvSpPr>
        <p:spPr>
          <a:xfrm>
            <a:off x="7330440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W6</a:t>
            </a:r>
          </a:p>
        </p:txBody>
      </p:sp>
      <p:sp>
        <p:nvSpPr>
          <p:cNvPr id="30" name="Header W7"/>
          <p:cNvSpPr/>
          <p:nvPr/>
        </p:nvSpPr>
        <p:spPr>
          <a:xfrm>
            <a:off x="7946136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W7</a:t>
            </a:r>
          </a:p>
        </p:txBody>
      </p:sp>
      <p:sp>
        <p:nvSpPr>
          <p:cNvPr id="31" name="Header W8"/>
          <p:cNvSpPr/>
          <p:nvPr/>
        </p:nvSpPr>
        <p:spPr>
          <a:xfrm>
            <a:off x="8561832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W8</a:t>
            </a:r>
          </a:p>
        </p:txBody>
      </p:sp>
      <p:sp>
        <p:nvSpPr>
          <p:cNvPr id="32" name="Header W9"/>
          <p:cNvSpPr/>
          <p:nvPr/>
        </p:nvSpPr>
        <p:spPr>
          <a:xfrm>
            <a:off x="9177528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W9</a:t>
            </a:r>
          </a:p>
        </p:txBody>
      </p:sp>
      <p:sp>
        <p:nvSpPr>
          <p:cNvPr id="33" name="Header W10"/>
          <p:cNvSpPr/>
          <p:nvPr/>
        </p:nvSpPr>
        <p:spPr>
          <a:xfrm>
            <a:off x="9793224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W10</a:t>
            </a:r>
          </a:p>
        </p:txBody>
      </p:sp>
      <p:sp>
        <p:nvSpPr>
          <p:cNvPr id="34" name="Header W11"/>
          <p:cNvSpPr/>
          <p:nvPr/>
        </p:nvSpPr>
        <p:spPr>
          <a:xfrm>
            <a:off x="10408920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W11</a:t>
            </a:r>
          </a:p>
        </p:txBody>
      </p:sp>
      <p:sp>
        <p:nvSpPr>
          <p:cNvPr id="35" name="Header W12"/>
          <p:cNvSpPr/>
          <p:nvPr/>
        </p:nvSpPr>
        <p:spPr>
          <a:xfrm>
            <a:off x="11024616" y="1188720"/>
            <a:ext cx="615696" cy="347472"/>
          </a:xfrm>
          <a:prstGeom prst="rect">
            <a:avLst/>
          </a:prstGeom>
          <a:solidFill>
            <a:srgbClr val="1E1B4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W12</a:t>
            </a:r>
          </a:p>
        </p:txBody>
      </p:sp>
      <p:sp>
        <p:nvSpPr>
          <p:cNvPr id="38" name="Row Stripe 1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w Stripe 3"/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w Stripe 5"/>
          <p:cNvSpPr/>
          <p:nvPr/>
        </p:nvSpPr>
        <p:spPr>
          <a:xfrm>
            <a:off x="548640" y="30632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w Stripe 7"/>
          <p:cNvSpPr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w Stripe 9"/>
          <p:cNvSpPr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w Stripe 11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Grid 0"/>
          <p:cNvCxnSpPr/>
          <p:nvPr/>
        </p:nvCxnSpPr>
        <p:spPr>
          <a:xfrm>
            <a:off x="4251960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rid 1"/>
          <p:cNvCxnSpPr/>
          <p:nvPr/>
        </p:nvCxnSpPr>
        <p:spPr>
          <a:xfrm>
            <a:off x="4867656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rid 2"/>
          <p:cNvCxnSpPr/>
          <p:nvPr/>
        </p:nvCxnSpPr>
        <p:spPr>
          <a:xfrm>
            <a:off x="5483352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rid 3"/>
          <p:cNvCxnSpPr/>
          <p:nvPr/>
        </p:nvCxnSpPr>
        <p:spPr>
          <a:xfrm>
            <a:off x="6099048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rid 4"/>
          <p:cNvCxnSpPr/>
          <p:nvPr/>
        </p:nvCxnSpPr>
        <p:spPr>
          <a:xfrm>
            <a:off x="6714744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rid 5"/>
          <p:cNvCxnSpPr/>
          <p:nvPr/>
        </p:nvCxnSpPr>
        <p:spPr>
          <a:xfrm>
            <a:off x="7330440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rid 6"/>
          <p:cNvCxnSpPr/>
          <p:nvPr/>
        </p:nvCxnSpPr>
        <p:spPr>
          <a:xfrm>
            <a:off x="7946136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rid 7"/>
          <p:cNvCxnSpPr/>
          <p:nvPr/>
        </p:nvCxnSpPr>
        <p:spPr>
          <a:xfrm>
            <a:off x="8561832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rid 8"/>
          <p:cNvCxnSpPr/>
          <p:nvPr/>
        </p:nvCxnSpPr>
        <p:spPr>
          <a:xfrm>
            <a:off x="9177528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rid 9"/>
          <p:cNvCxnSpPr/>
          <p:nvPr/>
        </p:nvCxnSpPr>
        <p:spPr>
          <a:xfrm>
            <a:off x="9793224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rid 10"/>
          <p:cNvCxnSpPr/>
          <p:nvPr/>
        </p:nvCxnSpPr>
        <p:spPr>
          <a:xfrm>
            <a:off x="10408920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rid 11"/>
          <p:cNvCxnSpPr/>
          <p:nvPr/>
        </p:nvCxnSpPr>
        <p:spPr>
          <a:xfrm>
            <a:off x="11024616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rid 12"/>
          <p:cNvCxnSpPr/>
          <p:nvPr/>
        </p:nvCxnSpPr>
        <p:spPr>
          <a:xfrm>
            <a:off x="11640312" y="1600200"/>
            <a:ext cx="0" cy="4023360"/>
          </a:xfrm>
          <a:prstGeom prst="line">
            <a:avLst/>
          </a:prstGeom>
          <a:ln w="6350">
            <a:solidFill>
              <a:srgbClr val="E3E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ask 1"/>
          <p:cNvSpPr txBox="1"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338CA"/>
                </a:solidFill>
                <a:latin typeface="Times New Roman"/>
              </a:rPr>
              <a:t>1.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Literature review &amp; survey</a:t>
            </a:r>
          </a:p>
        </p:txBody>
      </p:sp>
      <p:sp>
        <p:nvSpPr>
          <p:cNvPr id="60" name="Bar 1"/>
          <p:cNvSpPr/>
          <p:nvPr/>
        </p:nvSpPr>
        <p:spPr>
          <a:xfrm>
            <a:off x="4279392" y="1664208"/>
            <a:ext cx="1792224" cy="23774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 wk</a:t>
            </a:r>
          </a:p>
        </p:txBody>
      </p:sp>
      <p:sp>
        <p:nvSpPr>
          <p:cNvPr id="61" name="Task 2"/>
          <p:cNvSpPr txBox="1"/>
          <p:nvPr/>
        </p:nvSpPr>
        <p:spPr>
          <a:xfrm>
            <a:off x="640080" y="196596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338CA"/>
                </a:solidFill>
                <a:latin typeface="Times New Roman"/>
              </a:rPr>
              <a:t>2.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Problem statement &amp; objectives</a:t>
            </a:r>
          </a:p>
        </p:txBody>
      </p:sp>
      <p:sp>
        <p:nvSpPr>
          <p:cNvPr id="62" name="Bar 2"/>
          <p:cNvSpPr/>
          <p:nvPr/>
        </p:nvSpPr>
        <p:spPr>
          <a:xfrm>
            <a:off x="4895088" y="2029967"/>
            <a:ext cx="1176528" cy="23774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 wk</a:t>
            </a:r>
          </a:p>
        </p:txBody>
      </p:sp>
      <p:sp>
        <p:nvSpPr>
          <p:cNvPr id="63" name="Task 3"/>
          <p:cNvSpPr txBox="1"/>
          <p:nvPr/>
        </p:nvSpPr>
        <p:spPr>
          <a:xfrm>
            <a:off x="640080" y="23317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Times New Roman"/>
              </a:rPr>
              <a:t>3.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Concept model &amp; system design</a:t>
            </a:r>
          </a:p>
        </p:txBody>
      </p:sp>
      <p:sp>
        <p:nvSpPr>
          <p:cNvPr id="64" name="Bar 3"/>
          <p:cNvSpPr/>
          <p:nvPr/>
        </p:nvSpPr>
        <p:spPr>
          <a:xfrm>
            <a:off x="5510784" y="2395727"/>
            <a:ext cx="1792224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 wk</a:t>
            </a:r>
          </a:p>
        </p:txBody>
      </p:sp>
      <p:sp>
        <p:nvSpPr>
          <p:cNvPr id="65" name="Task 4"/>
          <p:cNvSpPr txBox="1"/>
          <p:nvPr/>
        </p:nvSpPr>
        <p:spPr>
          <a:xfrm>
            <a:off x="640080" y="26974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Times New Roman"/>
              </a:rPr>
              <a:t>4.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Component selection &amp; procurement</a:t>
            </a:r>
          </a:p>
        </p:txBody>
      </p:sp>
      <p:sp>
        <p:nvSpPr>
          <p:cNvPr id="66" name="Bar 4"/>
          <p:cNvSpPr/>
          <p:nvPr/>
        </p:nvSpPr>
        <p:spPr>
          <a:xfrm>
            <a:off x="6126480" y="2761488"/>
            <a:ext cx="1176528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 wk</a:t>
            </a:r>
          </a:p>
        </p:txBody>
      </p:sp>
      <p:sp>
        <p:nvSpPr>
          <p:cNvPr id="67" name="Task 5"/>
          <p:cNvSpPr txBox="1"/>
          <p:nvPr/>
        </p:nvSpPr>
        <p:spPr>
          <a:xfrm>
            <a:off x="640080" y="3063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Times New Roman"/>
              </a:rPr>
              <a:t>5.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Circuit design &amp; wiring</a:t>
            </a:r>
          </a:p>
        </p:txBody>
      </p:sp>
      <p:sp>
        <p:nvSpPr>
          <p:cNvPr id="68" name="Bar 5"/>
          <p:cNvSpPr/>
          <p:nvPr/>
        </p:nvSpPr>
        <p:spPr>
          <a:xfrm>
            <a:off x="6742176" y="3127248"/>
            <a:ext cx="1176528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 wk</a:t>
            </a:r>
          </a:p>
        </p:txBody>
      </p:sp>
      <p:sp>
        <p:nvSpPr>
          <p:cNvPr id="69" name="Task 6"/>
          <p:cNvSpPr txBox="1"/>
          <p:nvPr/>
        </p:nvSpPr>
        <p:spPr>
          <a:xfrm>
            <a:off x="640080" y="34290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Times New Roman"/>
              </a:rPr>
              <a:t>6.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Reminder module: RTC, voice, button</a:t>
            </a:r>
          </a:p>
        </p:txBody>
      </p:sp>
      <p:sp>
        <p:nvSpPr>
          <p:cNvPr id="70" name="Bar 6"/>
          <p:cNvSpPr/>
          <p:nvPr/>
        </p:nvSpPr>
        <p:spPr>
          <a:xfrm>
            <a:off x="6742176" y="3493008"/>
            <a:ext cx="1792224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 wk</a:t>
            </a:r>
          </a:p>
        </p:txBody>
      </p:sp>
      <p:sp>
        <p:nvSpPr>
          <p:cNvPr id="71" name="Task 7"/>
          <p:cNvSpPr txBox="1"/>
          <p:nvPr/>
        </p:nvSpPr>
        <p:spPr>
          <a:xfrm>
            <a:off x="640080" y="379476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Times New Roman"/>
              </a:rPr>
              <a:t>7.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Emotional engagement: OLED face, persuasion</a:t>
            </a:r>
          </a:p>
        </p:txBody>
      </p:sp>
      <p:sp>
        <p:nvSpPr>
          <p:cNvPr id="72" name="Bar 7"/>
          <p:cNvSpPr/>
          <p:nvPr/>
        </p:nvSpPr>
        <p:spPr>
          <a:xfrm>
            <a:off x="7357872" y="3858768"/>
            <a:ext cx="1792224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 wk</a:t>
            </a:r>
          </a:p>
        </p:txBody>
      </p:sp>
      <p:sp>
        <p:nvSpPr>
          <p:cNvPr id="73" name="Task 8"/>
          <p:cNvSpPr txBox="1"/>
          <p:nvPr/>
        </p:nvSpPr>
        <p:spPr>
          <a:xfrm>
            <a:off x="640080" y="41605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Times New Roman"/>
              </a:rPr>
              <a:t>8.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Presence (PIR) &amp; gas-leak SMS alert</a:t>
            </a:r>
          </a:p>
        </p:txBody>
      </p:sp>
      <p:sp>
        <p:nvSpPr>
          <p:cNvPr id="74" name="Bar 8"/>
          <p:cNvSpPr/>
          <p:nvPr/>
        </p:nvSpPr>
        <p:spPr>
          <a:xfrm>
            <a:off x="7973568" y="4224528"/>
            <a:ext cx="1792224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 wk</a:t>
            </a:r>
          </a:p>
        </p:txBody>
      </p:sp>
      <p:sp>
        <p:nvSpPr>
          <p:cNvPr id="75" name="Task 9"/>
          <p:cNvSpPr txBox="1"/>
          <p:nvPr/>
        </p:nvSpPr>
        <p:spPr>
          <a:xfrm>
            <a:off x="640080" y="45262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Times New Roman"/>
              </a:rPr>
              <a:t>9.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Integration, SD logging &amp; enclosure</a:t>
            </a:r>
          </a:p>
        </p:txBody>
      </p:sp>
      <p:sp>
        <p:nvSpPr>
          <p:cNvPr id="76" name="Bar 9"/>
          <p:cNvSpPr/>
          <p:nvPr/>
        </p:nvSpPr>
        <p:spPr>
          <a:xfrm>
            <a:off x="8589264" y="4590288"/>
            <a:ext cx="1176528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 wk</a:t>
            </a:r>
          </a:p>
        </p:txBody>
      </p:sp>
      <p:sp>
        <p:nvSpPr>
          <p:cNvPr id="77" name="Task 10"/>
          <p:cNvSpPr txBox="1"/>
          <p:nvPr/>
        </p:nvSpPr>
        <p:spPr>
          <a:xfrm>
            <a:off x="640080" y="48920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Times New Roman"/>
              </a:rPr>
              <a:t>10.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Testing &amp; refinement</a:t>
            </a:r>
          </a:p>
        </p:txBody>
      </p:sp>
      <p:sp>
        <p:nvSpPr>
          <p:cNvPr id="78" name="Bar 10"/>
          <p:cNvSpPr/>
          <p:nvPr/>
        </p:nvSpPr>
        <p:spPr>
          <a:xfrm>
            <a:off x="7357872" y="4956048"/>
            <a:ext cx="302361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wk</a:t>
            </a:r>
          </a:p>
        </p:txBody>
      </p:sp>
      <p:sp>
        <p:nvSpPr>
          <p:cNvPr id="79" name="Task 11"/>
          <p:cNvSpPr txBox="1"/>
          <p:nvPr/>
        </p:nvSpPr>
        <p:spPr>
          <a:xfrm>
            <a:off x="640080" y="52578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A580C"/>
                </a:solidFill>
                <a:latin typeface="Times New Roman"/>
              </a:rPr>
              <a:t>11. </a:t>
            </a:r>
            <a:r>
              <a:rPr sz="1200" b="0" i="0">
                <a:solidFill>
                  <a:srgbClr val="1E1B4B"/>
                </a:solidFill>
                <a:latin typeface="Times New Roman"/>
              </a:rPr>
              <a:t>Paper &amp; report</a:t>
            </a:r>
          </a:p>
        </p:txBody>
      </p:sp>
      <p:sp>
        <p:nvSpPr>
          <p:cNvPr id="80" name="Bar 11"/>
          <p:cNvSpPr/>
          <p:nvPr/>
        </p:nvSpPr>
        <p:spPr>
          <a:xfrm>
            <a:off x="10436352" y="5321808"/>
            <a:ext cx="1176528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 wk</a:t>
            </a:r>
          </a:p>
        </p:txBody>
      </p:sp>
      <p:sp>
        <p:nvSpPr>
          <p:cNvPr id="81" name="Legend Label"/>
          <p:cNvSpPr txBox="1"/>
          <p:nvPr/>
        </p:nvSpPr>
        <p:spPr>
          <a:xfrm>
            <a:off x="548640" y="58064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1B4B"/>
                </a:solidFill>
                <a:latin typeface="Times New Roman"/>
              </a:rPr>
              <a:t>Phases:</a:t>
            </a:r>
          </a:p>
        </p:txBody>
      </p:sp>
      <p:sp>
        <p:nvSpPr>
          <p:cNvPr id="82" name="Legend Plan"/>
          <p:cNvSpPr/>
          <p:nvPr/>
        </p:nvSpPr>
        <p:spPr>
          <a:xfrm>
            <a:off x="1463040" y="5870448"/>
            <a:ext cx="320040" cy="14630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Legend Text Plan"/>
          <p:cNvSpPr txBox="1"/>
          <p:nvPr/>
        </p:nvSpPr>
        <p:spPr>
          <a:xfrm>
            <a:off x="1874520" y="5806440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078"/>
                </a:solidFill>
                <a:latin typeface="Times New Roman"/>
              </a:rPr>
              <a:t>Plan</a:t>
            </a:r>
          </a:p>
        </p:txBody>
      </p:sp>
      <p:sp>
        <p:nvSpPr>
          <p:cNvPr id="84" name="Legend Design"/>
          <p:cNvSpPr/>
          <p:nvPr/>
        </p:nvSpPr>
        <p:spPr>
          <a:xfrm>
            <a:off x="2724912" y="5870448"/>
            <a:ext cx="320040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Legend Text Design"/>
          <p:cNvSpPr txBox="1"/>
          <p:nvPr/>
        </p:nvSpPr>
        <p:spPr>
          <a:xfrm>
            <a:off x="3136392" y="580644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078"/>
                </a:solidFill>
                <a:latin typeface="Times New Roman"/>
              </a:rPr>
              <a:t>Design</a:t>
            </a:r>
          </a:p>
        </p:txBody>
      </p:sp>
      <p:sp>
        <p:nvSpPr>
          <p:cNvPr id="86" name="Legend Build"/>
          <p:cNvSpPr/>
          <p:nvPr/>
        </p:nvSpPr>
        <p:spPr>
          <a:xfrm>
            <a:off x="4169664" y="5870448"/>
            <a:ext cx="320040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Legend Text Build"/>
          <p:cNvSpPr txBox="1"/>
          <p:nvPr/>
        </p:nvSpPr>
        <p:spPr>
          <a:xfrm>
            <a:off x="4581144" y="580644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078"/>
                </a:solidFill>
                <a:latin typeface="Times New Roman"/>
              </a:rPr>
              <a:t>Build</a:t>
            </a:r>
          </a:p>
        </p:txBody>
      </p:sp>
      <p:sp>
        <p:nvSpPr>
          <p:cNvPr id="88" name="Legend Test &amp; Report"/>
          <p:cNvSpPr/>
          <p:nvPr/>
        </p:nvSpPr>
        <p:spPr>
          <a:xfrm>
            <a:off x="5522976" y="5870448"/>
            <a:ext cx="320040" cy="14630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Legend Text Test &amp; Report"/>
          <p:cNvSpPr txBox="1"/>
          <p:nvPr/>
        </p:nvSpPr>
        <p:spPr>
          <a:xfrm>
            <a:off x="5934456" y="58064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078"/>
                </a:solidFill>
                <a:latin typeface="Times New Roman"/>
              </a:rPr>
              <a:t>Test &amp;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96056" y="411480"/>
            <a:ext cx="3236259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9224" y="1453896"/>
            <a:ext cx="438912" cy="438912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72" y="151534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6551" y="1412748"/>
            <a:ext cx="59014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Smart Medicine Companion Robot is a compact, intelligent, and interactive solution for medicine management.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9224" y="2414016"/>
            <a:ext cx="438912" cy="438912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72" y="2475464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9584" y="2418713"/>
            <a:ext cx="590146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 improves medication adherence, ensures safety, and brings peace of mind to users and caregivers.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9224" y="3374136"/>
            <a:ext cx="438912" cy="438912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2" descr="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72" y="3435584"/>
            <a:ext cx="316017" cy="3160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9584" y="3332988"/>
            <a:ext cx="561459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 combines robotics, IoT, voice interaction, and emotional engagement in one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9224" y="4334256"/>
            <a:ext cx="438912" cy="438912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3" descr="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72" y="4395704"/>
            <a:ext cx="316017" cy="3160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9584" y="4334256"/>
            <a:ext cx="59172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507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project has strong potential to make a real-world impact in healthcare.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48640" y="5394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6B7299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777240" y="53949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28D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“Technology with Care, Health Everywhere.”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1900" dirty="0"/>
          </a:p>
        </p:txBody>
      </p:sp>
      <p:pic>
        <p:nvPicPr>
          <p:cNvPr id="18" name="WhatsApp Video 2026-10-08 at 11.47.21">
            <a:hlinkClick r:id="" action="ppaction://media"/>
            <a:extLst>
              <a:ext uri="{FF2B5EF4-FFF2-40B4-BE49-F238E27FC236}">
                <a16:creationId xmlns:a16="http://schemas.microsoft.com/office/drawing/2014/main" id="{CD2B5EF1-513F-4931-9DB3-64FF7B1C86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23724" y="1412747"/>
            <a:ext cx="3971805" cy="3741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E68C05-3A59-41D7-819F-70534917F261}"/>
              </a:ext>
            </a:extLst>
          </p:cNvPr>
          <p:cNvSpPr txBox="1"/>
          <p:nvPr/>
        </p:nvSpPr>
        <p:spPr>
          <a:xfrm>
            <a:off x="7482323" y="5659130"/>
            <a:ext cx="3654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4049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19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1E1B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Our Reference Papers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Paper Card 1"/>
          <p:cNvSpPr/>
          <p:nvPr/>
        </p:nvSpPr>
        <p:spPr>
          <a:xfrm>
            <a:off x="770000" y="1650000"/>
            <a:ext cx="5126000" cy="3750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101600" dist="381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" name="Paper Title 1"/>
          <p:cNvSpPr txBox="1"/>
          <p:nvPr/>
        </p:nvSpPr>
        <p:spPr>
          <a:xfrm>
            <a:off x="998600" y="2350000"/>
            <a:ext cx="4668800" cy="1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B4B"/>
                </a:solidFill>
                <a:latin typeface="Times New Roman"/>
                <a:cs typeface="Times New Roman"/>
              </a:rPr>
              <a:t>Adapting Virtual Agent Interaction Style with Reinforcement Learning to Enhance Affective Engagement</a:t>
            </a:r>
          </a:p>
        </p:txBody>
      </p:sp>
      <p:sp>
        <p:nvSpPr>
          <p:cNvPr id="103" name="Paper Journal 1"/>
          <p:cNvSpPr txBox="1"/>
          <p:nvPr/>
        </p:nvSpPr>
        <p:spPr>
          <a:xfrm>
            <a:off x="998600" y="3680000"/>
            <a:ext cx="46688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>
                <a:solidFill>
                  <a:srgbClr val="6D28D9"/>
                </a:solidFill>
                <a:latin typeface="Times New Roman"/>
                <a:cs typeface="Times New Roman"/>
              </a:rPr>
              <a:t>Frontiers in Digital Health</a:t>
            </a:r>
          </a:p>
        </p:txBody>
      </p:sp>
      <p:sp>
        <p:nvSpPr>
          <p:cNvPr id="104" name="Paper Authors 1"/>
          <p:cNvSpPr txBox="1"/>
          <p:nvPr/>
        </p:nvSpPr>
        <p:spPr>
          <a:xfrm>
            <a:off x="998600" y="4070000"/>
            <a:ext cx="4668800" cy="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078"/>
                </a:solidFill>
                <a:latin typeface="Times New Roman"/>
                <a:cs typeface="Times New Roman"/>
              </a:rPr>
              <a:t>Tamantini, C., Umbrico, A., Fracasso, F., Beraldo, G., Cortellessa, G., &amp; Orlandini, A. (2025)</a:t>
            </a:r>
          </a:p>
        </p:txBody>
      </p:sp>
      <p:sp>
        <p:nvSpPr>
          <p:cNvPr id="105" name="Paper Link 1"/>
          <p:cNvSpPr txBox="1"/>
          <p:nvPr/>
        </p:nvSpPr>
        <p:spPr>
          <a:xfrm>
            <a:off x="998600" y="4900000"/>
            <a:ext cx="46688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1B4B"/>
                </a:solidFill>
                <a:latin typeface="Arial"/>
                <a:cs typeface="Arial"/>
              </a:rPr>
              <a:t>Link: </a:t>
            </a:r>
            <a:r>
              <a:rPr lang="en-US" sz="1300" u="sng">
                <a:solidFill>
                  <a:srgbClr val="4338CA"/>
                </a:solidFill>
                <a:latin typeface="Arial"/>
                <a:cs typeface="Arial"/>
                <a:hlinkClick r:id="rId3"/>
              </a:rPr>
              <a:t>https://doi.org/10.3389/fdgth.2025.1680605</a:t>
            </a:r>
          </a:p>
        </p:txBody>
      </p:sp>
      <p:sp>
        <p:nvSpPr>
          <p:cNvPr id="106" name="Paper Card 2"/>
          <p:cNvSpPr/>
          <p:nvPr/>
        </p:nvSpPr>
        <p:spPr>
          <a:xfrm>
            <a:off x="6296000" y="1650000"/>
            <a:ext cx="5126000" cy="3750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9C7EA"/>
            </a:solidFill>
            <a:prstDash val="solid"/>
          </a:ln>
          <a:effectLst>
            <a:outerShdw blurRad="101600" dist="38100" dir="5400000" algn="bl" rotWithShape="0">
              <a:srgbClr val="6B72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8" name="Paper Title 2"/>
          <p:cNvSpPr txBox="1"/>
          <p:nvPr/>
        </p:nvSpPr>
        <p:spPr>
          <a:xfrm>
            <a:off x="6524600" y="2208504"/>
            <a:ext cx="4668800" cy="1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B4B"/>
                </a:solidFill>
                <a:latin typeface="Times New Roman"/>
                <a:cs typeface="Times New Roman"/>
              </a:rPr>
              <a:t>Caregiving Artificial Intelligence Chatbot for Older Adults and Their Preferences, Well-Being, and Social Connectivity: Mixed-Method Study</a:t>
            </a:r>
          </a:p>
        </p:txBody>
      </p:sp>
      <p:sp>
        <p:nvSpPr>
          <p:cNvPr id="109" name="Paper Journal 2"/>
          <p:cNvSpPr txBox="1"/>
          <p:nvPr/>
        </p:nvSpPr>
        <p:spPr>
          <a:xfrm>
            <a:off x="6524600" y="3680000"/>
            <a:ext cx="46688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>
                <a:solidFill>
                  <a:srgbClr val="6D28D9"/>
                </a:solidFill>
                <a:latin typeface="Times New Roman"/>
                <a:cs typeface="Times New Roman"/>
              </a:rPr>
              <a:t>Journal of Medical Internet Research, 27, e65776</a:t>
            </a:r>
          </a:p>
        </p:txBody>
      </p:sp>
      <p:sp>
        <p:nvSpPr>
          <p:cNvPr id="110" name="Paper Authors 2"/>
          <p:cNvSpPr txBox="1"/>
          <p:nvPr/>
        </p:nvSpPr>
        <p:spPr>
          <a:xfrm>
            <a:off x="6524600" y="4070000"/>
            <a:ext cx="4668800" cy="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078"/>
                </a:solidFill>
                <a:latin typeface="Times New Roman"/>
                <a:cs typeface="Times New Roman"/>
              </a:rPr>
              <a:t>Wolfe, B. H., Oh, Y. J., Choung, H., Cui, X., Weinzapfel, J., Cooper, R. A., Lee, H.-N., &amp; Lehto, R. (2025)</a:t>
            </a:r>
          </a:p>
        </p:txBody>
      </p:sp>
      <p:sp>
        <p:nvSpPr>
          <p:cNvPr id="111" name="Paper Link 2"/>
          <p:cNvSpPr txBox="1"/>
          <p:nvPr/>
        </p:nvSpPr>
        <p:spPr>
          <a:xfrm>
            <a:off x="6524600" y="4900000"/>
            <a:ext cx="46688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1B4B"/>
                </a:solidFill>
                <a:latin typeface="Arial"/>
                <a:cs typeface="Arial"/>
              </a:rPr>
              <a:t>Link: </a:t>
            </a:r>
            <a:r>
              <a:rPr lang="en-US" sz="1300" u="sng" dirty="0">
                <a:solidFill>
                  <a:srgbClr val="4338CA"/>
                </a:solidFill>
                <a:latin typeface="Arial"/>
                <a:cs typeface="Arial"/>
                <a:hlinkClick r:id="rId4"/>
              </a:rPr>
              <a:t>https://doi.org/10.2196/65776</a:t>
            </a:r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FF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hatsApp Video 2026-09-25 at 04.26.41 (1)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32201" b="27769"/>
          <a:stretch/>
        </p:blipFill>
        <p:spPr>
          <a:xfrm>
            <a:off x="1257418" y="0"/>
            <a:ext cx="9622336" cy="68494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86245" y="261490"/>
            <a:ext cx="51559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Thank You For Your Attention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52E70-6DB9-484D-B15F-03114AF8165F}"/>
              </a:ext>
            </a:extLst>
          </p:cNvPr>
          <p:cNvSpPr txBox="1"/>
          <p:nvPr/>
        </p:nvSpPr>
        <p:spPr>
          <a:xfrm>
            <a:off x="11490034" y="6174903"/>
            <a:ext cx="513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8350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338CA"/>
      </a:accent1>
      <a:accent2>
        <a:srgbClr val="4F46E5"/>
      </a:accent2>
      <a:accent3>
        <a:srgbClr val="0D9488"/>
      </a:accent3>
      <a:accent4>
        <a:srgbClr val="F97316"/>
      </a:accent4>
      <a:accent5>
        <a:srgbClr val="2563EB"/>
      </a:accent5>
      <a:accent6>
        <a:srgbClr val="E11D74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1570</Words>
  <Application>Microsoft Office PowerPoint</Application>
  <PresentationFormat>Widescreen</PresentationFormat>
  <Paragraphs>336</Paragraphs>
  <Slides>18</Slides>
  <Notes>6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Adika</dc:creator>
  <cp:lastModifiedBy>adika</cp:lastModifiedBy>
  <cp:revision>49</cp:revision>
  <dcterms:created xsi:type="dcterms:W3CDTF">2026-08-21T01:59:10Z</dcterms:created>
  <dcterms:modified xsi:type="dcterms:W3CDTF">2026-10-16T07:28:14Z</dcterms:modified>
</cp:coreProperties>
</file>