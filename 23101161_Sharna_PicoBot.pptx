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7C295F-F2D0-36BF-FCBE-862D329E1FD1}">
          <p14:sldIdLst>
            <p14:sldId id="256"/>
            <p14:sldId id="274"/>
            <p14:sldId id="257"/>
          </p14:sldIdLst>
        </p14:section>
        <p14:section name="Background" id="{A6B5E2DF-E617-DDF0-D998-768B1F0B99AF}">
          <p14:sldIdLst>
            <p14:sldId id="259"/>
            <p14:sldId id="260"/>
          </p14:sldIdLst>
        </p14:section>
        <p14:section name="Survey" id="{EAA0C830-8EAE-EFCB-2B38-39A06C4E8277}">
          <p14:sldIdLst>
            <p14:sldId id="261"/>
            <p14:sldId id="262"/>
            <p14:sldId id="263"/>
            <p14:sldId id="264"/>
          </p14:sldIdLst>
        </p14:section>
        <p14:section name="Design" id="{F66E0E2C-F98F-0BFF-84C2-432FCAFC3845}">
          <p14:sldIdLst>
            <p14:sldId id="265"/>
            <p14:sldId id="266"/>
            <p14:sldId id="267"/>
            <p14:sldId id="268"/>
          </p14:sldIdLst>
        </p14:section>
        <p14:section name="Plan and Wrap-up" id="{24B9CA52-E406-467F-1682-133C7F47ACAA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276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86E9C-5C9E-4B4D-9DF9-92AA7AAE7F9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60ADD-0A11-48BA-9BC0-A813DB2D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2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journal.seaninstitute.or.id/index.php/healt/article/view/628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 pill"/>
          <p:cNvSpPr/>
          <p:nvPr/>
        </p:nvSpPr>
        <p:spPr>
          <a:xfrm>
            <a:off x="640080" y="59436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94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tx2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Smart Medicine Companion Robot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PicoBot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Your Smart Reminder, Your Health Partner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640080" y="50749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Presented by 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Sadia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Shahrin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Sharna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- 23101161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" name="Image 5" descr="PicoBot companion robot proto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445" y="960120"/>
            <a:ext cx="5829998" cy="4353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 Executive </a:t>
            </a:r>
            <a:r>
              <a:rPr lang="en-US" sz="3200" b="1" dirty="0">
                <a:solidFill>
                  <a:schemeClr val="tx2"/>
                </a:solidFill>
              </a:rPr>
              <a:t>Summary</a:t>
            </a:r>
            <a:endParaRPr lang="en-US" sz="3200" dirty="0"/>
          </a:p>
        </p:txBody>
      </p:sp>
      <p:sp>
        <p:nvSpPr>
          <p:cNvPr id="101" name="Summary card 1"/>
          <p:cNvSpPr/>
          <p:nvPr/>
        </p:nvSpPr>
        <p:spPr>
          <a:xfrm>
            <a:off x="548640" y="1234440"/>
            <a:ext cx="3545840" cy="256032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2" name="Badge 1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1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03" name="Card heading 1"/>
          <p:cNvSpPr txBox="1"/>
          <p:nvPr/>
        </p:nvSpPr>
        <p:spPr>
          <a:xfrm>
            <a:off x="1417320" y="1463040"/>
            <a:ext cx="244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Why We Built It</a:t>
            </a:r>
          </a:p>
        </p:txBody>
      </p:sp>
      <p:sp>
        <p:nvSpPr>
          <p:cNvPr id="104" name="Card body 1"/>
          <p:cNvSpPr txBox="1"/>
          <p:nvPr/>
        </p:nvSpPr>
        <p:spPr>
          <a:xfrm>
            <a:off x="777240" y="2148840"/>
            <a:ext cx="308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Many elderly and chronically ill patients forget medicine or skip it on purpose. Reminder apps only fight forgetting, and caregivers cannot always be present.</a:t>
            </a:r>
          </a:p>
        </p:txBody>
      </p:sp>
      <p:sp>
        <p:nvSpPr>
          <p:cNvPr id="105" name="Summary card 2"/>
          <p:cNvSpPr/>
          <p:nvPr/>
        </p:nvSpPr>
        <p:spPr>
          <a:xfrm>
            <a:off x="4323080" y="1234440"/>
            <a:ext cx="3545840" cy="256032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6" name="Badge 2"/>
          <p:cNvSpPr/>
          <p:nvPr/>
        </p:nvSpPr>
        <p:spPr>
          <a:xfrm>
            <a:off x="4551680" y="146304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1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07" name="Card heading 2"/>
          <p:cNvSpPr txBox="1"/>
          <p:nvPr/>
        </p:nvSpPr>
        <p:spPr>
          <a:xfrm>
            <a:off x="5191760" y="1463040"/>
            <a:ext cx="244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Our Goal</a:t>
            </a:r>
          </a:p>
        </p:txBody>
      </p:sp>
      <p:sp>
        <p:nvSpPr>
          <p:cNvPr id="108" name="Card body 2"/>
          <p:cNvSpPr txBox="1"/>
          <p:nvPr/>
        </p:nvSpPr>
        <p:spPr>
          <a:xfrm>
            <a:off x="4551680" y="2148840"/>
            <a:ext cx="308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Raise medication adherence with a low-cost companion robot that tackles forgetting and refusal, and keeps the user safe with an instant gas-leak SMS alert.</a:t>
            </a:r>
          </a:p>
        </p:txBody>
      </p:sp>
      <p:sp>
        <p:nvSpPr>
          <p:cNvPr id="109" name="Summary card 3"/>
          <p:cNvSpPr/>
          <p:nvPr/>
        </p:nvSpPr>
        <p:spPr>
          <a:xfrm>
            <a:off x="8097520" y="1234440"/>
            <a:ext cx="3515360" cy="256032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10" name="Badge 3"/>
          <p:cNvSpPr/>
          <p:nvPr/>
        </p:nvSpPr>
        <p:spPr>
          <a:xfrm>
            <a:off x="8326120" y="1463040"/>
            <a:ext cx="502920" cy="5029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lang="en-US" sz="1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11" name="Card heading 3"/>
          <p:cNvSpPr txBox="1"/>
          <p:nvPr/>
        </p:nvSpPr>
        <p:spPr>
          <a:xfrm>
            <a:off x="8966200" y="1463040"/>
            <a:ext cx="244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My Contribution</a:t>
            </a:r>
          </a:p>
        </p:txBody>
      </p:sp>
      <p:sp>
        <p:nvSpPr>
          <p:cNvPr id="112" name="Card body 3"/>
          <p:cNvSpPr txBox="1"/>
          <p:nvPr/>
        </p:nvSpPr>
        <p:spPr>
          <a:xfrm>
            <a:off x="8217877" y="2148840"/>
            <a:ext cx="33950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50% Literature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Review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50%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Survey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Proposed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Solution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Objectives 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Embedded Diagram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50% Hardware Implementation,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Gantt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Chart, Video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0" name="Stat tile 1"/>
          <p:cNvSpPr/>
          <p:nvPr/>
        </p:nvSpPr>
        <p:spPr>
          <a:xfrm>
            <a:off x="777240" y="4297680"/>
            <a:ext cx="2602230" cy="173736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tat value 1"/>
          <p:cNvSpPr txBox="1"/>
          <p:nvPr/>
        </p:nvSpPr>
        <p:spPr>
          <a:xfrm>
            <a:off x="1005840" y="4480560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53.8%</a:t>
            </a:r>
          </a:p>
        </p:txBody>
      </p:sp>
      <p:sp>
        <p:nvSpPr>
          <p:cNvPr id="32" name="Stat label 1"/>
          <p:cNvSpPr txBox="1"/>
          <p:nvPr/>
        </p:nvSpPr>
        <p:spPr>
          <a:xfrm>
            <a:off x="1005840" y="5303520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of respondents rank confirmed reminders first</a:t>
            </a:r>
          </a:p>
        </p:txBody>
      </p:sp>
      <p:sp>
        <p:nvSpPr>
          <p:cNvPr id="36" name="Stat tile 2"/>
          <p:cNvSpPr/>
          <p:nvPr/>
        </p:nvSpPr>
        <p:spPr>
          <a:xfrm>
            <a:off x="3704297" y="4314092"/>
            <a:ext cx="2602230" cy="173736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tat value 2"/>
          <p:cNvSpPr txBox="1"/>
          <p:nvPr/>
        </p:nvSpPr>
        <p:spPr>
          <a:xfrm>
            <a:off x="3932897" y="4496972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38" name="Stat label 2"/>
          <p:cNvSpPr txBox="1"/>
          <p:nvPr/>
        </p:nvSpPr>
        <p:spPr>
          <a:xfrm>
            <a:off x="3932897" y="5228492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weeks planned from </a:t>
            </a:r>
            <a:r>
              <a:rPr lang="en-US" sz="16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50% literature </a:t>
            </a: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review to final report</a:t>
            </a:r>
          </a:p>
        </p:txBody>
      </p:sp>
      <p:sp>
        <p:nvSpPr>
          <p:cNvPr id="39" name="Stat tile 3"/>
          <p:cNvSpPr/>
          <p:nvPr/>
        </p:nvSpPr>
        <p:spPr>
          <a:xfrm>
            <a:off x="6592570" y="4314092"/>
            <a:ext cx="2602230" cy="173736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tat value 3"/>
          <p:cNvSpPr txBox="1"/>
          <p:nvPr/>
        </p:nvSpPr>
        <p:spPr>
          <a:xfrm>
            <a:off x="6821170" y="4496972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41" name="Stat label 3"/>
          <p:cNvSpPr txBox="1"/>
          <p:nvPr/>
        </p:nvSpPr>
        <p:spPr>
          <a:xfrm>
            <a:off x="6821170" y="5319932"/>
            <a:ext cx="2145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objectives: remind, engage, detect and protect</a:t>
            </a:r>
          </a:p>
        </p:txBody>
      </p:sp>
    </p:spTree>
    <p:extLst>
      <p:ext uri="{BB962C8B-B14F-4D97-AF65-F5344CB8AC3E}">
        <p14:creationId xmlns:p14="http://schemas.microsoft.com/office/powerpoint/2010/main" val="79485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     My </a:t>
            </a:r>
            <a:r>
              <a:rPr lang="en-US" sz="3200" b="1" dirty="0">
                <a:solidFill>
                  <a:schemeClr val="tx2"/>
                </a:solidFill>
              </a:rPr>
              <a:t>Contribution</a:t>
            </a:r>
            <a:endParaRPr lang="en-US" sz="3200" dirty="0"/>
          </a:p>
        </p:txBody>
      </p:sp>
      <p:sp>
        <p:nvSpPr>
          <p:cNvPr id="3" name="Contribution card 1"/>
          <p:cNvSpPr/>
          <p:nvPr/>
        </p:nvSpPr>
        <p:spPr>
          <a:xfrm>
            <a:off x="548640" y="13716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" name="Badge FaBookOpen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BookOpe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508760" y="19385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reminder-app papers read and compared.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ribution card 2"/>
          <p:cNvSpPr/>
          <p:nvPr/>
        </p:nvSpPr>
        <p:spPr>
          <a:xfrm>
            <a:off x="4320540" y="13716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9" name="Badge FaChartPie"/>
          <p:cNvSpPr/>
          <p:nvPr/>
        </p:nvSpPr>
        <p:spPr>
          <a:xfrm>
            <a:off x="450342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ChartPi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010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8066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Survey Analysis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5280660" y="19385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Q10–Q16: alerts, privacy, adoption, budget.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Contribution card 4"/>
          <p:cNvSpPr/>
          <p:nvPr/>
        </p:nvSpPr>
        <p:spPr>
          <a:xfrm>
            <a:off x="8275320" y="13716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9" name="Badge FaLightbulb"/>
          <p:cNvSpPr/>
          <p:nvPr/>
        </p:nvSpPr>
        <p:spPr>
          <a:xfrm>
            <a:off x="8335987" y="1570247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Lightbul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369" y="1718837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1650257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Proposed Solution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8939139" y="203213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Reminder, persuasion and SMS in one robot.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ontribution card 5"/>
          <p:cNvSpPr/>
          <p:nvPr/>
        </p:nvSpPr>
        <p:spPr>
          <a:xfrm>
            <a:off x="548640" y="306324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4" name="Badge FaBullseye"/>
          <p:cNvSpPr/>
          <p:nvPr/>
        </p:nvSpPr>
        <p:spPr>
          <a:xfrm>
            <a:off x="674956" y="3190435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Bulls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46" y="3339025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23768" y="3322613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1269316" y="3689545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Four goals: remind, engage, detect, protect.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Contribution card 6"/>
          <p:cNvSpPr/>
          <p:nvPr/>
        </p:nvSpPr>
        <p:spPr>
          <a:xfrm>
            <a:off x="8275320" y="3053275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9" name="Badge FaMicrochip"/>
          <p:cNvSpPr/>
          <p:nvPr/>
        </p:nvSpPr>
        <p:spPr>
          <a:xfrm>
            <a:off x="8458200" y="3281875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Microchi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790" y="3430465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3236155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Embedded Diagram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9235440" y="3620203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Input, ESP32-S3 processing and output flow.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ontribution card 7"/>
          <p:cNvSpPr/>
          <p:nvPr/>
        </p:nvSpPr>
        <p:spPr>
          <a:xfrm>
            <a:off x="548640" y="4754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34" name="Badge FaProjectDiagram"/>
          <p:cNvSpPr/>
          <p:nvPr/>
        </p:nvSpPr>
        <p:spPr>
          <a:xfrm>
            <a:off x="731520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6" descr="ProjectDiagram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5132070"/>
            <a:ext cx="297180" cy="2971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0876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Circuit Diagram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1508760" y="5321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50%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ESP32-S3 wiring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module.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ontribution card 8"/>
          <p:cNvSpPr/>
          <p:nvPr/>
        </p:nvSpPr>
        <p:spPr>
          <a:xfrm>
            <a:off x="4320540" y="4754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39" name="Badge FaTools"/>
          <p:cNvSpPr/>
          <p:nvPr/>
        </p:nvSpPr>
        <p:spPr>
          <a:xfrm>
            <a:off x="4503420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7" descr="Tools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2010" y="5132070"/>
            <a:ext cx="297180" cy="29718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280660" y="4803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Hardware Implementation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5280660" y="542221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RTC, encoder, speaker, OLED, SIM800L on 5 V.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Contribution card 9"/>
          <p:cNvSpPr/>
          <p:nvPr/>
        </p:nvSpPr>
        <p:spPr>
          <a:xfrm>
            <a:off x="8092440" y="4754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4" name="Badge FaCalendarAlt"/>
          <p:cNvSpPr/>
          <p:nvPr/>
        </p:nvSpPr>
        <p:spPr>
          <a:xfrm>
            <a:off x="8275320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8" descr="CalendarAl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910" y="5132070"/>
            <a:ext cx="297180" cy="29718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05256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Gantt Chart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 36"/>
          <p:cNvSpPr txBox="1"/>
          <p:nvPr/>
        </p:nvSpPr>
        <p:spPr>
          <a:xfrm>
            <a:off x="9052560" y="53218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12-week plan from review to final report.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476" y="2679921"/>
            <a:ext cx="4705748" cy="2338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  Proposed </a:t>
            </a:r>
            <a:r>
              <a:rPr lang="en-US" sz="3200" b="1" dirty="0">
                <a:solidFill>
                  <a:schemeClr val="tx2"/>
                </a:solidFill>
              </a:rPr>
              <a:t>Solution</a:t>
            </a:r>
            <a:endParaRPr lang="en-US" sz="3200" dirty="0"/>
          </a:p>
        </p:txBody>
      </p:sp>
      <p:sp>
        <p:nvSpPr>
          <p:cNvPr id="3" name="Solution image card"/>
          <p:cNvSpPr/>
          <p:nvPr/>
        </p:nvSpPr>
        <p:spPr>
          <a:xfrm>
            <a:off x="548640" y="2167128"/>
            <a:ext cx="5852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pic>
        <p:nvPicPr>
          <p:cNvPr id="4" name="Image 0" descr="PicoBot face expressions: reminder, waiting, confirm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76856"/>
            <a:ext cx="5632704" cy="3072384"/>
          </a:xfrm>
          <a:prstGeom prst="rect">
            <a:avLst/>
          </a:prstGeom>
        </p:spPr>
      </p:pic>
      <p:sp>
        <p:nvSpPr>
          <p:cNvPr id="7" name="Solution card 1"/>
          <p:cNvSpPr/>
          <p:nvPr/>
        </p:nvSpPr>
        <p:spPr>
          <a:xfrm>
            <a:off x="6675120" y="137160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8" name="Badge FaBell"/>
          <p:cNvSpPr/>
          <p:nvPr/>
        </p:nvSpPr>
        <p:spPr>
          <a:xfrm>
            <a:off x="6858000" y="16184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Bel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89520" y="144475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Reminds on schedule with a warm voice alert and expressive face, not just a beep.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olution card 2"/>
          <p:cNvSpPr/>
          <p:nvPr/>
        </p:nvSpPr>
        <p:spPr>
          <a:xfrm>
            <a:off x="6675120" y="256032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2" name="Badge FaSmile"/>
          <p:cNvSpPr/>
          <p:nvPr/>
        </p:nvSpPr>
        <p:spPr>
          <a:xfrm>
            <a:off x="6858000" y="28072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Smi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9443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89520" y="263347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Reads the user's mood and persuades gently when medicine is ignored or refused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5" name="Solution card 3"/>
          <p:cNvSpPr/>
          <p:nvPr/>
        </p:nvSpPr>
        <p:spPr>
          <a:xfrm>
            <a:off x="6675120" y="374904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6" name="Badge FaWalking"/>
          <p:cNvSpPr/>
          <p:nvPr/>
        </p:nvSpPr>
        <p:spPr>
          <a:xfrm>
            <a:off x="6858000" y="39959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Walk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41330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89520" y="382219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Detects presence and movement, engaging even when the user tries to avoid it.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olution card 4"/>
          <p:cNvSpPr/>
          <p:nvPr/>
        </p:nvSpPr>
        <p:spPr>
          <a:xfrm>
            <a:off x="6675120" y="493776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0" name="Badge FaSms"/>
          <p:cNvSpPr/>
          <p:nvPr/>
        </p:nvSpPr>
        <p:spPr>
          <a:xfrm>
            <a:off x="6858000" y="5184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Sm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532180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89520" y="5010912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Detects gas leaks and sends an emergency SMS instantly to pre-defined numbers.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20413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Literature </a:t>
            </a:r>
            <a:r>
              <a:rPr lang="en-US" sz="3200" b="1" dirty="0">
                <a:solidFill>
                  <a:schemeClr val="tx2"/>
                </a:solidFill>
              </a:rPr>
              <a:t>Review: Existing Reminder Apps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746666"/>
              </p:ext>
            </p:extLst>
          </p:nvPr>
        </p:nvGraphicFramePr>
        <p:xfrm>
          <a:off x="633045" y="1172307"/>
          <a:ext cx="10979835" cy="526209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195967"/>
                <a:gridCol w="2195967"/>
                <a:gridCol w="2195967"/>
                <a:gridCol w="2195967"/>
                <a:gridCol w="2195967"/>
              </a:tblGrid>
              <a:tr h="41970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Study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Reminder &amp; Confirmation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Emotional Refusal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Safety Net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Limitation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</a:tr>
              <a:tr h="1550486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itchFamily="18" charset="0"/>
                          <a:cs typeface="Times New Roman" pitchFamily="18" charset="0"/>
                        </a:rPr>
                        <a:t>Yimer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et al. </a:t>
                      </a:r>
                      <a:r>
                        <a:rPr lang="en-US" sz="1600" dirty="0" smtClean="0"/>
                        <a:t>(2025)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—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An Efficient and Cost-Effective Medicine Reminder and Dispenser System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Yes — Offline reminders, audio/visual alerts, and user acknowledgment before dispensing.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Not addressed — No emotional interaction or persuasion for patients refusing medicine.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Partly — Medication schedules and dispensing are supported, but emergency alerts are not reported.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Reports 98% dispensing accuracy and a $30 cost, but focuses on dispensing rather than emotional engagement.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</a:tr>
              <a:tr h="1550486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itchFamily="18" charset="0"/>
                          <a:cs typeface="Times New Roman" pitchFamily="18" charset="0"/>
                        </a:rPr>
                        <a:t>Tkela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et al. (2025) — Implementation of Alarm and Pill Reminder for Medication Adherence in Tuberculosis Patients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Yes — Alarm and pill reminder application; medication adherence improved after implementation.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Partly — Addresses patients who forget or are reluctant to take medicine, but does not use emotional persuasion.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Not addressed — No emergency alert or environmental safety monitoring is described.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Only two TB patients were studied over a short period, limiting generalizability.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</a:tr>
              <a:tr h="1550486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itchFamily="18" charset="0"/>
                          <a:cs typeface="Times New Roman" pitchFamily="18" charset="0"/>
                        </a:rPr>
                        <a:t>PicoBot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(Ours)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itchFamily="18" charset="0"/>
                          <a:cs typeface="Times New Roman" pitchFamily="18" charset="0"/>
                        </a:rPr>
                        <a:t>Yes — RTC-based alarm, voice reminders, and button confirmation.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Yes — Empathetic voice and mood-aware facial expressions to encourage medication adherence.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Yes — MQ-2 gas detection, SMS alerts, and SD-card logging.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Prototype stage; real-world evaluation is planned for future work.</a:t>
                      </a:r>
                    </a:p>
                  </a:txBody>
                  <a:tcPr marL="61999" marR="61999" marT="31000" marB="31000"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Survey</a:t>
            </a:r>
            <a:r>
              <a:rPr lang="en-US" sz="3200" b="1" dirty="0">
                <a:solidFill>
                  <a:schemeClr val="tx2"/>
                </a:solidFill>
              </a:rPr>
              <a:t>: Emergency Alerts (Q10–Q11</a:t>
            </a:r>
            <a:r>
              <a:rPr lang="en-US" sz="3200" b="1" dirty="0" smtClean="0">
                <a:solidFill>
                  <a:schemeClr val="tx2"/>
                </a:solidFill>
              </a:rPr>
              <a:t>) </a:t>
            </a:r>
            <a:endParaRPr lang="en-US" sz="3200" dirty="0"/>
          </a:p>
        </p:txBody>
      </p:sp>
      <p:sp>
        <p:nvSpPr>
          <p:cNvPr id="5" name="Survey insight 1"/>
          <p:cNvSpPr/>
          <p:nvPr/>
        </p:nvSpPr>
        <p:spPr>
          <a:xfrm>
            <a:off x="548640" y="4875555"/>
            <a:ext cx="5345722" cy="1749101"/>
          </a:xfrm>
          <a:prstGeom prst="roundRect">
            <a:avLst>
              <a:gd name="adj" fmla="val 492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900033"/>
            <a:ext cx="1450389" cy="50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47.8%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1520" y="5476134"/>
            <a:ext cx="1450389" cy="35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Q10 </a:t>
            </a: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23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468881" y="4985324"/>
            <a:ext cx="3439496" cy="153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want one primary contact; 30.4% want no automatic notification and 21.7% want several contacts incl. a healthcare provider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rvey insight 2"/>
          <p:cNvSpPr/>
          <p:nvPr/>
        </p:nvSpPr>
        <p:spPr>
          <a:xfrm>
            <a:off x="6252444" y="4900033"/>
            <a:ext cx="5521625" cy="1728527"/>
          </a:xfrm>
          <a:prstGeom prst="roundRect">
            <a:avLst>
              <a:gd name="adj" fmla="val 492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35325" y="4985183"/>
            <a:ext cx="1498115" cy="49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44.8%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35325" y="5568278"/>
            <a:ext cx="1498115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Q11 </a:t>
            </a:r>
            <a:endParaRPr lang="en-US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29 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172685" y="5020294"/>
            <a:ext cx="3552674" cy="15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want the alert immediately on no response; 31.0% prefer a manual button only, 13.8% a second sensor, 10.3% a short confirmation window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" r="5847" b="8254"/>
          <a:stretch/>
        </p:blipFill>
        <p:spPr>
          <a:xfrm>
            <a:off x="548639" y="1264157"/>
            <a:ext cx="5345723" cy="31202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3"/>
          <a:stretch/>
        </p:blipFill>
        <p:spPr>
          <a:xfrm>
            <a:off x="6352382" y="1264156"/>
            <a:ext cx="5470397" cy="31202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Survey</a:t>
            </a:r>
            <a:r>
              <a:rPr lang="en-US" sz="3200" b="1" dirty="0">
                <a:solidFill>
                  <a:schemeClr val="tx2"/>
                </a:solidFill>
              </a:rPr>
              <a:t>: Data Access &amp; Privacy (Q12–Q13)</a:t>
            </a:r>
            <a:endParaRPr lang="en-US" sz="3200" dirty="0"/>
          </a:p>
        </p:txBody>
      </p:sp>
      <p:sp>
        <p:nvSpPr>
          <p:cNvPr id="5" name="Survey insight 1"/>
          <p:cNvSpPr/>
          <p:nvPr/>
        </p:nvSpPr>
        <p:spPr>
          <a:xfrm>
            <a:off x="507989" y="4771642"/>
            <a:ext cx="5297658" cy="1747676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0869" y="4954522"/>
            <a:ext cx="1483344" cy="50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42.9%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90869" y="5548882"/>
            <a:ext cx="1483344" cy="3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Q12 · 28 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428229" y="4908802"/>
            <a:ext cx="3348120" cy="153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want patient-only access to the log; another 42.9% want all parties with configurable permissions. Caregiver-only and doctor-with-consent: 7.1% each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rvey insight 2"/>
          <p:cNvSpPr/>
          <p:nvPr/>
        </p:nvSpPr>
        <p:spPr>
          <a:xfrm>
            <a:off x="6447697" y="4771642"/>
            <a:ext cx="5297658" cy="1747676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30577" y="4954522"/>
            <a:ext cx="1483344" cy="50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37.9%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630577" y="5548882"/>
            <a:ext cx="1483344" cy="3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Q13 · 29 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367937" y="4908802"/>
            <a:ext cx="3348120" cy="153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 very comfortable with daily data logging; 31.0% are not comfortable, 20.7% somewhat concerned, 10.3% comfortable if secure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7"/>
          <a:stretch/>
        </p:blipFill>
        <p:spPr>
          <a:xfrm>
            <a:off x="6447697" y="1334139"/>
            <a:ext cx="5348063" cy="31746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8"/>
          <a:stretch/>
        </p:blipFill>
        <p:spPr>
          <a:xfrm>
            <a:off x="507989" y="1334140"/>
            <a:ext cx="5388719" cy="317460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Survey</a:t>
            </a:r>
            <a:r>
              <a:rPr lang="en-US" sz="3200" b="1" dirty="0">
                <a:solidFill>
                  <a:schemeClr val="tx2"/>
                </a:solidFill>
              </a:rPr>
              <a:t>: Most Valuable Feature (Q14)</a:t>
            </a:r>
            <a:endParaRPr lang="en-US" sz="3200" dirty="0"/>
          </a:p>
        </p:txBody>
      </p:sp>
      <p:sp>
        <p:nvSpPr>
          <p:cNvPr id="5" name="Survey insight 1"/>
          <p:cNvSpPr/>
          <p:nvPr/>
        </p:nvSpPr>
        <p:spPr>
          <a:xfrm>
            <a:off x="6080760" y="1371600"/>
            <a:ext cx="5532120" cy="1234440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53.8%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066890"/>
            <a:ext cx="1600200" cy="55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Q14 · 26 responses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001000" y="1508760"/>
            <a:ext cx="3429000" cy="90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pick the medicine reminder with persistent confirmation as the single most valuable feature.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rvey insight 2"/>
          <p:cNvSpPr/>
          <p:nvPr/>
        </p:nvSpPr>
        <p:spPr>
          <a:xfrm>
            <a:off x="6139375" y="2967428"/>
            <a:ext cx="5532120" cy="1234440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22255" y="31503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38.5%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322255" y="3662718"/>
            <a:ext cx="1600200" cy="55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Q14 · 26 responses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059615" y="3104588"/>
            <a:ext cx="3429000" cy="90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pick emotional / face-reaction engagement, so both core ideas are validated.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urvey insight 3"/>
          <p:cNvSpPr/>
          <p:nvPr/>
        </p:nvSpPr>
        <p:spPr>
          <a:xfrm>
            <a:off x="6139375" y="4593336"/>
            <a:ext cx="5532120" cy="1234440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22255" y="477621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7.7%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322255" y="5288626"/>
            <a:ext cx="1600200" cy="55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Q14 · 26 responses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059615" y="4730496"/>
            <a:ext cx="3429000" cy="90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pick the emergency SMS feature; nobody picked movement detection as the top feature.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"/>
          <a:stretch/>
        </p:blipFill>
        <p:spPr>
          <a:xfrm>
            <a:off x="313006" y="1832746"/>
            <a:ext cx="5650523" cy="334865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Survey</a:t>
            </a:r>
            <a:r>
              <a:rPr lang="en-US" sz="3200" b="1" dirty="0">
                <a:solidFill>
                  <a:schemeClr val="tx2"/>
                </a:solidFill>
              </a:rPr>
              <a:t>: Recommendation &amp; Budget (Q15–Q16)</a:t>
            </a:r>
            <a:endParaRPr lang="en-US" sz="3200" dirty="0"/>
          </a:p>
        </p:txBody>
      </p:sp>
      <p:sp>
        <p:nvSpPr>
          <p:cNvPr id="5" name="Survey insight 1"/>
          <p:cNvSpPr/>
          <p:nvPr/>
        </p:nvSpPr>
        <p:spPr>
          <a:xfrm>
            <a:off x="548640" y="4674165"/>
            <a:ext cx="5419361" cy="1651313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1" y="4811325"/>
            <a:ext cx="1378825" cy="47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60.6</a:t>
            </a:r>
            <a:r>
              <a:rPr lang="en-US" sz="44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%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1520" y="5535048"/>
            <a:ext cx="1378825" cy="3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Q15 </a:t>
            </a:r>
            <a:endParaRPr lang="en-US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33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468881" y="4811325"/>
            <a:ext cx="3269784" cy="14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would recommend PicoBot (42.4% definitely, 18.2% probably); 39.4% would not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rvey insight 2"/>
          <p:cNvSpPr/>
          <p:nvPr/>
        </p:nvSpPr>
        <p:spPr>
          <a:xfrm>
            <a:off x="6685437" y="4674165"/>
            <a:ext cx="5297441" cy="1651313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68317" y="4811324"/>
            <a:ext cx="1378825" cy="47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38.1</a:t>
            </a:r>
            <a:r>
              <a:rPr lang="en-US" sz="4400" b="1" dirty="0">
                <a:solidFill>
                  <a:schemeClr val="accent3"/>
                </a:solidFill>
                <a:latin typeface="Times New Roman" pitchFamily="18" charset="0"/>
                <a:ea typeface="+mj-lt" pitchFamily="34" charset="-122"/>
                <a:cs typeface="Times New Roman" pitchFamily="18" charset="0"/>
              </a:rPr>
              <a:t>%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868318" y="5546945"/>
            <a:ext cx="1378825" cy="3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Q16 </a:t>
            </a:r>
            <a:endParaRPr lang="en-US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21 responses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605678" y="4811325"/>
            <a:ext cx="3269784" cy="144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see ৳15,000–20,000 as reasonable; 23.8% say under ৳10,000, 23.8% above ৳20,000, 14.3% ৳10,000–15,000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2"/>
          <a:stretch/>
        </p:blipFill>
        <p:spPr>
          <a:xfrm>
            <a:off x="6685437" y="1237953"/>
            <a:ext cx="4721117" cy="309775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04"/>
          <a:stretch/>
        </p:blipFill>
        <p:spPr>
          <a:xfrm>
            <a:off x="647331" y="1330280"/>
            <a:ext cx="4821484" cy="304848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            Objectives</a:t>
            </a:r>
            <a:endParaRPr lang="en-US" sz="32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" name="Badge FaBell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Bel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Reminder &amp; Confirmation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Design a reliable reminder and confirmation system using RTC scheduling, voice alerts and button-press verification to counter forgetting.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Objective card 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0" name="Badge FaSmile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Smi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6984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Emotional Engagement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675120" y="2439259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Develop an emotionally intelligent voice assistant that detects reluctance and uses empathetic persuasion and mood-aware expressions.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bjective card 3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6" name="Badge FaWalking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Walk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43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Movement Detection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2296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Integrate presence and movement detection so the robot proactively engages users who try to avoid or ignore reminders.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bjective card 4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2" name="Badge FaShieldAlt"/>
          <p:cNvSpPr/>
          <p:nvPr/>
        </p:nvSpPr>
        <p:spPr>
          <a:xfrm>
            <a:off x="6492240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Shiel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434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69848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74980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Emergency Safety Net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492240" y="4983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Build gas-leak detection with instant SMS alerts and SD-card records to support caregivers and ensure user safety.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Robot </a:t>
            </a:r>
            <a:r>
              <a:rPr lang="en-US" sz="3200" b="1" dirty="0">
                <a:solidFill>
                  <a:schemeClr val="tx2"/>
                </a:solidFill>
              </a:rPr>
              <a:t>Embedded Diagram</a:t>
            </a:r>
            <a:endParaRPr lang="en-US" sz="3200" dirty="0"/>
          </a:p>
        </p:txBody>
      </p:sp>
      <p:sp>
        <p:nvSpPr>
          <p:cNvPr id="5" name="Embedded note 1"/>
          <p:cNvSpPr/>
          <p:nvPr/>
        </p:nvSpPr>
        <p:spPr>
          <a:xfrm>
            <a:off x="8529517" y="1239012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6" name="Badge FaSignInAlt"/>
          <p:cNvSpPr/>
          <p:nvPr/>
        </p:nvSpPr>
        <p:spPr>
          <a:xfrm>
            <a:off x="8712397" y="14218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SignIn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127" y="1547622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52477" y="14950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8712397" y="20162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RTC · Touch · PIR · MQ-2 gas sensor · Microphone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Embedded note 2"/>
          <p:cNvSpPr/>
          <p:nvPr/>
        </p:nvSpPr>
        <p:spPr>
          <a:xfrm>
            <a:off x="8529517" y="2884932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1" name="Badge FaMicrochip"/>
          <p:cNvSpPr/>
          <p:nvPr/>
        </p:nvSpPr>
        <p:spPr>
          <a:xfrm>
            <a:off x="8669253" y="30038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Microchi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983" y="3129534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352477" y="3072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8712397" y="3579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ESP32-S3 reads sensors, checks the schedule, controls outputs and sends SMS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Embedded note 3"/>
          <p:cNvSpPr/>
          <p:nvPr/>
        </p:nvSpPr>
        <p:spPr>
          <a:xfrm>
            <a:off x="8529517" y="4530852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6" name="Badge FaVolumeUp"/>
          <p:cNvSpPr/>
          <p:nvPr/>
        </p:nvSpPr>
        <p:spPr>
          <a:xfrm>
            <a:off x="8712397" y="47137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Volume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127" y="4839462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2477" y="47868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8712397" y="53080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OLED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Buzzer · GSM module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SD card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9" y="1410638"/>
            <a:ext cx="8276492" cy="45424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183447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Robot </a:t>
            </a:r>
            <a:r>
              <a:rPr lang="en-US" sz="3200" b="1" dirty="0">
                <a:solidFill>
                  <a:schemeClr val="tx2"/>
                </a:solidFill>
              </a:rPr>
              <a:t>Circuit Diagram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94" y="1069534"/>
            <a:ext cx="7148992" cy="5623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Hardware </a:t>
            </a:r>
            <a:r>
              <a:rPr lang="en-US" sz="3200" b="1" dirty="0">
                <a:solidFill>
                  <a:schemeClr val="tx2"/>
                </a:solidFill>
              </a:rPr>
              <a:t>Implementation: Updated</a:t>
            </a:r>
            <a:endParaRPr lang="en-US" sz="3200" dirty="0"/>
          </a:p>
        </p:txBody>
      </p:sp>
      <p:sp>
        <p:nvSpPr>
          <p:cNvPr id="3" name="Hardware card 1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" name="Badge FaClock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DS3231 RTC (ZS-042)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Keeps real time and triggers the medicine alarm.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Hardware card 2"/>
          <p:cNvSpPr/>
          <p:nvPr/>
        </p:nvSpPr>
        <p:spPr>
          <a:xfrm>
            <a:off x="432054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2" name="Badge FaSlidersH"/>
          <p:cNvSpPr/>
          <p:nvPr/>
        </p:nvSpPr>
        <p:spPr>
          <a:xfrm>
            <a:off x="45491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Sliders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174879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491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KY-040 Rotary Encoder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45491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sets time, medicine name and frequency.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Hardware card 3"/>
          <p:cNvSpPr/>
          <p:nvPr/>
        </p:nvSpPr>
        <p:spPr>
          <a:xfrm>
            <a:off x="809244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0" name="Badge FaVolumeUp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2" descr="VolumeU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174879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210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Speaker (3 W, 8 Ω)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832104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Voice reminder played through the MAX98357A I²S amplifier.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Hardware card 4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28" name="Badge FaTv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3" descr="Tv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263390"/>
            <a:ext cx="297180" cy="2971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0.96″ OLED Display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77724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Shows face reactions: sad at reminder, happy when confirmed.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77724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Hardware card 5"/>
          <p:cNvSpPr/>
          <p:nvPr/>
        </p:nvSpPr>
        <p:spPr>
          <a:xfrm>
            <a:off x="432054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36" name="Badge FaSms"/>
          <p:cNvSpPr/>
          <p:nvPr/>
        </p:nvSpPr>
        <p:spPr>
          <a:xfrm>
            <a:off x="45491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4" descr="Sm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730" y="4263390"/>
            <a:ext cx="297180" cy="29718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5491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SIM800L GSM Module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454914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Sends the emergency SMS to pre-set numbers.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Hardware card 6"/>
          <p:cNvSpPr/>
          <p:nvPr/>
        </p:nvSpPr>
        <p:spPr>
          <a:xfrm>
            <a:off x="809244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4" name="Badge FaBolt"/>
          <p:cNvSpPr/>
          <p:nvPr/>
        </p:nvSpPr>
        <p:spPr>
          <a:xfrm>
            <a:off x="832104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mage 5" descr="Bol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630" y="4263390"/>
            <a:ext cx="297180" cy="29718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3210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 V Power Rail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832104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 V/3 A adapter → MP1584 buck → every module.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Project </a:t>
            </a:r>
            <a:r>
              <a:rPr lang="en-US" sz="3200" b="1" dirty="0">
                <a:solidFill>
                  <a:schemeClr val="tx2"/>
                </a:solidFill>
              </a:rPr>
              <a:t>Timeline: Gantt Chart</a:t>
            </a:r>
            <a:endParaRPr lang="en-US" sz="3200" dirty="0"/>
          </a:p>
        </p:txBody>
      </p:sp>
      <p:sp>
        <p:nvSpPr>
          <p:cNvPr id="3" name="Gantt card"/>
          <p:cNvSpPr/>
          <p:nvPr/>
        </p:nvSpPr>
        <p:spPr>
          <a:xfrm>
            <a:off x="548640" y="1325880"/>
            <a:ext cx="11064240" cy="4983480"/>
          </a:xfrm>
          <a:prstGeom prst="roundRect">
            <a:avLst>
              <a:gd name="adj" fmla="val 22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" name="Gantt header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0056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75704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46136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31352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16568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701784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0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W11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872216" y="146304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W12</a:t>
            </a:r>
            <a:endParaRPr lang="en-US" sz="1100" dirty="0"/>
          </a:p>
        </p:txBody>
      </p:sp>
      <p:sp>
        <p:nvSpPr>
          <p:cNvPr id="18" name="Gantt stripe 1"/>
          <p:cNvSpPr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1874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Literature review &amp; survey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Gantt bar 1"/>
          <p:cNvSpPr/>
          <p:nvPr/>
        </p:nvSpPr>
        <p:spPr>
          <a:xfrm>
            <a:off x="4453128" y="1929384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53128" y="19293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1F2D"/>
                </a:solidFill>
                <a:latin typeface="Times New Roman" pitchFamily="18" charset="0"/>
                <a:cs typeface="Times New Roman" pitchFamily="18" charset="0"/>
              </a:rPr>
              <a:t>3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68680" y="2240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Problem statement &amp; objectives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Gantt bar 2"/>
          <p:cNvSpPr/>
          <p:nvPr/>
        </p:nvSpPr>
        <p:spPr>
          <a:xfrm>
            <a:off x="5038344" y="2295144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38344" y="229514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1F2D"/>
                </a:solidFill>
                <a:latin typeface="Times New Roman" pitchFamily="18" charset="0"/>
                <a:cs typeface="Times New Roman" pitchFamily="18" charset="0"/>
              </a:rPr>
              <a:t>2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Gantt stripe 3"/>
          <p:cNvSpPr/>
          <p:nvPr/>
        </p:nvSpPr>
        <p:spPr>
          <a:xfrm>
            <a:off x="731520" y="260604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Concept model &amp; system design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Gantt bar 3"/>
          <p:cNvSpPr/>
          <p:nvPr/>
        </p:nvSpPr>
        <p:spPr>
          <a:xfrm>
            <a:off x="5623560" y="2660904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D9648F"/>
          </a:solidFill>
          <a:ln w="12700">
            <a:solidFill>
              <a:srgbClr val="D964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23560" y="26609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1F2D"/>
                </a:solidFill>
                <a:latin typeface="Times New Roman" pitchFamily="18" charset="0"/>
                <a:cs typeface="Times New Roman" pitchFamily="18" charset="0"/>
              </a:rPr>
              <a:t>3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68680" y="2971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Component selection &amp; procurement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Gantt bar 4"/>
          <p:cNvSpPr/>
          <p:nvPr/>
        </p:nvSpPr>
        <p:spPr>
          <a:xfrm>
            <a:off x="6208776" y="3026664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D9648F"/>
          </a:solidFill>
          <a:ln w="12700">
            <a:solidFill>
              <a:srgbClr val="D964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08776" y="302666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1F2D"/>
                </a:solidFill>
                <a:latin typeface="Times New Roman" pitchFamily="18" charset="0"/>
                <a:cs typeface="Times New Roman" pitchFamily="18" charset="0"/>
              </a:rPr>
              <a:t>2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Gantt stripe 5"/>
          <p:cNvSpPr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3337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Circuit design &amp; wiring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Gantt bar 5"/>
          <p:cNvSpPr/>
          <p:nvPr/>
        </p:nvSpPr>
        <p:spPr>
          <a:xfrm>
            <a:off x="6793992" y="3392424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D9648F"/>
          </a:solidFill>
          <a:ln w="12700">
            <a:solidFill>
              <a:srgbClr val="D964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93992" y="3392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1F2D"/>
                </a:solidFill>
                <a:latin typeface="Times New Roman" pitchFamily="18" charset="0"/>
                <a:cs typeface="Times New Roman" pitchFamily="18" charset="0"/>
              </a:rPr>
              <a:t>2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68680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Reminder module: RTC, voice, button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Gantt bar 6"/>
          <p:cNvSpPr/>
          <p:nvPr/>
        </p:nvSpPr>
        <p:spPr>
          <a:xfrm>
            <a:off x="6793992" y="3758184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B5527A"/>
          </a:solidFill>
          <a:ln w="12700">
            <a:solidFill>
              <a:srgbClr val="B5527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93992" y="37581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Gantt stripe 7"/>
          <p:cNvSpPr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Emotional engagement: OLED face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Gantt bar 7"/>
          <p:cNvSpPr/>
          <p:nvPr/>
        </p:nvSpPr>
        <p:spPr>
          <a:xfrm>
            <a:off x="7379208" y="4123944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B5527A"/>
          </a:solidFill>
          <a:ln w="12700">
            <a:solidFill>
              <a:srgbClr val="B552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79208" y="412394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68680" y="4414911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8. Presence (PIR) &amp; gas-leak SMS alert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Gantt bar 8"/>
          <p:cNvSpPr/>
          <p:nvPr/>
        </p:nvSpPr>
        <p:spPr>
          <a:xfrm>
            <a:off x="7964424" y="4489704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B5527A"/>
          </a:solidFill>
          <a:ln w="12700">
            <a:solidFill>
              <a:srgbClr val="B5527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64424" y="44897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Gantt stripe 9"/>
          <p:cNvSpPr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8680" y="4800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9. Integration, SD logging &amp; enclosure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Gantt bar 9"/>
          <p:cNvSpPr/>
          <p:nvPr/>
        </p:nvSpPr>
        <p:spPr>
          <a:xfrm>
            <a:off x="8549640" y="4855464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B5527A"/>
          </a:solidFill>
          <a:ln w="12700">
            <a:solidFill>
              <a:srgbClr val="B5527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49640" y="485546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2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868680" y="5166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 Testing &amp; refinement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Gantt bar 10"/>
          <p:cNvSpPr/>
          <p:nvPr/>
        </p:nvSpPr>
        <p:spPr>
          <a:xfrm>
            <a:off x="7379208" y="5221224"/>
            <a:ext cx="2889504" cy="256032"/>
          </a:xfrm>
          <a:prstGeom prst="roundRect">
            <a:avLst>
              <a:gd name="adj" fmla="val 28571"/>
            </a:avLst>
          </a:prstGeom>
          <a:solidFill>
            <a:srgbClr val="7A3556"/>
          </a:solidFill>
          <a:ln w="12700">
            <a:solidFill>
              <a:srgbClr val="7A355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79208" y="522122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5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Gantt stripe 11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8680" y="5532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11. Paper &amp; report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Gantt bar 11"/>
          <p:cNvSpPr/>
          <p:nvPr/>
        </p:nvSpPr>
        <p:spPr>
          <a:xfrm>
            <a:off x="10305288" y="5586984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7A3556"/>
          </a:solidFill>
          <a:ln w="12700">
            <a:solidFill>
              <a:srgbClr val="7A355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305288" y="55869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2 wk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868680" y="5943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Phases:</a:t>
            </a:r>
            <a:endParaRPr lang="en-US" sz="1600" dirty="0"/>
          </a:p>
        </p:txBody>
      </p:sp>
      <p:sp>
        <p:nvSpPr>
          <p:cNvPr id="58" name="Legend Plan"/>
          <p:cNvSpPr/>
          <p:nvPr/>
        </p:nvSpPr>
        <p:spPr>
          <a:xfrm>
            <a:off x="1783080" y="59801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2A7C3"/>
          </a:solidFill>
          <a:ln w="12700">
            <a:solidFill>
              <a:srgbClr val="F2A7C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14884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Plan</a:t>
            </a:r>
            <a:endParaRPr lang="en-US" sz="1600" dirty="0"/>
          </a:p>
        </p:txBody>
      </p:sp>
      <p:sp>
        <p:nvSpPr>
          <p:cNvPr id="60" name="Legend Design"/>
          <p:cNvSpPr/>
          <p:nvPr/>
        </p:nvSpPr>
        <p:spPr>
          <a:xfrm>
            <a:off x="3520440" y="59801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D9648F"/>
          </a:solidFill>
          <a:ln w="12700">
            <a:solidFill>
              <a:srgbClr val="D9648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88620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Design</a:t>
            </a:r>
            <a:endParaRPr lang="en-US" sz="1600" dirty="0"/>
          </a:p>
        </p:txBody>
      </p:sp>
      <p:sp>
        <p:nvSpPr>
          <p:cNvPr id="62" name="Legend Build"/>
          <p:cNvSpPr/>
          <p:nvPr/>
        </p:nvSpPr>
        <p:spPr>
          <a:xfrm>
            <a:off x="5257800" y="59801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B5527A"/>
          </a:solidFill>
          <a:ln w="12700">
            <a:solidFill>
              <a:srgbClr val="B5527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2356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Build</a:t>
            </a:r>
            <a:endParaRPr lang="en-US" sz="1600" dirty="0"/>
          </a:p>
        </p:txBody>
      </p:sp>
      <p:sp>
        <p:nvSpPr>
          <p:cNvPr id="64" name="Legend Test &amp; Report"/>
          <p:cNvSpPr/>
          <p:nvPr/>
        </p:nvSpPr>
        <p:spPr>
          <a:xfrm>
            <a:off x="6995160" y="59801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7A3556"/>
          </a:solidFill>
          <a:ln w="12700">
            <a:solidFill>
              <a:srgbClr val="7A355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36092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Test &amp; Report</a:t>
            </a:r>
            <a:endParaRPr lang="en-US" sz="160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chemeClr val="tx2"/>
                </a:solidFill>
              </a:rPr>
              <a:t>                                                   Conclusion</a:t>
            </a:r>
            <a:endParaRPr lang="en-US" sz="3200" dirty="0"/>
          </a:p>
        </p:txBody>
      </p:sp>
      <p:sp>
        <p:nvSpPr>
          <p:cNvPr id="3" name="Conclusion card 1"/>
          <p:cNvSpPr/>
          <p:nvPr/>
        </p:nvSpPr>
        <p:spPr>
          <a:xfrm>
            <a:off x="548640" y="137160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4" name="Badge FaCheck"/>
          <p:cNvSpPr/>
          <p:nvPr/>
        </p:nvSpPr>
        <p:spPr>
          <a:xfrm>
            <a:off x="731520" y="16184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7556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44752"/>
            <a:ext cx="5029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Smart Medicine Companion Robot is a compact, intelligent and interactive solution for medicine management.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clusion card 2"/>
          <p:cNvSpPr/>
          <p:nvPr/>
        </p:nvSpPr>
        <p:spPr>
          <a:xfrm>
            <a:off x="548640" y="256032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8" name="Badge FaCheck"/>
          <p:cNvSpPr/>
          <p:nvPr/>
        </p:nvSpPr>
        <p:spPr>
          <a:xfrm>
            <a:off x="731520" y="28072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443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33472"/>
            <a:ext cx="5029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improves medication adherence, ensures safety, and brings peace of mind to users and caregivers.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Conclusion card 3"/>
          <p:cNvSpPr/>
          <p:nvPr/>
        </p:nvSpPr>
        <p:spPr>
          <a:xfrm>
            <a:off x="548640" y="374904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2" name="Badge FaCheck"/>
          <p:cNvSpPr/>
          <p:nvPr/>
        </p:nvSpPr>
        <p:spPr>
          <a:xfrm>
            <a:off x="731520" y="39959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822192"/>
            <a:ext cx="5029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combines robotics, IoT, voice interaction and emotional engagement in one platform.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clusion card 4"/>
          <p:cNvSpPr/>
          <p:nvPr/>
        </p:nvSpPr>
        <p:spPr>
          <a:xfrm>
            <a:off x="548640" y="4937760"/>
            <a:ext cx="6126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16" name="Badge FaCheck"/>
          <p:cNvSpPr/>
          <p:nvPr/>
        </p:nvSpPr>
        <p:spPr>
          <a:xfrm>
            <a:off x="731520" y="5184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2180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10912"/>
            <a:ext cx="5029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project has strong potential to make a real-world impact in healthcare.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23" name="WhatsApp Video 2026-10-14 at 21.27.28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b="15742"/>
          <a:stretch/>
        </p:blipFill>
        <p:spPr>
          <a:xfrm>
            <a:off x="7898224" y="1304310"/>
            <a:ext cx="3576852" cy="4474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References: Reminder-App Papers</a:t>
            </a:r>
            <a:endParaRPr lang="en-US" sz="3200" dirty="0"/>
          </a:p>
        </p:txBody>
      </p:sp>
      <p:sp>
        <p:nvSpPr>
          <p:cNvPr id="30" name="Reference card 1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31" name="Ref number 1"/>
          <p:cNvSpPr/>
          <p:nvPr/>
        </p:nvSpPr>
        <p:spPr>
          <a:xfrm>
            <a:off x="777240" y="13853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Ref label 1"/>
          <p:cNvSpPr txBox="1"/>
          <p:nvPr/>
        </p:nvSpPr>
        <p:spPr>
          <a:xfrm>
            <a:off x="777240" y="13853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[1]</a:t>
            </a:r>
            <a:endParaRPr lang="en-US" sz="1400" dirty="0"/>
          </a:p>
        </p:txBody>
      </p:sp>
      <p:sp>
        <p:nvSpPr>
          <p:cNvPr id="33" name="Ref text 1"/>
          <p:cNvSpPr txBox="1"/>
          <p:nvPr/>
        </p:nvSpPr>
        <p:spPr>
          <a:xfrm>
            <a:off x="1600200" y="135331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/>
              <a:t>Yimer</a:t>
            </a:r>
            <a:r>
              <a:rPr lang="en-US" sz="1600" dirty="0"/>
              <a:t> et al., “An Efficient and Cost-Effective Medicine Reminder and Dispenser System.” </a:t>
            </a: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ejournal.seaninstitute.or.id/index.php/healt/article/view/6289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34" name="Reference card 2"/>
          <p:cNvSpPr/>
          <p:nvPr/>
        </p:nvSpPr>
        <p:spPr>
          <a:xfrm>
            <a:off x="548640" y="2221992"/>
            <a:ext cx="11064240" cy="96012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E4A9C0">
                <a:alpha val="30000"/>
              </a:srgbClr>
            </a:outerShdw>
          </a:effectLst>
        </p:spPr>
      </p:sp>
      <p:sp>
        <p:nvSpPr>
          <p:cNvPr id="35" name="Ref number 2"/>
          <p:cNvSpPr/>
          <p:nvPr/>
        </p:nvSpPr>
        <p:spPr>
          <a:xfrm>
            <a:off x="777240" y="24185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Ref label 2"/>
          <p:cNvSpPr txBox="1"/>
          <p:nvPr/>
        </p:nvSpPr>
        <p:spPr>
          <a:xfrm>
            <a:off x="777240" y="24185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[2]</a:t>
            </a:r>
            <a:endParaRPr lang="en-US" sz="1400" dirty="0"/>
          </a:p>
        </p:txBody>
      </p:sp>
      <p:sp>
        <p:nvSpPr>
          <p:cNvPr id="37" name="Ref text 2"/>
          <p:cNvSpPr txBox="1"/>
          <p:nvPr/>
        </p:nvSpPr>
        <p:spPr>
          <a:xfrm>
            <a:off x="1600200" y="2330313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/>
              <a:t>Tkela</a:t>
            </a:r>
            <a:r>
              <a:rPr lang="en-US" sz="1600" dirty="0"/>
              <a:t>, M. Y., </a:t>
            </a:r>
            <a:r>
              <a:rPr lang="en-US" sz="1600" dirty="0" err="1"/>
              <a:t>Sambriong</a:t>
            </a:r>
            <a:r>
              <a:rPr lang="en-US" sz="1600" dirty="0"/>
              <a:t>, M., &amp; </a:t>
            </a:r>
            <a:r>
              <a:rPr lang="en-US" sz="1600" dirty="0" err="1"/>
              <a:t>Kapitan</a:t>
            </a:r>
            <a:r>
              <a:rPr lang="en-US" sz="1600" dirty="0"/>
              <a:t>, M. (2025). “Implementation of Alarm and Pill Reminder for Medication Adherence in Tuberculosis Patients.” </a:t>
            </a:r>
            <a:r>
              <a:rPr lang="en-US" sz="1600" i="1" dirty="0" err="1"/>
              <a:t>Jurnal</a:t>
            </a:r>
            <a:r>
              <a:rPr lang="en-US" sz="1600" i="1" dirty="0"/>
              <a:t> </a:t>
            </a:r>
            <a:r>
              <a:rPr lang="en-US" sz="1600" i="1" dirty="0" err="1"/>
              <a:t>EduHealth</a:t>
            </a:r>
            <a:r>
              <a:rPr lang="en-US" sz="1600" i="1" dirty="0"/>
              <a:t>.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ejournal.seaninstitute.or.id/index.php/healt/article/view/6289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938" r="94548">
                        <a14:foregroundMark x1="41339" y1="64306" x2="44651" y2="71111"/>
                        <a14:foregroundMark x1="79779" y1="29722" x2="94548" y2="12917"/>
                        <a14:foregroundMark x1="40649" y1="68889" x2="42374" y2="681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9040" y="238232"/>
            <a:ext cx="12991040" cy="6455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sh Pink">
  <a:themeElements>
    <a:clrScheme name="Blush Pink">
      <a:dk1>
        <a:srgbClr val="3A1F2D"/>
      </a:dk1>
      <a:lt1>
        <a:srgbClr val="FFF6F9"/>
      </a:lt1>
      <a:dk2>
        <a:srgbClr val="8E3B62"/>
      </a:dk2>
      <a:lt2>
        <a:srgbClr val="FFFFFF"/>
      </a:lt2>
      <a:accent1>
        <a:srgbClr val="D9648F"/>
      </a:accent1>
      <a:accent2>
        <a:srgbClr val="F4B8CE"/>
      </a:accent2>
      <a:accent3>
        <a:srgbClr val="B5527A"/>
      </a:accent3>
      <a:accent4>
        <a:srgbClr val="7A3556"/>
      </a:accent4>
      <a:accent5>
        <a:srgbClr val="FBE0EA"/>
      </a:accent5>
      <a:accent6>
        <a:srgbClr val="6B5560"/>
      </a:accent6>
      <a:hlink>
        <a:srgbClr val="B5306A"/>
      </a:hlink>
      <a:folHlink>
        <a:srgbClr val="8E3B62"/>
      </a:folHlink>
    </a:clrScheme>
    <a:fontScheme name="Blush P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1305</Words>
  <Application>Microsoft Office PowerPoint</Application>
  <PresentationFormat>Custom</PresentationFormat>
  <Paragraphs>217</Paragraphs>
  <Slides>17</Slides>
  <Notes>16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Blush Pink</vt:lpstr>
      <vt:lpstr>PowerPoint Presentation</vt:lpstr>
      <vt:lpstr>                                        Executive Summary</vt:lpstr>
      <vt:lpstr>                                            My Contribution</vt:lpstr>
      <vt:lpstr>                                         Proposed Solution</vt:lpstr>
      <vt:lpstr>               Literature Review: Existing Reminder Apps</vt:lpstr>
      <vt:lpstr>                   Survey: Emergency Alerts (Q10–Q11) </vt:lpstr>
      <vt:lpstr>                Survey: Data Access &amp; Privacy (Q12–Q13)</vt:lpstr>
      <vt:lpstr>                     Survey: Most Valuable Feature (Q14)</vt:lpstr>
      <vt:lpstr>              Survey: Recommendation &amp; Budget (Q15–Q16)</vt:lpstr>
      <vt:lpstr>                                                   Objectives</vt:lpstr>
      <vt:lpstr>                                     Robot Embedded Diagram</vt:lpstr>
      <vt:lpstr>                                       Robot Circuit Diagram</vt:lpstr>
      <vt:lpstr>                      Hardware Implementation: Updated</vt:lpstr>
      <vt:lpstr>                              Project Timeline: Gantt Chart</vt:lpstr>
      <vt:lpstr>                                                   Conclusion</vt:lpstr>
      <vt:lpstr>References: Reminder-App Papers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PicoBot: Smart Medicine Companion Robot</dc:title>
  <dc:subject>PptxGenJS Presentation</dc:subject>
  <dc:creator>Adika Sultana</dc:creator>
  <cp:lastModifiedBy>user</cp:lastModifiedBy>
  <cp:revision>23</cp:revision>
  <dcterms:created xsi:type="dcterms:W3CDTF">2026-10-14T18:45:25Z</dcterms:created>
  <dcterms:modified xsi:type="dcterms:W3CDTF">2026-10-17T08:23:54Z</dcterms:modified>
</cp:coreProperties>
</file>