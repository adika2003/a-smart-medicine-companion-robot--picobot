
<file path=[Content_Types].xml><?xml version="1.0" encoding="utf-8"?>
<Types xmlns="http://schemas.openxmlformats.org/package/2006/content-types">
  <Default Extension="mp4" ContentType="video/mp4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0" r:id="rId5"/>
    <p:sldId id="269" r:id="rId6"/>
    <p:sldId id="259" r:id="rId7"/>
    <p:sldId id="266" r:id="rId8"/>
    <p:sldId id="264" r:id="rId9"/>
    <p:sldId id="260" r:id="rId10"/>
    <p:sldId id="277" r:id="rId11"/>
    <p:sldId id="261" r:id="rId12"/>
    <p:sldId id="273" r:id="rId13"/>
    <p:sldId id="278" r:id="rId26"/>
    <p:sldId id="262" r:id="rId14"/>
    <p:sldId id="275" r:id="rId15"/>
    <p:sldId id="276" r:id="rId16"/>
    <p:sldId id="271" r:id="rId17"/>
    <p:sldId id="265" r:id="rId18"/>
    <p:sldId id="267" r:id="rId19"/>
    <p:sldId id="272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  <Relationship Id="rId26" Type="http://schemas.openxmlformats.org/officeDocument/2006/relationships/slide" Target="slides/slide20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30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653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558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microsoft.com/office/2007/relationships/hdphoto" Target="../media/hdphoto1.wdp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2.wdp"/><Relationship Id="rId4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microsoft.com/office/2007/relationships/hdphoto" Target="../media/hdphoto3.wdp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5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6.png"/><Relationship Id="rId5" Type="http://schemas.openxmlformats.org/officeDocument/2006/relationships/image" Target="../media/image21.png"/><Relationship Id="rId10" Type="http://schemas.openxmlformats.org/officeDocument/2006/relationships/image" Target="../media/image22.png"/><Relationship Id="rId4" Type="http://schemas.openxmlformats.org/officeDocument/2006/relationships/image" Target="../media/image20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5.png"/></Relationships>
</file>

<file path=ppt/slides/_rels/slide20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Relationship Id="rId6" Type="http://schemas.openxmlformats.org/officeDocument/2006/relationships/image" Target="../media/circuit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Smart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E74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Medicine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883664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7C3AE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Companion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60350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Robot </a:t>
            </a:r>
            <a:r>
              <a:rPr lang="en-US" sz="4800" b="1" dirty="0" err="1"/>
              <a:t>PicoBot</a:t>
            </a:r>
            <a:r>
              <a:rPr lang="en-US" sz="4800" b="1" dirty="0"/>
              <a:t> 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6035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E74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Your Smart Reminder, Your Health Partner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9224" y="3739896"/>
            <a:ext cx="713232" cy="713232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9" name="Image 0" descr="assets/icons/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076" y="3839748"/>
            <a:ext cx="513527" cy="513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8912" y="4517136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Medicine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Reminder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819656" y="3739896"/>
            <a:ext cx="713232" cy="71323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2" name="Image 1" descr="assets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9508" y="3839748"/>
            <a:ext cx="513527" cy="513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9344" y="4517136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Voice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Assistant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2990088" y="3739896"/>
            <a:ext cx="713232" cy="713232"/>
          </a:xfrm>
          <a:prstGeom prst="ellipse">
            <a:avLst/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5" name="Image 2" descr="assets/icons/sm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9940" y="3839748"/>
            <a:ext cx="513527" cy="513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779776" y="4517136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Face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Reaction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4160520" y="3739896"/>
            <a:ext cx="713232" cy="713232"/>
          </a:xfrm>
          <a:prstGeom prst="ellipse">
            <a:avLst/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8" name="Image 3" descr="assets/icons/footpri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0372" y="3839748"/>
            <a:ext cx="513527" cy="513527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950208" y="4517136"/>
            <a:ext cx="11338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Movement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330952" y="3739896"/>
            <a:ext cx="713232" cy="713232"/>
          </a:xfrm>
          <a:prstGeom prst="ellipse">
            <a:avLst/>
          </a:prstGeom>
          <a:solidFill>
            <a:srgbClr val="F9731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1" name="Image 4" descr="assets/icons/pho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30804" y="3839748"/>
            <a:ext cx="513527" cy="51352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20639" y="4517136"/>
            <a:ext cx="134291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6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Emergency</a:t>
            </a:r>
          </a:p>
          <a:p>
            <a:pPr marL="0" indent="0" algn="ctr">
              <a:lnSpc>
                <a:spcPts val="12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SMS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pic>
        <p:nvPicPr>
          <p:cNvPr id="26" name="Robot Picture" descr="Smart Medicine Companion Robot"/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100000" l="0" r="99750">
                        <a14:foregroundMark x1="10500" y1="29576" x2="12333" y2="71094"/>
                        <a14:foregroundMark x1="11167" y1="30134" x2="45750" y2="24442"/>
                        <a14:foregroundMark x1="52750" y1="24442" x2="75333" y2="20536"/>
                        <a14:foregroundMark x1="75333" y1="19866" x2="89167" y2="25000"/>
                        <a14:foregroundMark x1="90250" y1="26228" x2="87333" y2="65625"/>
                        <a14:foregroundMark x1="88917" y1="46205" x2="90250" y2="46205"/>
                        <a14:foregroundMark x1="89583" y1="46540" x2="88250" y2="64063"/>
                        <a14:foregroundMark x1="20250" y1="84933" x2="87333" y2="64955"/>
                        <a14:foregroundMark x1="69000" y1="24777" x2="71500" y2="23772"/>
                        <a14:foregroundMark x1="71083" y1="24777" x2="72917" y2="247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63552" y="1385375"/>
            <a:ext cx="5363778" cy="40049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566928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35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Team Members</a:t>
            </a:r>
            <a:endParaRPr lang="en-US" sz="4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9468" y="1874520"/>
            <a:ext cx="2423160" cy="37947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01600" dist="38100" dir="5400000" algn="bl" rotWithShape="0">
              <a:srgbClr val="64748B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06628" y="4180242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9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Faiaz</a:t>
            </a:r>
            <a:r>
              <a:rPr lang="en-US" sz="1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Masnun</a:t>
            </a:r>
            <a:r>
              <a:rPr lang="en-US" sz="1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5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Labib</a:t>
            </a:r>
            <a:endParaRPr lang="en-US" sz="1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06628" y="466344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490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ID: </a:t>
            </a: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23101128</a:t>
            </a:r>
            <a:endParaRPr lang="en-US" sz="1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4884267" y="1874520"/>
            <a:ext cx="2423160" cy="37947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01600" dist="38100" dir="5400000" algn="bl" rotWithShape="0">
              <a:srgbClr val="64748B">
                <a:alpha val="25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021427" y="4080656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Sadia Shahrin Sharna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5013067" y="4661095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ID: 23101161</a:t>
            </a:r>
            <a:endParaRPr lang="en-US" sz="1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999068" y="1874519"/>
            <a:ext cx="2423160" cy="37947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101600" dist="38100" dir="5400000" algn="bl" rotWithShape="0">
              <a:srgbClr val="64748B">
                <a:alpha val="2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9136228" y="4094011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95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Adika Sultana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136228" y="463744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ID: 23101162</a:t>
            </a:r>
            <a:endParaRPr lang="en-US" sz="1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2" name="Flowchart: Connector 1"/>
          <p:cNvSpPr/>
          <p:nvPr/>
        </p:nvSpPr>
        <p:spPr>
          <a:xfrm>
            <a:off x="1464196" y="2612985"/>
            <a:ext cx="839166" cy="824696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0449" y="2602656"/>
            <a:ext cx="854075" cy="83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610" y="2612985"/>
            <a:ext cx="854075" cy="83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745"/>
          <a:stretch/>
        </p:blipFill>
        <p:spPr bwMode="auto">
          <a:xfrm>
            <a:off x="5669323" y="1207008"/>
            <a:ext cx="6397845" cy="4381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 1"/>
          <p:cNvSpPr/>
          <p:nvPr/>
        </p:nvSpPr>
        <p:spPr>
          <a:xfrm>
            <a:off x="548640" y="56692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Problem Statement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12648" y="1417320"/>
            <a:ext cx="512064" cy="51206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5" name="Image 0" descr="assets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337" y="1489009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457275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Many elderly or chronically ill patients simply forget medicine timing, dosage, or whether they already took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12648" y="2660904"/>
            <a:ext cx="512064" cy="51206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8" name="Image 1" descr="assets/icons/repe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337" y="2732593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717533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ea typeface="Arial" pitchFamily="34" charset="-122"/>
                <a:cs typeface="Times New Roman" panose="02020603050405020304" pitchFamily="18" charset="0"/>
              </a:rPr>
              <a:t>Even when reminded, many skip medicine on purpose — low mood, denial, or simply not feeling like it.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12648" y="3904488"/>
            <a:ext cx="512064" cy="51206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1" name="Image 2" descr="assets/icons/shiel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337" y="3976177"/>
            <a:ext cx="368686" cy="36868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977791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Reminder apps only fight forgetting — they can't sense reluctance or confirm the dose was truly taken.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12648" y="5148072"/>
            <a:ext cx="512064" cy="51206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4" name="Image 3" descr="assets/icons/ale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337" y="5219761"/>
            <a:ext cx="368686" cy="36868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5222658"/>
            <a:ext cx="443484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Caregivers can't always be present, leaving emergencies or emotional low points without easily accessible help.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0" r="9296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35500"/>
            <a:ext cx="7640204" cy="440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" name="Shape 12"/>
          <p:cNvSpPr/>
          <p:nvPr/>
        </p:nvSpPr>
        <p:spPr>
          <a:xfrm>
            <a:off x="742774" y="1280160"/>
            <a:ext cx="0" cy="507492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355079" y="566928"/>
            <a:ext cx="507492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7C3AE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Why We Choose This</a:t>
            </a:r>
          </a:p>
          <a:p>
            <a:pPr marL="0" indent="0" algn="l">
              <a:buNone/>
            </a:pPr>
            <a:r>
              <a:rPr lang="en-US" sz="3200" b="1" dirty="0">
                <a:solidFill>
                  <a:srgbClr val="7C3AE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 Topic?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10698480" y="548640"/>
            <a:ext cx="731520" cy="731520"/>
          </a:xfrm>
          <a:prstGeom prst="ellipse">
            <a:avLst/>
          </a:prstGeom>
          <a:solidFill>
            <a:srgbClr val="F9731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2" name="Image 5" descr="assets/icons/targ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893" y="651053"/>
            <a:ext cx="526694" cy="52669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491893" y="1981200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4" name="Image 6" descr="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5901" y="2045208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007352" y="19583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Non-adherence has two causes — forgetting and unwillingness — yet most tools fix only the first.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ea typeface="Arial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7"/>
          <p:cNvSpPr/>
          <p:nvPr/>
        </p:nvSpPr>
        <p:spPr>
          <a:xfrm>
            <a:off x="6446520" y="3044952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7" name="Image 7" descr="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3108960"/>
            <a:ext cx="329184" cy="329184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73824" y="304740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Combines robotics, AI voice, affective computing, and IoT to address both memory and motivation.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6446520" y="4005072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0" name="Image 8" descr="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4069080"/>
            <a:ext cx="329184" cy="32918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7007352" y="4079434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Supports independent living and emotional well-being, not just pill-time alerts.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1"/>
          <p:cNvSpPr/>
          <p:nvPr/>
        </p:nvSpPr>
        <p:spPr>
          <a:xfrm>
            <a:off x="6446520" y="4965192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3" name="Image 9" descr="assets/icons/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528" y="5029200"/>
            <a:ext cx="329184" cy="329184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7007352" y="4882717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Backed by recent adherence and social-robotics research — scalable, research-grounded design.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3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484637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98543" y="603504"/>
            <a:ext cx="526616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647370" y="2048690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6" name="Image 0" descr="asset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55" y="2100192"/>
            <a:ext cx="302849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7956" y="1856232"/>
            <a:ext cx="601236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Design a reliable medicine reminder and confirmation system using RTC scheduling, voice alerts, and button-press verification to directly counter forgetting.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36315" y="2923881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9" name="Image 1" descr="asset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58" y="2989893"/>
            <a:ext cx="302849" cy="3028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67956" y="2872118"/>
            <a:ext cx="6035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Develop an emotionally intelligent voice assistant that detects reluctance and uses empathetic persuasion and mood-aware expressions to address emotional refusal</a:t>
            </a:r>
            <a:r>
              <a:rPr lang="en-US" dirty="0"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dirty="0"/>
          </a:p>
        </p:txBody>
      </p:sp>
      <p:sp>
        <p:nvSpPr>
          <p:cNvPr id="14" name="Shape 9"/>
          <p:cNvSpPr/>
          <p:nvPr/>
        </p:nvSpPr>
        <p:spPr>
          <a:xfrm>
            <a:off x="636315" y="3937403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5" name="Image 3" descr="asset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59" y="4002249"/>
            <a:ext cx="302849" cy="30284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67956" y="3861667"/>
            <a:ext cx="583862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Integrate presence and movement detection so the robot proactively engages users who try to avoid or ignore reminders.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24223" y="4800600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8" name="Image 4" descr="assets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03" y="4864536"/>
            <a:ext cx="302849" cy="3028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4892040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Build a gas-leak detection and emergency safety-net system — instant SMS alerts and SD-card records — to support caregivers and ensure user safety.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9098280" y="1417320"/>
            <a:ext cx="0" cy="2331720"/>
          </a:xfrm>
          <a:prstGeom prst="line">
            <a:avLst/>
          </a:prstGeom>
          <a:noFill/>
          <a:ln w="12700">
            <a:solidFill>
              <a:srgbClr val="EC4899"/>
            </a:solidFill>
            <a:prstDash val="dash"/>
          </a:ln>
        </p:spPr>
      </p:sp>
      <p:sp>
        <p:nvSpPr>
          <p:cNvPr id="22" name="Shape 15"/>
          <p:cNvSpPr/>
          <p:nvPr/>
        </p:nvSpPr>
        <p:spPr>
          <a:xfrm>
            <a:off x="9098280" y="2788920"/>
            <a:ext cx="2331720" cy="96012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</a:ln>
        </p:spPr>
      </p:sp>
      <p:sp>
        <p:nvSpPr>
          <p:cNvPr id="23" name="Shape 16"/>
          <p:cNvSpPr/>
          <p:nvPr/>
        </p:nvSpPr>
        <p:spPr>
          <a:xfrm>
            <a:off x="6951136" y="2759612"/>
            <a:ext cx="2331720" cy="1234440"/>
          </a:xfrm>
          <a:prstGeom prst="line">
            <a:avLst/>
          </a:prstGeom>
          <a:noFill/>
          <a:ln w="12700">
            <a:solidFill>
              <a:srgbClr val="8B5CF6"/>
            </a:solidFill>
            <a:prstDash val="dash"/>
          </a:ln>
        </p:spPr>
      </p:sp>
      <p:sp>
        <p:nvSpPr>
          <p:cNvPr id="24" name="Shape 17"/>
          <p:cNvSpPr/>
          <p:nvPr/>
        </p:nvSpPr>
        <p:spPr>
          <a:xfrm>
            <a:off x="9098280" y="3749040"/>
            <a:ext cx="2331720" cy="1234440"/>
          </a:xfrm>
          <a:prstGeom prst="line">
            <a:avLst/>
          </a:prstGeom>
          <a:noFill/>
          <a:ln w="12700">
            <a:solidFill>
              <a:srgbClr val="F97316"/>
            </a:solidFill>
            <a:prstDash val="dash"/>
          </a:ln>
        </p:spPr>
      </p:sp>
      <p:sp>
        <p:nvSpPr>
          <p:cNvPr id="26" name="Shape 18"/>
          <p:cNvSpPr/>
          <p:nvPr/>
        </p:nvSpPr>
        <p:spPr>
          <a:xfrm>
            <a:off x="11427450" y="3459074"/>
            <a:ext cx="658368" cy="658368"/>
          </a:xfrm>
          <a:prstGeom prst="ellipse">
            <a:avLst/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7" name="Image 6" descr="assets/icons/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7785" y="3588405"/>
            <a:ext cx="474025" cy="474025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072653" y="407649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Reminder &amp;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Confirmation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769096" y="758952"/>
            <a:ext cx="658368" cy="658368"/>
          </a:xfrm>
          <a:prstGeom prst="ellipse">
            <a:avLst/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3" name="Image 8" descr="assets/icons/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1267" y="961500"/>
            <a:ext cx="474025" cy="474025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 rot="163249">
            <a:off x="8495830" y="1463932"/>
            <a:ext cx="1204900" cy="340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Emotional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Engagement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6858965" y="2542934"/>
            <a:ext cx="658368" cy="658368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6" name="Image 9" descr="assets/icons/footpri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1136" y="2667292"/>
            <a:ext cx="474025" cy="474025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922973" y="325616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Movement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6"/>
          <p:cNvSpPr/>
          <p:nvPr/>
        </p:nvSpPr>
        <p:spPr>
          <a:xfrm>
            <a:off x="11100816" y="4654296"/>
            <a:ext cx="658368" cy="658368"/>
          </a:xfrm>
          <a:prstGeom prst="ellipse">
            <a:avLst/>
          </a:prstGeom>
          <a:solidFill>
            <a:srgbClr val="F9731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9" name="Image 10" descr="assets/icons/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2988" y="4746468"/>
            <a:ext cx="474025" cy="474025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10833090" y="531477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Emergency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100"/>
              </a:lnSpc>
              <a:buNone/>
            </a:pPr>
            <a:r>
              <a:rPr lang="en-US" sz="1350" b="1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Safety Net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900" dirty="0"/>
          </a:p>
        </p:txBody>
      </p:sp>
      <p:pic>
        <p:nvPicPr>
          <p:cNvPr id="42" name="Robot Picture" descr="Smart Medicine Companion Robot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0" r="99750">
                        <a14:foregroundMark x1="10500" y1="29576" x2="12333" y2="71094"/>
                        <a14:foregroundMark x1="11167" y1="30134" x2="45750" y2="24442"/>
                        <a14:foregroundMark x1="52750" y1="24442" x2="75333" y2="20536"/>
                        <a14:foregroundMark x1="75333" y1="19866" x2="89167" y2="25000"/>
                        <a14:foregroundMark x1="90250" y1="26228" x2="87333" y2="65625"/>
                        <a14:foregroundMark x1="88917" y1="46205" x2="90250" y2="46205"/>
                        <a14:foregroundMark x1="89583" y1="46540" x2="88250" y2="64063"/>
                        <a14:foregroundMark x1="20250" y1="84933" x2="87333" y2="64955"/>
                        <a14:foregroundMark x1="69000" y1="24777" x2="71500" y2="23772"/>
                        <a14:foregroundMark x1="71083" y1="24777" x2="72917" y2="2477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84099" y="1999959"/>
            <a:ext cx="3620031" cy="2702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856707" y="603504"/>
            <a:ext cx="610799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4050" dirty="0"/>
          </a:p>
        </p:txBody>
      </p:sp>
      <p:sp>
        <p:nvSpPr>
          <p:cNvPr id="5" name="Shape 3"/>
          <p:cNvSpPr/>
          <p:nvPr/>
        </p:nvSpPr>
        <p:spPr>
          <a:xfrm>
            <a:off x="648386" y="1883288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6" name="Image 0" descr="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" y="1942175"/>
            <a:ext cx="302849" cy="3028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7116" y="1856232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Reminds medicine on schedule with a warm voice alert and expressive face — not just a beep.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58368" y="2907792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9" name="Image 1" descr="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" y="2966679"/>
            <a:ext cx="302849" cy="30284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907791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robot understands the user's mood and gives caring reminders. If the user ignores or refuses the medicine, it gently talks to them and encourages them to take it.</a:t>
            </a:r>
          </a:p>
          <a:p>
            <a:pPr marL="0" indent="0">
              <a:lnSpc>
                <a:spcPts val="1500"/>
              </a:lnSpc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58368" y="4432260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5" name="Image 3" descr="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" y="4468047"/>
            <a:ext cx="302849" cy="30284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4321088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Detects presence and movement, actively engaging even when the user tries to avoid 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58368" y="5221224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8" name="Image 4" descr="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255" y="5280111"/>
            <a:ext cx="302849" cy="3028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5162336"/>
            <a:ext cx="48920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Detects gas leaks in the room and sends emergency SMS instantly to pre-defined numbers.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9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408" y="1758462"/>
            <a:ext cx="6156592" cy="406802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900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Literature Gap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900" dirty="0"/>
          </a:p>
        </p:txBody>
      </p:sp>
      <p:graphicFrame>
        <p:nvGraphicFramePr>
          <p:cNvPr id="50" name="Literature Gap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016500"/>
              </p:ext>
            </p:extLst>
          </p:nvPr>
        </p:nvGraphicFramePr>
        <p:xfrm>
          <a:off x="548640" y="1051560"/>
          <a:ext cx="11094720" cy="5560640"/>
        </p:xfrm>
        <a:graphic>
          <a:graphicData uri="http://schemas.openxmlformats.org/drawingml/2006/table">
            <a:tbl>
              <a:tblPr/>
              <a:tblGrid>
                <a:gridCol w="3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Forgetting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Emotional Refusal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Reminder Apps &amp; Alarms — simple, low-cost scheduled alerts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— basic alerts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Cannot detect refusal or confirm the dose was taken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Non-Adherence Research [1,2,3] — identifies forgetting &amp; unwillingness as dual causes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Explains the cause only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Explains the cause only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Theoretical — no deployable product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/ Assistive Robots [4,5,6] — builds trust via social interaction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— builds trust &amp; engagement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purpose-built for medicine scheduling or confirmation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Quantitative Evidence (2024–25 studies) [7–10] — provides measurable outcome data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Similar IoT dispensers report 88–98% dose-confirmation rates [7]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Companion robots cut high-depression-risk share by ~45% and lift adherence over 6 months [8]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475569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single system yet reports both outcomes together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F172A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Medicine Companion Robot (Ours) — reminder, persuasion &amp; emergency alert in one system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 [Survey Analysis ]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 stage — field evaluation is proposed future work</a:t>
                      </a:r>
                    </a:p>
                  </a:txBody>
                  <a:tcPr marL="137160" marR="13716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8EE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097280" y="411480"/>
            <a:ext cx="999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Model: Solving Both Sides of Non-Adherence</a:t>
            </a:r>
            <a:endParaRPr lang="en-US" sz="3400" dirty="0"/>
          </a:p>
        </p:txBody>
      </p:sp>
      <p:sp>
        <p:nvSpPr>
          <p:cNvPr id="41" name="Text 2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00" dirty="0"/>
          </a:p>
        </p:txBody>
      </p:sp>
      <p:grpSp>
        <p:nvGrpSpPr>
          <p:cNvPr id="507" name="Stage1 Causes"/>
          <p:cNvGrpSpPr/>
          <p:nvPr/>
        </p:nvGrpSpPr>
        <p:grpSpPr>
          <a:xfrm>
            <a:off x="890016" y="1393581"/>
            <a:ext cx="10411968" cy="800338"/>
            <a:chOff x="890016" y="1393581"/>
            <a:chExt cx="10411968" cy="800338"/>
          </a:xfrm>
        </p:grpSpPr>
        <p:sp>
          <p:nvSpPr>
            <p:cNvPr id="501" name="Card"/>
            <p:cNvSpPr/>
            <p:nvPr/>
          </p:nvSpPr>
          <p:spPr>
            <a:xfrm>
              <a:off x="890016" y="1393581"/>
              <a:ext cx="3840480" cy="80033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4748B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02" name="Icon"/>
            <p:cNvSpPr/>
            <p:nvPr/>
          </p:nvSpPr>
          <p:spPr>
            <a:xfrm>
              <a:off x="915619" y="1553649"/>
              <a:ext cx="480202" cy="480202"/>
            </a:xfrm>
            <a:prstGeom prst="ellipse">
              <a:avLst/>
            </a:prstGeom>
            <a:solidFill>
              <a:srgbClr val="EC4899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03" name="CardText"/>
            <p:cNvSpPr txBox="1"/>
            <p:nvPr/>
          </p:nvSpPr>
          <p:spPr>
            <a:xfrm>
              <a:off x="1425691" y="1393581"/>
              <a:ext cx="3279202" cy="8003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Forgetting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Wrong time, wrong dose, or no memory of taking it at all</a:t>
              </a:r>
            </a:p>
          </p:txBody>
        </p:sp>
        <p:sp>
          <p:nvSpPr>
            <p:cNvPr id="504" name="Card"/>
            <p:cNvSpPr/>
            <p:nvPr/>
          </p:nvSpPr>
          <p:spPr>
            <a:xfrm>
              <a:off x="7461504" y="1393581"/>
              <a:ext cx="3840480" cy="800338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4748B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05" name="Icon"/>
            <p:cNvSpPr/>
            <p:nvPr/>
          </p:nvSpPr>
          <p:spPr>
            <a:xfrm>
              <a:off x="7487107" y="1553649"/>
              <a:ext cx="480202" cy="480202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06" name="CardText"/>
            <p:cNvSpPr txBox="1"/>
            <p:nvPr/>
          </p:nvSpPr>
          <p:spPr>
            <a:xfrm>
              <a:off x="7997179" y="1393581"/>
              <a:ext cx="3279202" cy="8003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Unwillingness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 mood, denial, or simply not feeling like it today</a:t>
              </a:r>
            </a:p>
          </p:txBody>
        </p:sp>
      </p:grpSp>
      <p:grpSp>
        <p:nvGrpSpPr>
          <p:cNvPr id="510" name="Stage2 ArrowsDown"/>
          <p:cNvGrpSpPr/>
          <p:nvPr/>
        </p:nvGrpSpPr>
        <p:grpSpPr>
          <a:xfrm>
            <a:off x="2810256" y="2193919"/>
            <a:ext cx="6571488" cy="508040"/>
            <a:chOff x="2810256" y="2193919"/>
            <a:chExt cx="6571488" cy="508040"/>
          </a:xfrm>
        </p:grpSpPr>
        <p:cxnSp>
          <p:nvCxnSpPr>
            <p:cNvPr id="508" name="ArrowDown1"/>
            <p:cNvCxnSpPr/>
            <p:nvPr/>
          </p:nvCxnSpPr>
          <p:spPr>
            <a:xfrm>
              <a:off x="2810256" y="2193919"/>
              <a:ext cx="1" cy="508040"/>
            </a:xfrm>
            <a:prstGeom prst="line">
              <a:avLst/>
            </a:prstGeom>
            <a:ln w="28575">
              <a:solidFill>
                <a:srgbClr val="EC4899"/>
              </a:solidFill>
              <a:tailEnd type="triangle" w="med" len="med"/>
            </a:ln>
          </p:spPr>
        </p:cxnSp>
        <p:cxnSp>
          <p:nvCxnSpPr>
            <p:cNvPr id="509" name="ArrowDown2"/>
            <p:cNvCxnSpPr/>
            <p:nvPr/>
          </p:nvCxnSpPr>
          <p:spPr>
            <a:xfrm>
              <a:off x="9381744" y="2193919"/>
              <a:ext cx="1" cy="508040"/>
            </a:xfrm>
            <a:prstGeom prst="line">
              <a:avLst/>
            </a:prstGeom>
            <a:ln w="28575">
              <a:solidFill>
                <a:srgbClr val="F97316"/>
              </a:solidFill>
              <a:tailEnd type="triangle" w="med" len="med"/>
            </a:ln>
          </p:spPr>
        </p:cxnSp>
      </p:grpSp>
      <p:grpSp>
        <p:nvGrpSpPr>
          <p:cNvPr id="517" name="Stage3 Solutions"/>
          <p:cNvGrpSpPr/>
          <p:nvPr/>
        </p:nvGrpSpPr>
        <p:grpSpPr>
          <a:xfrm>
            <a:off x="890016" y="2715878"/>
            <a:ext cx="10411968" cy="869932"/>
            <a:chOff x="890016" y="2715878"/>
            <a:chExt cx="10411968" cy="869932"/>
          </a:xfrm>
        </p:grpSpPr>
        <p:sp>
          <p:nvSpPr>
            <p:cNvPr id="511" name="Card"/>
            <p:cNvSpPr/>
            <p:nvPr/>
          </p:nvSpPr>
          <p:spPr>
            <a:xfrm>
              <a:off x="890016" y="2715878"/>
              <a:ext cx="3840480" cy="86993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4748B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12" name="Icon"/>
            <p:cNvSpPr/>
            <p:nvPr/>
          </p:nvSpPr>
          <p:spPr>
            <a:xfrm>
              <a:off x="915619" y="2889864"/>
              <a:ext cx="521960" cy="521960"/>
            </a:xfrm>
            <a:prstGeom prst="ellipse">
              <a:avLst/>
            </a:prstGeom>
            <a:solidFill>
              <a:srgbClr val="06B6D4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13" name="CardText"/>
            <p:cNvSpPr txBox="1"/>
            <p:nvPr/>
          </p:nvSpPr>
          <p:spPr>
            <a:xfrm>
              <a:off x="1467449" y="2715878"/>
              <a:ext cx="3237444" cy="8699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Reminder + Confirmation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Voice alarm, RTC schedule, persistent alerts until the button is pressed</a:t>
              </a:r>
            </a:p>
          </p:txBody>
        </p:sp>
        <p:sp>
          <p:nvSpPr>
            <p:cNvPr id="514" name="Card"/>
            <p:cNvSpPr/>
            <p:nvPr/>
          </p:nvSpPr>
          <p:spPr>
            <a:xfrm>
              <a:off x="7461504" y="2715878"/>
              <a:ext cx="3840480" cy="869932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4748B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15" name="Icon"/>
            <p:cNvSpPr/>
            <p:nvPr/>
          </p:nvSpPr>
          <p:spPr>
            <a:xfrm>
              <a:off x="7487107" y="2889864"/>
              <a:ext cx="521960" cy="52196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16" name="CardText"/>
            <p:cNvSpPr txBox="1"/>
            <p:nvPr/>
          </p:nvSpPr>
          <p:spPr>
            <a:xfrm>
              <a:off x="8038937" y="2715878"/>
              <a:ext cx="3237444" cy="8699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05000"/>
                </a:lnSpc>
                <a:buNone/>
              </a:pPr>
              <a:r>
                <a:rPr lang="en-US" b="1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Emotional Engagement</a:t>
              </a:r>
            </a:p>
            <a:p>
              <a:pPr marL="0" indent="0">
                <a:lnSpc>
                  <a:spcPct val="105000"/>
                </a:lnSpc>
                <a:buNone/>
              </a:pPr>
              <a:r>
                <a:rPr lang="en-US" sz="1400" dirty="0">
                  <a:solidFill>
                    <a:srgbClr val="475569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Empathetic voice persuasion and mood-aware facial expressions</a:t>
              </a:r>
            </a:p>
          </p:txBody>
        </p:sp>
      </p:grpSp>
      <p:grpSp>
        <p:nvGrpSpPr>
          <p:cNvPr id="522" name="Stage4 Hub"/>
          <p:cNvGrpSpPr/>
          <p:nvPr/>
        </p:nvGrpSpPr>
        <p:grpSpPr>
          <a:xfrm>
            <a:off x="2810256" y="3571892"/>
            <a:ext cx="6571488" cy="1708040"/>
            <a:chOff x="2810256" y="3571892"/>
            <a:chExt cx="6571488" cy="1708040"/>
          </a:xfrm>
        </p:grpSpPr>
        <p:cxnSp>
          <p:nvCxnSpPr>
            <p:cNvPr id="518" name="ArrowToHubL"/>
            <p:cNvCxnSpPr/>
            <p:nvPr/>
          </p:nvCxnSpPr>
          <p:spPr>
            <a:xfrm>
              <a:off x="2810256" y="3585811"/>
              <a:ext cx="2688336" cy="382770"/>
            </a:xfrm>
            <a:prstGeom prst="line">
              <a:avLst/>
            </a:prstGeom>
            <a:ln w="28575">
              <a:solidFill>
                <a:srgbClr val="06B6D4"/>
              </a:solidFill>
              <a:tailEnd type="triangle" w="med" len="med"/>
            </a:ln>
          </p:spPr>
        </p:cxnSp>
        <p:cxnSp>
          <p:nvCxnSpPr>
            <p:cNvPr id="519" name="ArrowToHubR"/>
            <p:cNvCxnSpPr/>
            <p:nvPr/>
          </p:nvCxnSpPr>
          <p:spPr>
            <a:xfrm flipH="1">
              <a:off x="6778752" y="3585811"/>
              <a:ext cx="2602992" cy="382770"/>
            </a:xfrm>
            <a:prstGeom prst="line">
              <a:avLst/>
            </a:prstGeom>
            <a:ln w="28575">
              <a:solidFill>
                <a:srgbClr val="8B5CF6"/>
              </a:solidFill>
              <a:tailEnd type="triangle" w="med" len="med"/>
            </a:ln>
          </p:spPr>
        </p:cxnSp>
        <p:pic>
          <p:nvPicPr>
            <p:cNvPr id="520" name="Robot Hub" descr="Smart Medicine Companion Robot"/>
            <p:cNvPicPr>
              <a:picLocks noChangeAspect="1"/>
            </p:cNvPicPr>
            <p:nvPr/>
          </p:nvPicPr>
          <p:blipFill>
            <a:blip r:embed="rId3"/>
            <a:srcRect l="4200" r="4200"/>
            <a:stretch>
              <a:fillRect/>
            </a:stretch>
          </p:blipFill>
          <p:spPr>
            <a:xfrm>
              <a:off x="5225491" y="3571892"/>
              <a:ext cx="1741018" cy="1419730"/>
            </a:xfrm>
            <a:prstGeom prst="ellipse">
              <a:avLst/>
            </a:prstGeom>
            <a:ln w="34925">
              <a:solidFill>
                <a:srgbClr val="7C3AED"/>
              </a:solidFill>
            </a:ln>
            <a:effectLst>
              <a:outerShdw blurRad="90000" dist="25000" dir="5400000" rotWithShape="0">
                <a:srgbClr val="64748B">
                  <a:alpha val="30000"/>
                </a:srgbClr>
              </a:outerShdw>
            </a:effectLst>
          </p:spPr>
        </p:pic>
        <p:sp>
          <p:nvSpPr>
            <p:cNvPr id="521" name="HubCaption"/>
            <p:cNvSpPr txBox="1"/>
            <p:nvPr/>
          </p:nvSpPr>
          <p:spPr>
            <a:xfrm>
              <a:off x="3962400" y="5019932"/>
              <a:ext cx="4267200" cy="2600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Smart Medicine Companion Robot</a:t>
              </a:r>
            </a:p>
          </p:txBody>
        </p:sp>
      </p:grpSp>
      <p:grpSp>
        <p:nvGrpSpPr>
          <p:cNvPr id="535" name="Stage5 Outcomes"/>
          <p:cNvGrpSpPr/>
          <p:nvPr/>
        </p:nvGrpSpPr>
        <p:grpSpPr>
          <a:xfrm>
            <a:off x="1487424" y="5360473"/>
            <a:ext cx="9217152" cy="939527"/>
            <a:chOff x="1487424" y="5360473"/>
            <a:chExt cx="9217152" cy="939527"/>
          </a:xfrm>
        </p:grpSpPr>
        <p:cxnSp>
          <p:nvCxnSpPr>
            <p:cNvPr id="523" name="ArrowOutcome"/>
            <p:cNvCxnSpPr/>
            <p:nvPr/>
          </p:nvCxnSpPr>
          <p:spPr>
            <a:xfrm flipH="1">
              <a:off x="2895600" y="5360473"/>
              <a:ext cx="3200400" cy="306216"/>
            </a:xfrm>
            <a:prstGeom prst="line">
              <a:avLst/>
            </a:prstGeom>
            <a:ln w="28575">
              <a:solidFill>
                <a:srgbClr val="0F172A"/>
              </a:solidFill>
              <a:tailEnd type="triangle" w="med" len="med"/>
            </a:ln>
          </p:spPr>
        </p:cxnSp>
        <p:sp>
          <p:nvSpPr>
            <p:cNvPr id="524" name="Card"/>
            <p:cNvSpPr/>
            <p:nvPr/>
          </p:nvSpPr>
          <p:spPr>
            <a:xfrm>
              <a:off x="1487424" y="5701486"/>
              <a:ext cx="2816352" cy="598514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4748B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25" name="Icon"/>
            <p:cNvSpPr/>
            <p:nvPr/>
          </p:nvSpPr>
          <p:spPr>
            <a:xfrm>
              <a:off x="1513027" y="5821189"/>
              <a:ext cx="359108" cy="359108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26" name="CardText"/>
            <p:cNvSpPr txBox="1"/>
            <p:nvPr/>
          </p:nvSpPr>
          <p:spPr>
            <a:xfrm>
              <a:off x="1902005" y="5701486"/>
              <a:ext cx="2376168" cy="5985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Medicine Actually Taken</a:t>
              </a:r>
            </a:p>
          </p:txBody>
        </p:sp>
        <p:cxnSp>
          <p:nvCxnSpPr>
            <p:cNvPr id="527" name="ArrowOutcome"/>
            <p:cNvCxnSpPr/>
            <p:nvPr/>
          </p:nvCxnSpPr>
          <p:spPr>
            <a:xfrm>
              <a:off x="6096000" y="5360473"/>
              <a:ext cx="1" cy="306216"/>
            </a:xfrm>
            <a:prstGeom prst="line">
              <a:avLst/>
            </a:prstGeom>
            <a:ln w="28575">
              <a:solidFill>
                <a:srgbClr val="0F172A"/>
              </a:solidFill>
              <a:tailEnd type="triangle" w="med" len="med"/>
            </a:ln>
          </p:spPr>
        </p:cxnSp>
        <p:sp>
          <p:nvSpPr>
            <p:cNvPr id="528" name="Card"/>
            <p:cNvSpPr/>
            <p:nvPr/>
          </p:nvSpPr>
          <p:spPr>
            <a:xfrm>
              <a:off x="4687824" y="5701486"/>
              <a:ext cx="2816352" cy="598514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4748B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29" name="Icon"/>
            <p:cNvSpPr/>
            <p:nvPr/>
          </p:nvSpPr>
          <p:spPr>
            <a:xfrm>
              <a:off x="4713427" y="5821189"/>
              <a:ext cx="359108" cy="359108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30" name="CardText"/>
            <p:cNvSpPr txBox="1"/>
            <p:nvPr/>
          </p:nvSpPr>
          <p:spPr>
            <a:xfrm>
              <a:off x="5102405" y="5701486"/>
              <a:ext cx="2376168" cy="5985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Caregiver Peace of Mind</a:t>
              </a:r>
            </a:p>
          </p:txBody>
        </p:sp>
        <p:cxnSp>
          <p:nvCxnSpPr>
            <p:cNvPr id="531" name="ArrowOutcome"/>
            <p:cNvCxnSpPr/>
            <p:nvPr/>
          </p:nvCxnSpPr>
          <p:spPr>
            <a:xfrm>
              <a:off x="6096000" y="5360473"/>
              <a:ext cx="3200400" cy="306216"/>
            </a:xfrm>
            <a:prstGeom prst="line">
              <a:avLst/>
            </a:prstGeom>
            <a:ln w="28575">
              <a:solidFill>
                <a:srgbClr val="0F172A"/>
              </a:solidFill>
              <a:tailEnd type="triangle" w="med" len="med"/>
            </a:ln>
          </p:spPr>
        </p:cxnSp>
        <p:sp>
          <p:nvSpPr>
            <p:cNvPr id="532" name="Card"/>
            <p:cNvSpPr/>
            <p:nvPr/>
          </p:nvSpPr>
          <p:spPr>
            <a:xfrm>
              <a:off x="7888224" y="5701486"/>
              <a:ext cx="2816352" cy="598514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90000" dist="20000" dir="5400000" rotWithShape="0">
                <a:srgbClr val="64748B">
                  <a:alpha val="22000"/>
                </a:srgbClr>
              </a:outerShdw>
            </a:effectLst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2800"/>
            </a:p>
          </p:txBody>
        </p:sp>
        <p:sp>
          <p:nvSpPr>
            <p:cNvPr id="533" name="Icon"/>
            <p:cNvSpPr/>
            <p:nvPr/>
          </p:nvSpPr>
          <p:spPr>
            <a:xfrm>
              <a:off x="7913827" y="5821189"/>
              <a:ext cx="359108" cy="359108"/>
            </a:xfrm>
            <a:prstGeom prst="ellipse">
              <a:avLst/>
            </a:prstGeom>
            <a:solidFill>
              <a:srgbClr val="3B82F6"/>
            </a:solidFill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endParaRPr lang="en-US" sz="2800"/>
            </a:p>
          </p:txBody>
        </p:sp>
        <p:sp>
          <p:nvSpPr>
            <p:cNvPr id="534" name="CardText"/>
            <p:cNvSpPr txBox="1"/>
            <p:nvPr/>
          </p:nvSpPr>
          <p:spPr>
            <a:xfrm>
              <a:off x="8302805" y="5701486"/>
              <a:ext cx="2376168" cy="5985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72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Emergency Safety Net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0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presetSubtype="0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" grpId="0"/>
      <p:bldP spid="510" grpId="0"/>
      <p:bldP spid="517" grpId="0"/>
      <p:bldP spid="522" grpId="0"/>
      <p:bldP spid="5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0" y="566928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Hardware Components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2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75981" y="151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6" name="Image 0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627" y="1558646"/>
            <a:ext cx="250180" cy="250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187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ESP32-S3-WROOM-1 (N16R8)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379394" y="142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06735" y="151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0" name="Image 1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81" y="1558646"/>
            <a:ext cx="250180" cy="2501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52546" y="187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0.96″ I2C OLED Display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10148" y="142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37489" y="151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4" name="Image 2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135" y="1558646"/>
            <a:ext cx="250180" cy="2501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83300" y="187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HC-SR501 PIR Sensor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040902" y="142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168243" y="151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8" name="Image 3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89" y="1558646"/>
            <a:ext cx="250180" cy="2501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114054" y="187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DS3231 RTC (ZS-042)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264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675981" y="273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2" name="Image 4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627" y="2778646"/>
            <a:ext cx="250180" cy="2501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21792" y="309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INMP441 I2S Microphone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3379394" y="264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4506735" y="273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6" name="Image 5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81" y="2778646"/>
            <a:ext cx="250180" cy="2501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3452546" y="309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MAX98357A I2S Amplifier</a:t>
            </a:r>
            <a:endParaRPr lang="en-US" sz="1600" dirty="0"/>
          </a:p>
        </p:txBody>
      </p:sp>
      <p:sp>
        <p:nvSpPr>
          <p:cNvPr id="28" name="Shape 20"/>
          <p:cNvSpPr/>
          <p:nvPr/>
        </p:nvSpPr>
        <p:spPr>
          <a:xfrm>
            <a:off x="6210148" y="264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337489" y="273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0" name="Image 6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135" y="2778646"/>
            <a:ext cx="250180" cy="2501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283300" y="309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3W 8Ω Speaker</a:t>
            </a:r>
            <a:endParaRPr lang="en-US" sz="1600" dirty="0"/>
          </a:p>
        </p:txBody>
      </p:sp>
      <p:sp>
        <p:nvSpPr>
          <p:cNvPr id="32" name="Shape 23"/>
          <p:cNvSpPr/>
          <p:nvPr/>
        </p:nvSpPr>
        <p:spPr>
          <a:xfrm>
            <a:off x="9040902" y="264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10168243" y="273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4" name="Image 7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89" y="2778646"/>
            <a:ext cx="250180" cy="25018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9114054" y="309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KY-040 Rotary Encoder</a:t>
            </a:r>
            <a:endParaRPr lang="en-US" sz="1600" dirty="0"/>
          </a:p>
        </p:txBody>
      </p:sp>
      <p:sp>
        <p:nvSpPr>
          <p:cNvPr id="36" name="Shape 26"/>
          <p:cNvSpPr/>
          <p:nvPr/>
        </p:nvSpPr>
        <p:spPr>
          <a:xfrm>
            <a:off x="548640" y="386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675981" y="395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8" name="Image 8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627" y="3998646"/>
            <a:ext cx="250180" cy="2501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21792" y="431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MQ-2 Gas Sensor</a:t>
            </a:r>
            <a:endParaRPr lang="en-US" sz="1600" dirty="0"/>
          </a:p>
        </p:txBody>
      </p:sp>
      <p:sp>
        <p:nvSpPr>
          <p:cNvPr id="40" name="Shape 29"/>
          <p:cNvSpPr/>
          <p:nvPr/>
        </p:nvSpPr>
        <p:spPr>
          <a:xfrm>
            <a:off x="3379394" y="386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4506735" y="395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42" name="Image 9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81" y="3998646"/>
            <a:ext cx="250180" cy="250180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452546" y="431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TTP223 Touch Module</a:t>
            </a:r>
            <a:endParaRPr lang="en-US" sz="1600" dirty="0"/>
          </a:p>
        </p:txBody>
      </p:sp>
      <p:sp>
        <p:nvSpPr>
          <p:cNvPr id="44" name="Shape 32"/>
          <p:cNvSpPr/>
          <p:nvPr/>
        </p:nvSpPr>
        <p:spPr>
          <a:xfrm>
            <a:off x="6210148" y="386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45" name="Shape 33"/>
          <p:cNvSpPr/>
          <p:nvPr/>
        </p:nvSpPr>
        <p:spPr>
          <a:xfrm>
            <a:off x="7337489" y="395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46" name="Image 10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135" y="3998646"/>
            <a:ext cx="250180" cy="250180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6283300" y="431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SIM800L GSM Module</a:t>
            </a:r>
            <a:endParaRPr lang="en-US" sz="1600" dirty="0"/>
          </a:p>
        </p:txBody>
      </p:sp>
      <p:sp>
        <p:nvSpPr>
          <p:cNvPr id="48" name="Shape 35"/>
          <p:cNvSpPr/>
          <p:nvPr/>
        </p:nvSpPr>
        <p:spPr>
          <a:xfrm>
            <a:off x="9040902" y="386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49" name="Shape 36"/>
          <p:cNvSpPr/>
          <p:nvPr/>
        </p:nvSpPr>
        <p:spPr>
          <a:xfrm>
            <a:off x="10168243" y="395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50" name="Image 11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89" y="3998646"/>
            <a:ext cx="250180" cy="250180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9114054" y="431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MP1584 Buck Converter</a:t>
            </a:r>
            <a:endParaRPr lang="en-US" sz="1600" dirty="0"/>
          </a:p>
        </p:txBody>
      </p:sp>
      <p:sp>
        <p:nvSpPr>
          <p:cNvPr id="52" name="Shape 38"/>
          <p:cNvSpPr/>
          <p:nvPr/>
        </p:nvSpPr>
        <p:spPr>
          <a:xfrm>
            <a:off x="548640" y="508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53" name="Shape 39"/>
          <p:cNvSpPr/>
          <p:nvPr/>
        </p:nvSpPr>
        <p:spPr>
          <a:xfrm>
            <a:off x="1675981" y="517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54" name="Image 12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4627" y="5218646"/>
            <a:ext cx="250180" cy="250180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21792" y="553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 µF Capacitor</a:t>
            </a:r>
            <a:endParaRPr lang="en-US" sz="1600" dirty="0"/>
          </a:p>
        </p:txBody>
      </p:sp>
      <p:sp>
        <p:nvSpPr>
          <p:cNvPr id="56" name="Shape 41"/>
          <p:cNvSpPr/>
          <p:nvPr/>
        </p:nvSpPr>
        <p:spPr>
          <a:xfrm>
            <a:off x="3379394" y="508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57" name="Shape 42"/>
          <p:cNvSpPr/>
          <p:nvPr/>
        </p:nvSpPr>
        <p:spPr>
          <a:xfrm>
            <a:off x="4506735" y="517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58" name="Image 13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381" y="5218646"/>
            <a:ext cx="250180" cy="25018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3452546" y="553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Jack</a:t>
            </a:r>
            <a:endParaRPr lang="en-US" sz="1600" dirty="0"/>
          </a:p>
        </p:txBody>
      </p:sp>
      <p:sp>
        <p:nvSpPr>
          <p:cNvPr id="60" name="Shape 44"/>
          <p:cNvSpPr/>
          <p:nvPr/>
        </p:nvSpPr>
        <p:spPr>
          <a:xfrm>
            <a:off x="6210148" y="508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61" name="Shape 45"/>
          <p:cNvSpPr/>
          <p:nvPr/>
        </p:nvSpPr>
        <p:spPr>
          <a:xfrm>
            <a:off x="7337489" y="517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62" name="Image 14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135" y="5218646"/>
            <a:ext cx="250180" cy="250180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6283300" y="553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5V/3A Adapter</a:t>
            </a:r>
            <a:endParaRPr lang="en-US" sz="1600" dirty="0"/>
          </a:p>
        </p:txBody>
      </p:sp>
      <p:sp>
        <p:nvSpPr>
          <p:cNvPr id="200" name="Card16 201"/>
          <p:cNvSpPr/>
          <p:nvPr/>
        </p:nvSpPr>
        <p:spPr>
          <a:xfrm>
            <a:off x="9040902" y="5080000"/>
            <a:ext cx="2602154" cy="113000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8E0EE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201" name="Card16 202"/>
          <p:cNvSpPr/>
          <p:nvPr/>
        </p:nvSpPr>
        <p:spPr>
          <a:xfrm>
            <a:off x="10168243" y="5170000"/>
            <a:ext cx="347472" cy="347472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02" name="Card16 203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889" y="5218646"/>
            <a:ext cx="250180" cy="250180"/>
          </a:xfrm>
          <a:prstGeom prst="rect">
            <a:avLst/>
          </a:prstGeom>
        </p:spPr>
      </p:pic>
      <p:sp>
        <p:nvSpPr>
          <p:cNvPr id="203" name="Card16 204"/>
          <p:cNvSpPr/>
          <p:nvPr/>
        </p:nvSpPr>
        <p:spPr>
          <a:xfrm>
            <a:off x="9114054" y="5537472"/>
            <a:ext cx="2455850" cy="6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Resistors ×4 (SIM800L divider)</a:t>
            </a:r>
            <a:endParaRPr lang="en-US" sz="1600" dirty="0"/>
          </a:p>
        </p:txBody>
      </p:sp>
      <p:sp>
        <p:nvSpPr>
          <p:cNvPr id="64" name="Text 4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0" y="32004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Components Budget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4" name="Image 12" descr="assets/icons/cp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0758" y="4282318"/>
            <a:ext cx="250180" cy="25018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cs typeface="Arial" pitchFamily="34" charset="-120"/>
              </a:rPr>
              <a:t>10</a:t>
            </a:r>
            <a:endParaRPr lang="en-US" sz="1900" dirty="0"/>
          </a:p>
        </p:txBody>
      </p:sp>
      <p:graphicFrame>
        <p:nvGraphicFramePr>
          <p:cNvPr id="91" name="Table 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81179"/>
              </p:ext>
            </p:extLst>
          </p:nvPr>
        </p:nvGraphicFramePr>
        <p:xfrm>
          <a:off x="1006997" y="1317208"/>
          <a:ext cx="10451940" cy="493000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91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01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2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9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ESP32-S3-WROOM-1 (N16R8) Board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৳950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KY-040 Rotary Encoder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৳110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HC-SR501 PIR Sensor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৳95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TTP223 Touch Module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৳40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INMP441 I2S Microphone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৳245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0.96″ I2C OLED Display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৳350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DS3231 RTC Module (ZS-042)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৳345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MQ-2 Gas Sensor Module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৳160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SIM800L GSM Module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৳650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MAX98357A I2S Amplifier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৳601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 W, 8 Ω Speaker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৳450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12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MP1584 Buck Converter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৳90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13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1000 µF Capacitor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৳15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14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DC Jack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৳20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15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 V / 3 A Adapter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৳350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r>
                        <a:rPr lang="en-US" sz="1400" dirty="0"/>
                        <a:t>16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Resistors (SIM800L divider)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৳10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Total</a:t>
                      </a:r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37716" marR="37716" marT="18858" marB="18858" anchor="ctr"/>
                </a:tc>
                <a:tc>
                  <a:txBody>
                    <a:bodyPr/>
                    <a:lstStyle/>
                    <a:p>
                      <a:r>
                        <a:rPr lang="as-IN" sz="1400" dirty="0"/>
                        <a:t>৳4,481</a:t>
                      </a:r>
                    </a:p>
                  </a:txBody>
                  <a:tcPr marL="37716" marR="37716" marT="18858" marB="18858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0928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469340" y="566928"/>
            <a:ext cx="574637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Robot Functionalities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50115" y="1299503"/>
            <a:ext cx="512064" cy="51206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5" name="Image 0" descr="assets/icons/be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9" y="1371192"/>
            <a:ext cx="368686" cy="36868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258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Medicine Reminder
</a:t>
            </a:r>
            <a:endParaRPr lang="en-US" sz="1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the user at the set time with voice and face expression.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12648" y="2121408"/>
            <a:ext cx="512064" cy="512064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8" name="Image 1" descr="assets/icons/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337" y="2193097"/>
            <a:ext cx="368686" cy="3686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28600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Alarm
</a:t>
            </a:r>
            <a:endParaRPr lang="en-US" sz="1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alarm continues until the user confirms medicine taken.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650115" y="3031236"/>
            <a:ext cx="512064" cy="512064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1" name="Image 2" descr="assets/icons/sm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981" y="3067582"/>
            <a:ext cx="368686" cy="36868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1546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Reactions
</a:t>
            </a:r>
            <a:endParaRPr lang="en-US" sz="1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different expressions: reminder (sad/concerned), confirmed (happy).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30120" y="3963094"/>
            <a:ext cx="512064" cy="512064"/>
          </a:xfrm>
          <a:prstGeom prst="ellipse">
            <a:avLst/>
          </a:prstGeom>
          <a:solidFill>
            <a:srgbClr val="F9731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4" name="Image 3" descr="assets/icons/mi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807" y="4069080"/>
            <a:ext cx="368686" cy="36868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069080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
</a:t>
            </a:r>
            <a:endParaRPr lang="en-US" sz="1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AI voice for natural interaction and instructions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850" dirty="0"/>
          </a:p>
        </p:txBody>
      </p:sp>
      <p:sp>
        <p:nvSpPr>
          <p:cNvPr id="16" name="Shape 10"/>
          <p:cNvSpPr/>
          <p:nvPr/>
        </p:nvSpPr>
        <p:spPr>
          <a:xfrm>
            <a:off x="630120" y="4675031"/>
            <a:ext cx="512064" cy="512064"/>
          </a:xfrm>
          <a:prstGeom prst="ellipse">
            <a:avLst/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7" name="Image 4" descr="assets/icons/footpri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337" y="4768835"/>
            <a:ext cx="368686" cy="36868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768835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Movement Detection
</a:t>
            </a:r>
            <a:endParaRPr lang="en-US" sz="1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user presence and engages automat</a:t>
            </a:r>
            <a:r>
              <a:rPr lang="en-US" sz="15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ically.</a:t>
            </a:r>
            <a:endParaRPr lang="en-US" sz="1850" dirty="0"/>
          </a:p>
        </p:txBody>
      </p:sp>
      <p:sp>
        <p:nvSpPr>
          <p:cNvPr id="19" name="Shape 12"/>
          <p:cNvSpPr/>
          <p:nvPr/>
        </p:nvSpPr>
        <p:spPr>
          <a:xfrm>
            <a:off x="612648" y="5486400"/>
            <a:ext cx="512064" cy="512064"/>
          </a:xfrm>
          <a:prstGeom prst="ellipse">
            <a:avLst/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0" name="Image 5" descr="assets/icons/phon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337" y="5558089"/>
            <a:ext cx="368686" cy="36868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80160" y="5538155"/>
            <a:ext cx="49377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0"/>
              </a:rPr>
              <a:t>Emergency SMS </a:t>
            </a:r>
            <a:r>
              <a:rPr lang="en-US" sz="18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8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Detects gas leaks in the room and automatically </a:t>
            </a:r>
            <a:r>
              <a:rPr lang="en-US" sz="1600" dirty="0" err="1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sms</a:t>
            </a: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pre-defined numbers.</a:t>
            </a:r>
            <a:endParaRPr lang="en-US" sz="2000" dirty="0"/>
          </a:p>
        </p:txBody>
      </p:sp>
      <p:sp>
        <p:nvSpPr>
          <p:cNvPr id="24" name="Shape 15"/>
          <p:cNvSpPr/>
          <p:nvPr/>
        </p:nvSpPr>
        <p:spPr>
          <a:xfrm>
            <a:off x="9464040" y="160020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3B82F6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9646920" y="1956816"/>
            <a:ext cx="292608" cy="29260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6" name="Text 17"/>
          <p:cNvSpPr/>
          <p:nvPr/>
        </p:nvSpPr>
        <p:spPr>
          <a:xfrm>
            <a:off x="10040112" y="160020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 (Sad)</a:t>
            </a:r>
            <a:endParaRPr lang="en-US" sz="1550" dirty="0"/>
          </a:p>
        </p:txBody>
      </p:sp>
      <p:sp>
        <p:nvSpPr>
          <p:cNvPr id="27" name="Shape 18"/>
          <p:cNvSpPr/>
          <p:nvPr/>
        </p:nvSpPr>
        <p:spPr>
          <a:xfrm>
            <a:off x="9464040" y="283464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D97706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28" name="Shape 19"/>
          <p:cNvSpPr/>
          <p:nvPr/>
        </p:nvSpPr>
        <p:spPr>
          <a:xfrm>
            <a:off x="9646920" y="3191256"/>
            <a:ext cx="292608" cy="29260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0"/>
          <p:cNvSpPr/>
          <p:nvPr/>
        </p:nvSpPr>
        <p:spPr>
          <a:xfrm>
            <a:off x="10040112" y="283464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Confirmation</a:t>
            </a:r>
            <a:endParaRPr lang="en-US" sz="1550" dirty="0"/>
          </a:p>
        </p:txBody>
      </p:sp>
      <p:sp>
        <p:nvSpPr>
          <p:cNvPr id="30" name="Shape 21"/>
          <p:cNvSpPr/>
          <p:nvPr/>
        </p:nvSpPr>
        <p:spPr>
          <a:xfrm>
            <a:off x="9464040" y="406908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16A34A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9646920" y="4425696"/>
            <a:ext cx="292608" cy="29260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23"/>
          <p:cNvSpPr/>
          <p:nvPr/>
        </p:nvSpPr>
        <p:spPr>
          <a:xfrm>
            <a:off x="10040112" y="406908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5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(Happy)</a:t>
            </a:r>
            <a:endParaRPr lang="en-US" sz="1550" dirty="0"/>
          </a:p>
        </p:txBody>
      </p:sp>
      <p:sp>
        <p:nvSpPr>
          <p:cNvPr id="33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3211433" y="559425"/>
            <a:ext cx="708142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Robot Embedded Diagram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assets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09" y="3840480"/>
            <a:ext cx="368686" cy="36868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900" dirty="0"/>
          </a:p>
        </p:txBody>
      </p:sp>
      <p:pic>
        <p:nvPicPr>
          <p:cNvPr id="1026" name="Picture 2" descr="Generated image: Medicine Reminder System Infographic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83"/>
          <a:stretch/>
        </p:blipFill>
        <p:spPr bwMode="auto">
          <a:xfrm>
            <a:off x="105508" y="1547446"/>
            <a:ext cx="11970726" cy="470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14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0" y="566928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Workflow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540868" y="16002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0868" y="17647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C2410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User Sets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C2410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Medicine Schedule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32308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Time, medicine</a:t>
            </a:r>
            <a:endParaRPr lang="en-US" sz="13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&amp; frequency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295248" y="2971800"/>
            <a:ext cx="457200" cy="457200"/>
          </a:xfrm>
          <a:prstGeom prst="ellipse">
            <a:avLst/>
          </a:prstGeom>
          <a:solidFill>
            <a:srgbClr val="F9731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8" name="Image 0" descr="assets/icons/calen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9256" y="3035808"/>
            <a:ext cx="329184" cy="3291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506828" y="2473452"/>
            <a:ext cx="320040" cy="219456"/>
          </a:xfrm>
          <a:prstGeom prst="rightArrow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826868" y="16002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26868" y="176479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RTC Checks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Time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918308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DS3231 RTC</a:t>
            </a:r>
            <a:endParaRPr lang="en-US" sz="13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real-time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3581248" y="2971800"/>
            <a:ext cx="457200" cy="457200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4" name="Image 1" descr="assets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256" y="3035808"/>
            <a:ext cx="329184" cy="32918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92828" y="2473452"/>
            <a:ext cx="320040" cy="219456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6" name="Shape 12"/>
          <p:cNvSpPr/>
          <p:nvPr/>
        </p:nvSpPr>
        <p:spPr>
          <a:xfrm>
            <a:off x="5112868" y="16002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204308" y="17647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1D4ED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Time Match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1D4ED8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(Medicine Time)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204308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triggers</a:t>
            </a:r>
            <a:endParaRPr lang="en-US" sz="13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+ face reaction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5867248" y="2971800"/>
            <a:ext cx="457200" cy="457200"/>
          </a:xfrm>
          <a:prstGeom prst="ellipse">
            <a:avLst/>
          </a:prstGeom>
          <a:solidFill>
            <a:srgbClr val="3B82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0" name="Image 2" descr="assets/icons/b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1256" y="3035808"/>
            <a:ext cx="329184" cy="32918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7078828" y="2473452"/>
            <a:ext cx="320040" cy="219456"/>
          </a:xfrm>
          <a:prstGeom prst="rightArrow">
            <a:avLst/>
          </a:prstGeom>
          <a:solidFill>
            <a:srgbClr val="3B82F6"/>
          </a:solidFill>
          <a:ln/>
        </p:spPr>
      </p:sp>
      <p:sp>
        <p:nvSpPr>
          <p:cNvPr id="22" name="Shape 17"/>
          <p:cNvSpPr/>
          <p:nvPr/>
        </p:nvSpPr>
        <p:spPr>
          <a:xfrm>
            <a:off x="7398868" y="16002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490308" y="17647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7C3AE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User Takes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7C3AE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Medicine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490308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keeps</a:t>
            </a:r>
            <a:endParaRPr lang="en-US" sz="13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reminding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8153248" y="2971800"/>
            <a:ext cx="457200" cy="457200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26" name="Image 3" descr="assets/icons/repe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7256" y="3035808"/>
            <a:ext cx="329184" cy="329184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9364828" y="2473452"/>
            <a:ext cx="320040" cy="219456"/>
          </a:xfrm>
          <a:prstGeom prst="rightArrow">
            <a:avLst/>
          </a:prstGeom>
          <a:solidFill>
            <a:srgbClr val="8B5CF6"/>
          </a:solidFill>
          <a:ln/>
        </p:spPr>
      </p:sp>
      <p:sp>
        <p:nvSpPr>
          <p:cNvPr id="28" name="Shape 22"/>
          <p:cNvSpPr/>
          <p:nvPr/>
        </p:nvSpPr>
        <p:spPr>
          <a:xfrm>
            <a:off x="9684868" y="160020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9776308" y="1764792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C2410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User Confirms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C2410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(Press Button)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4"/>
          <p:cNvSpPr/>
          <p:nvPr/>
        </p:nvSpPr>
        <p:spPr>
          <a:xfrm>
            <a:off x="9776308" y="23774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stops,</a:t>
            </a:r>
            <a:endParaRPr lang="en-US" sz="1350" dirty="0"/>
          </a:p>
          <a:p>
            <a:pPr marL="0" indent="0" algn="ctr">
              <a:lnSpc>
                <a:spcPts val="12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face &amp; voice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10439248" y="2971800"/>
            <a:ext cx="457200" cy="457200"/>
          </a:xfrm>
          <a:prstGeom prst="ellipse">
            <a:avLst/>
          </a:prstGeom>
          <a:solidFill>
            <a:srgbClr val="F9731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2" name="Image 4" descr="assets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3256" y="3035808"/>
            <a:ext cx="329184" cy="329184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4907128" y="416052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4998568" y="42885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0F766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No Confirmation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0F766E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(Timeout)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28"/>
          <p:cNvSpPr/>
          <p:nvPr/>
        </p:nvSpPr>
        <p:spPr>
          <a:xfrm>
            <a:off x="4998568" y="47823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continues</a:t>
            </a:r>
            <a:endParaRPr lang="en-US" sz="13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alerts again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903824" y="5129784"/>
            <a:ext cx="384048" cy="384048"/>
          </a:xfrm>
          <a:prstGeom prst="ellipse">
            <a:avLst/>
          </a:prstGeom>
          <a:solidFill>
            <a:srgbClr val="0D9488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37" name="Image 5" descr="assets/icons/ale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7590" y="5183551"/>
            <a:ext cx="276515" cy="276515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9364828" y="416052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9387688" y="4288536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BE123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Log Saved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BE123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(SD Card)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2"/>
          <p:cNvSpPr/>
          <p:nvPr/>
        </p:nvSpPr>
        <p:spPr>
          <a:xfrm>
            <a:off x="9570568" y="47823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an updated</a:t>
            </a:r>
            <a:endParaRPr lang="en-US" sz="13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of medicine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10475824" y="5129784"/>
            <a:ext cx="384048" cy="384048"/>
          </a:xfrm>
          <a:prstGeom prst="ellipse">
            <a:avLst/>
          </a:prstGeom>
          <a:solidFill>
            <a:srgbClr val="E11D48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42" name="Image 6" descr="assets/icons/sav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9590" y="5183551"/>
            <a:ext cx="276515" cy="276515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6095848" y="3566160"/>
            <a:ext cx="0" cy="594360"/>
          </a:xfrm>
          <a:prstGeom prst="line">
            <a:avLst/>
          </a:prstGeom>
          <a:noFill/>
          <a:ln w="12700">
            <a:solidFill>
              <a:srgbClr val="3B82F6"/>
            </a:solidFill>
            <a:prstDash val="dash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10667848" y="3566160"/>
            <a:ext cx="0" cy="594360"/>
          </a:xfrm>
          <a:prstGeom prst="line">
            <a:avLst/>
          </a:prstGeom>
          <a:noFill/>
          <a:ln w="12700">
            <a:solidFill>
              <a:srgbClr val="F97316"/>
            </a:solidFill>
            <a:prstDash val="dash"/>
            <a:tailEnd type="triangle"/>
          </a:ln>
        </p:spPr>
      </p:sp>
      <p:sp>
        <p:nvSpPr>
          <p:cNvPr id="46" name="Text 3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900" dirty="0"/>
          </a:p>
        </p:txBody>
      </p:sp>
      <p:sp>
        <p:nvSpPr>
          <p:cNvPr id="47" name="Shape 40"/>
          <p:cNvSpPr/>
          <p:nvPr/>
        </p:nvSpPr>
        <p:spPr>
          <a:xfrm>
            <a:off x="335128" y="4160520"/>
            <a:ext cx="23774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48" name="Text 41"/>
          <p:cNvSpPr/>
          <p:nvPr/>
        </p:nvSpPr>
        <p:spPr>
          <a:xfrm>
            <a:off x="426568" y="4288536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B91C1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Gas Detected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50" b="1" dirty="0">
                <a:solidFill>
                  <a:srgbClr val="B91C1C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(MQ-2 Sensor)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2"/>
          <p:cNvSpPr/>
          <p:nvPr/>
        </p:nvSpPr>
        <p:spPr>
          <a:xfrm>
            <a:off x="426568" y="4782312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 SMS sent</a:t>
            </a:r>
            <a:endParaRPr lang="en-US" sz="1300" dirty="0"/>
          </a:p>
          <a:p>
            <a:pPr marL="0" indent="0" algn="ctr">
              <a:lnSpc>
                <a:spcPts val="11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caregivers instantly</a:t>
            </a:r>
            <a:endParaRPr lang="en-US" sz="1300" dirty="0"/>
          </a:p>
        </p:txBody>
      </p:sp>
      <p:sp>
        <p:nvSpPr>
          <p:cNvPr id="50" name="Shape 43"/>
          <p:cNvSpPr/>
          <p:nvPr/>
        </p:nvSpPr>
        <p:spPr>
          <a:xfrm>
            <a:off x="1331824" y="5129784"/>
            <a:ext cx="384048" cy="384048"/>
          </a:xfrm>
          <a:prstGeom prst="ellipse">
            <a:avLst/>
          </a:prstGeom>
          <a:solidFill>
            <a:srgbClr val="DC262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51" name="Image 7" descr="assets/icons/pho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5590" y="5183551"/>
            <a:ext cx="276515" cy="276515"/>
          </a:xfrm>
          <a:prstGeom prst="rect">
            <a:avLst/>
          </a:prstGeom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D76B2B47-83CF-4C3A-8922-76CA4D44CBE3}"/>
              </a:ext>
            </a:extLst>
          </p:cNvPr>
          <p:cNvSpPr/>
          <p:nvPr/>
        </p:nvSpPr>
        <p:spPr>
          <a:xfrm rot="16200000">
            <a:off x="1233357" y="3690624"/>
            <a:ext cx="476922" cy="380574"/>
          </a:xfrm>
          <a:prstGeom prst="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41330" y="309724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 Workflow Diagram</a:t>
            </a:r>
            <a:endParaRPr lang="en-US" sz="3200" dirty="0"/>
          </a:p>
        </p:txBody>
      </p:sp>
      <p:sp>
        <p:nvSpPr>
          <p:cNvPr id="46" name="Text 3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9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6DA82D-73C2-4E97-817B-B7BD412BD3A5}"/>
              </a:ext>
            </a:extLst>
          </p:cNvPr>
          <p:cNvSpPr/>
          <p:nvPr/>
        </p:nvSpPr>
        <p:spPr>
          <a:xfrm>
            <a:off x="1314851" y="966069"/>
            <a:ext cx="1846729" cy="56477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START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174BB7-AB71-4BCD-A2FC-C898853278C6}"/>
              </a:ext>
            </a:extLst>
          </p:cNvPr>
          <p:cNvSpPr/>
          <p:nvPr/>
        </p:nvSpPr>
        <p:spPr>
          <a:xfrm>
            <a:off x="1171721" y="1878647"/>
            <a:ext cx="2052917" cy="56477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Initialize Sensors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F9E1F0C-A82B-4E57-B72F-C52295E98BF4}"/>
              </a:ext>
            </a:extLst>
          </p:cNvPr>
          <p:cNvSpPr/>
          <p:nvPr/>
        </p:nvSpPr>
        <p:spPr>
          <a:xfrm>
            <a:off x="1965395" y="1556161"/>
            <a:ext cx="421340" cy="32273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97B8B417-6EE5-40D5-8B26-94DCEBB0B08F}"/>
              </a:ext>
            </a:extLst>
          </p:cNvPr>
          <p:cNvSpPr/>
          <p:nvPr/>
        </p:nvSpPr>
        <p:spPr>
          <a:xfrm>
            <a:off x="1414052" y="2736867"/>
            <a:ext cx="1526960" cy="1353213"/>
          </a:xfrm>
          <a:prstGeom prst="diamon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 detect?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643850C-39C0-4BA0-BD62-E20A5453547F}"/>
              </a:ext>
            </a:extLst>
          </p:cNvPr>
          <p:cNvSpPr/>
          <p:nvPr/>
        </p:nvSpPr>
        <p:spPr>
          <a:xfrm>
            <a:off x="1923373" y="2438050"/>
            <a:ext cx="505384" cy="287329"/>
          </a:xfrm>
          <a:prstGeom prst="downArrow">
            <a:avLst>
              <a:gd name="adj1" fmla="val 50000"/>
              <a:gd name="adj2" fmla="val 46880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arallelogram 7">
            <a:extLst>
              <a:ext uri="{FF2B5EF4-FFF2-40B4-BE49-F238E27FC236}">
                <a16:creationId xmlns:a16="http://schemas.microsoft.com/office/drawing/2014/main" id="{67AA693D-AA36-4F95-AD4E-876108498A0E}"/>
              </a:ext>
            </a:extLst>
          </p:cNvPr>
          <p:cNvSpPr/>
          <p:nvPr/>
        </p:nvSpPr>
        <p:spPr>
          <a:xfrm>
            <a:off x="289718" y="3937251"/>
            <a:ext cx="1713096" cy="944799"/>
          </a:xfrm>
          <a:prstGeom prst="parallelogra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Emergency Alert</a:t>
            </a: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4A5978C9-A2CD-41FA-A191-E2563AF99A53}"/>
              </a:ext>
            </a:extLst>
          </p:cNvPr>
          <p:cNvCxnSpPr>
            <a:stCxn id="6" idx="1"/>
          </p:cNvCxnSpPr>
          <p:nvPr/>
        </p:nvCxnSpPr>
        <p:spPr>
          <a:xfrm rot="10800000" flipV="1">
            <a:off x="1063750" y="3413474"/>
            <a:ext cx="350303" cy="8246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1570866-F820-4A5E-8F8B-1BA32BC13BA3}"/>
              </a:ext>
            </a:extLst>
          </p:cNvPr>
          <p:cNvSpPr txBox="1"/>
          <p:nvPr/>
        </p:nvSpPr>
        <p:spPr>
          <a:xfrm>
            <a:off x="934681" y="3056438"/>
            <a:ext cx="5865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651E6C-D0D3-42B3-B08C-F21D746D581C}"/>
              </a:ext>
            </a:extLst>
          </p:cNvPr>
          <p:cNvSpPr txBox="1"/>
          <p:nvPr/>
        </p:nvSpPr>
        <p:spPr>
          <a:xfrm>
            <a:off x="2725646" y="3031313"/>
            <a:ext cx="55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21" name="Diamond 20">
            <a:extLst>
              <a:ext uri="{FF2B5EF4-FFF2-40B4-BE49-F238E27FC236}">
                <a16:creationId xmlns:a16="http://schemas.microsoft.com/office/drawing/2014/main" id="{18F13CAE-73EA-4ECD-B33E-EDD504DE298E}"/>
              </a:ext>
            </a:extLst>
          </p:cNvPr>
          <p:cNvSpPr/>
          <p:nvPr/>
        </p:nvSpPr>
        <p:spPr>
          <a:xfrm>
            <a:off x="2644013" y="4904449"/>
            <a:ext cx="1749688" cy="914400"/>
          </a:xfrm>
          <a:prstGeom prst="diamon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Present?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881F6367-0DAC-45AC-B020-E2E9D42F33A2}"/>
              </a:ext>
            </a:extLst>
          </p:cNvPr>
          <p:cNvCxnSpPr/>
          <p:nvPr/>
        </p:nvCxnSpPr>
        <p:spPr>
          <a:xfrm rot="10800000">
            <a:off x="4123766" y="6113929"/>
            <a:ext cx="12657" cy="1270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1" name="TextBox 2050">
            <a:extLst>
              <a:ext uri="{FF2B5EF4-FFF2-40B4-BE49-F238E27FC236}">
                <a16:creationId xmlns:a16="http://schemas.microsoft.com/office/drawing/2014/main" id="{448B7B6A-4A17-435B-ABC0-48C439C32EEC}"/>
              </a:ext>
            </a:extLst>
          </p:cNvPr>
          <p:cNvSpPr txBox="1"/>
          <p:nvPr/>
        </p:nvSpPr>
        <p:spPr>
          <a:xfrm>
            <a:off x="4110848" y="5671051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2053" name="Diamond 2052">
            <a:extLst>
              <a:ext uri="{FF2B5EF4-FFF2-40B4-BE49-F238E27FC236}">
                <a16:creationId xmlns:a16="http://schemas.microsoft.com/office/drawing/2014/main" id="{70368B3D-7DBA-4B5B-83EA-6826CFFF67F0}"/>
              </a:ext>
            </a:extLst>
          </p:cNvPr>
          <p:cNvSpPr/>
          <p:nvPr/>
        </p:nvSpPr>
        <p:spPr>
          <a:xfrm>
            <a:off x="4766964" y="3587213"/>
            <a:ext cx="2052917" cy="1255948"/>
          </a:xfrm>
          <a:prstGeom prst="diamon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take medicine?</a:t>
            </a:r>
          </a:p>
        </p:txBody>
      </p:sp>
      <p:sp>
        <p:nvSpPr>
          <p:cNvPr id="2054" name="Arrow: Up 2053">
            <a:extLst>
              <a:ext uri="{FF2B5EF4-FFF2-40B4-BE49-F238E27FC236}">
                <a16:creationId xmlns:a16="http://schemas.microsoft.com/office/drawing/2014/main" id="{0B7F50E8-8BAA-4850-BDCF-5CD5BCC1813E}"/>
              </a:ext>
            </a:extLst>
          </p:cNvPr>
          <p:cNvSpPr/>
          <p:nvPr/>
        </p:nvSpPr>
        <p:spPr>
          <a:xfrm>
            <a:off x="5595275" y="4835739"/>
            <a:ext cx="380619" cy="35317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0" name="Parallelogram 2059">
            <a:extLst>
              <a:ext uri="{FF2B5EF4-FFF2-40B4-BE49-F238E27FC236}">
                <a16:creationId xmlns:a16="http://schemas.microsoft.com/office/drawing/2014/main" id="{8105528A-BBB1-488F-A092-A8B2F58A1269}"/>
              </a:ext>
            </a:extLst>
          </p:cNvPr>
          <p:cNvSpPr/>
          <p:nvPr/>
        </p:nvSpPr>
        <p:spPr>
          <a:xfrm>
            <a:off x="8110426" y="1773528"/>
            <a:ext cx="1830634" cy="914400"/>
          </a:xfrm>
          <a:prstGeom prst="parallelogra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 medicine reminder</a:t>
            </a:r>
          </a:p>
        </p:txBody>
      </p:sp>
      <p:sp>
        <p:nvSpPr>
          <p:cNvPr id="2067" name="Parallelogram 2066">
            <a:extLst>
              <a:ext uri="{FF2B5EF4-FFF2-40B4-BE49-F238E27FC236}">
                <a16:creationId xmlns:a16="http://schemas.microsoft.com/office/drawing/2014/main" id="{63E7F972-0518-4C59-8009-C132D29A460B}"/>
              </a:ext>
            </a:extLst>
          </p:cNvPr>
          <p:cNvSpPr/>
          <p:nvPr/>
        </p:nvSpPr>
        <p:spPr>
          <a:xfrm>
            <a:off x="4449127" y="2581715"/>
            <a:ext cx="1526767" cy="914400"/>
          </a:xfrm>
          <a:prstGeom prst="parallelogra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Reminder</a:t>
            </a:r>
          </a:p>
        </p:txBody>
      </p:sp>
      <p:sp>
        <p:nvSpPr>
          <p:cNvPr id="2068" name="Parallelogram 2067">
            <a:extLst>
              <a:ext uri="{FF2B5EF4-FFF2-40B4-BE49-F238E27FC236}">
                <a16:creationId xmlns:a16="http://schemas.microsoft.com/office/drawing/2014/main" id="{6EA5847E-4012-4B2A-AF64-90CAF04D82C1}"/>
              </a:ext>
            </a:extLst>
          </p:cNvPr>
          <p:cNvSpPr/>
          <p:nvPr/>
        </p:nvSpPr>
        <p:spPr>
          <a:xfrm>
            <a:off x="4710412" y="1297607"/>
            <a:ext cx="1526766" cy="914400"/>
          </a:xfrm>
          <a:prstGeom prst="parallelogra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 to Log</a:t>
            </a:r>
          </a:p>
        </p:txBody>
      </p:sp>
      <p:cxnSp>
        <p:nvCxnSpPr>
          <p:cNvPr id="2070" name="Connector: Elbow 2069">
            <a:extLst>
              <a:ext uri="{FF2B5EF4-FFF2-40B4-BE49-F238E27FC236}">
                <a16:creationId xmlns:a16="http://schemas.microsoft.com/office/drawing/2014/main" id="{A59EAD19-2BEC-48CA-8A7E-1BB14BF07ABF}"/>
              </a:ext>
            </a:extLst>
          </p:cNvPr>
          <p:cNvCxnSpPr>
            <a:stCxn id="2053" idx="1"/>
            <a:endCxn id="2067" idx="4"/>
          </p:cNvCxnSpPr>
          <p:nvPr/>
        </p:nvCxnSpPr>
        <p:spPr>
          <a:xfrm rot="10800000" flipH="1">
            <a:off x="4766963" y="3496115"/>
            <a:ext cx="445547" cy="719072"/>
          </a:xfrm>
          <a:prstGeom prst="bentConnector4">
            <a:avLst>
              <a:gd name="adj1" fmla="val -51308"/>
              <a:gd name="adj2" fmla="val 936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4" name="Arrow: Up 2073">
            <a:extLst>
              <a:ext uri="{FF2B5EF4-FFF2-40B4-BE49-F238E27FC236}">
                <a16:creationId xmlns:a16="http://schemas.microsoft.com/office/drawing/2014/main" id="{9A54A042-B26C-41B9-B3BF-6B865F1F4823}"/>
              </a:ext>
            </a:extLst>
          </p:cNvPr>
          <p:cNvSpPr/>
          <p:nvPr/>
        </p:nvSpPr>
        <p:spPr>
          <a:xfrm>
            <a:off x="5141470" y="2211096"/>
            <a:ext cx="349793" cy="35450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76" name="Connector: Elbow 2075">
            <a:extLst>
              <a:ext uri="{FF2B5EF4-FFF2-40B4-BE49-F238E27FC236}">
                <a16:creationId xmlns:a16="http://schemas.microsoft.com/office/drawing/2014/main" id="{67D7A3AC-079A-46D1-82D2-D09E80277E73}"/>
              </a:ext>
            </a:extLst>
          </p:cNvPr>
          <p:cNvCxnSpPr>
            <a:stCxn id="2068" idx="1"/>
            <a:endCxn id="7" idx="3"/>
          </p:cNvCxnSpPr>
          <p:nvPr/>
        </p:nvCxnSpPr>
        <p:spPr>
          <a:xfrm rot="16200000" flipH="1" flipV="1">
            <a:off x="3361890" y="364474"/>
            <a:ext cx="1293072" cy="3159338"/>
          </a:xfrm>
          <a:prstGeom prst="bentConnector4">
            <a:avLst>
              <a:gd name="adj1" fmla="val -17679"/>
              <a:gd name="adj2" fmla="val 6389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7" name="TextBox 2076">
            <a:extLst>
              <a:ext uri="{FF2B5EF4-FFF2-40B4-BE49-F238E27FC236}">
                <a16:creationId xmlns:a16="http://schemas.microsoft.com/office/drawing/2014/main" id="{E79834C6-7DD7-4B84-93A3-B768A8D5BA55}"/>
              </a:ext>
            </a:extLst>
          </p:cNvPr>
          <p:cNvSpPr txBox="1"/>
          <p:nvPr/>
        </p:nvSpPr>
        <p:spPr>
          <a:xfrm>
            <a:off x="4563659" y="3882148"/>
            <a:ext cx="488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Yes</a:t>
            </a:r>
          </a:p>
        </p:txBody>
      </p:sp>
      <p:sp>
        <p:nvSpPr>
          <p:cNvPr id="2078" name="Parallelogram 2077">
            <a:extLst>
              <a:ext uri="{FF2B5EF4-FFF2-40B4-BE49-F238E27FC236}">
                <a16:creationId xmlns:a16="http://schemas.microsoft.com/office/drawing/2014/main" id="{4DCBE8A0-483E-443F-8CEE-462D7EDDC79F}"/>
              </a:ext>
            </a:extLst>
          </p:cNvPr>
          <p:cNvSpPr/>
          <p:nvPr/>
        </p:nvSpPr>
        <p:spPr>
          <a:xfrm>
            <a:off x="7270377" y="3872089"/>
            <a:ext cx="1640541" cy="914400"/>
          </a:xfrm>
          <a:prstGeom prst="parallelogra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Reminder</a:t>
            </a:r>
          </a:p>
        </p:txBody>
      </p:sp>
      <p:cxnSp>
        <p:nvCxnSpPr>
          <p:cNvPr id="2080" name="Connector: Elbow 2079">
            <a:extLst>
              <a:ext uri="{FF2B5EF4-FFF2-40B4-BE49-F238E27FC236}">
                <a16:creationId xmlns:a16="http://schemas.microsoft.com/office/drawing/2014/main" id="{9F79B919-BE9A-47B2-ADDE-BD8CC9E943A6}"/>
              </a:ext>
            </a:extLst>
          </p:cNvPr>
          <p:cNvCxnSpPr>
            <a:cxnSpLocks/>
            <a:stCxn id="2053" idx="3"/>
            <a:endCxn id="2078" idx="1"/>
          </p:cNvCxnSpPr>
          <p:nvPr/>
        </p:nvCxnSpPr>
        <p:spPr>
          <a:xfrm flipV="1">
            <a:off x="6819881" y="3872089"/>
            <a:ext cx="1385067" cy="343098"/>
          </a:xfrm>
          <a:prstGeom prst="bentConnector4">
            <a:avLst>
              <a:gd name="adj1" fmla="val 16263"/>
              <a:gd name="adj2" fmla="val 24965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3" name="TextBox 2082">
            <a:extLst>
              <a:ext uri="{FF2B5EF4-FFF2-40B4-BE49-F238E27FC236}">
                <a16:creationId xmlns:a16="http://schemas.microsoft.com/office/drawing/2014/main" id="{7E7D3B0B-C6D0-4424-B420-1B6584C03EEE}"/>
              </a:ext>
            </a:extLst>
          </p:cNvPr>
          <p:cNvSpPr txBox="1"/>
          <p:nvPr/>
        </p:nvSpPr>
        <p:spPr>
          <a:xfrm>
            <a:off x="6328995" y="3851370"/>
            <a:ext cx="539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sp>
        <p:nvSpPr>
          <p:cNvPr id="2086" name="Diamond 2085">
            <a:extLst>
              <a:ext uri="{FF2B5EF4-FFF2-40B4-BE49-F238E27FC236}">
                <a16:creationId xmlns:a16="http://schemas.microsoft.com/office/drawing/2014/main" id="{FDB3A5A1-A75F-4657-99D3-B54748289CA6}"/>
              </a:ext>
            </a:extLst>
          </p:cNvPr>
          <p:cNvSpPr/>
          <p:nvPr/>
        </p:nvSpPr>
        <p:spPr>
          <a:xfrm>
            <a:off x="4865246" y="5206183"/>
            <a:ext cx="1830634" cy="1255947"/>
          </a:xfrm>
          <a:prstGeom prst="diamon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medicine time?</a:t>
            </a:r>
          </a:p>
        </p:txBody>
      </p:sp>
      <p:sp>
        <p:nvSpPr>
          <p:cNvPr id="2087" name="Arrow: Down 2086">
            <a:extLst>
              <a:ext uri="{FF2B5EF4-FFF2-40B4-BE49-F238E27FC236}">
                <a16:creationId xmlns:a16="http://schemas.microsoft.com/office/drawing/2014/main" id="{BCA0EB1B-EDFF-4079-BF87-367CC990C7EE}"/>
              </a:ext>
            </a:extLst>
          </p:cNvPr>
          <p:cNvSpPr/>
          <p:nvPr/>
        </p:nvSpPr>
        <p:spPr>
          <a:xfrm>
            <a:off x="7915994" y="4814047"/>
            <a:ext cx="304800" cy="264383"/>
          </a:xfrm>
          <a:prstGeom prst="downArrow">
            <a:avLst>
              <a:gd name="adj1" fmla="val 50000"/>
              <a:gd name="adj2" fmla="val 4411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8" name="Parallelogram 2087">
            <a:extLst>
              <a:ext uri="{FF2B5EF4-FFF2-40B4-BE49-F238E27FC236}">
                <a16:creationId xmlns:a16="http://schemas.microsoft.com/office/drawing/2014/main" id="{CE3622BF-FAC5-4A43-9295-374C121902B5}"/>
              </a:ext>
            </a:extLst>
          </p:cNvPr>
          <p:cNvSpPr/>
          <p:nvPr/>
        </p:nvSpPr>
        <p:spPr>
          <a:xfrm rot="10800000" flipH="1" flipV="1">
            <a:off x="9163884" y="4220702"/>
            <a:ext cx="1830634" cy="914399"/>
          </a:xfrm>
          <a:prstGeom prst="parallelogra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 Emergency SMS</a:t>
            </a:r>
          </a:p>
        </p:txBody>
      </p:sp>
      <p:cxnSp>
        <p:nvCxnSpPr>
          <p:cNvPr id="2092" name="Connector: Elbow 2091">
            <a:extLst>
              <a:ext uri="{FF2B5EF4-FFF2-40B4-BE49-F238E27FC236}">
                <a16:creationId xmlns:a16="http://schemas.microsoft.com/office/drawing/2014/main" id="{57C8B624-07F0-42EF-8479-F6A0F29552C4}"/>
              </a:ext>
            </a:extLst>
          </p:cNvPr>
          <p:cNvCxnSpPr>
            <a:cxnSpLocks/>
            <a:stCxn id="2086" idx="3"/>
            <a:endCxn id="2088" idx="1"/>
          </p:cNvCxnSpPr>
          <p:nvPr/>
        </p:nvCxnSpPr>
        <p:spPr>
          <a:xfrm flipV="1">
            <a:off x="6695880" y="4220702"/>
            <a:ext cx="3497621" cy="1613455"/>
          </a:xfrm>
          <a:prstGeom prst="bentConnector4">
            <a:avLst>
              <a:gd name="adj1" fmla="val 35281"/>
              <a:gd name="adj2" fmla="val 1141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3" name="Parallelogram 2092">
            <a:extLst>
              <a:ext uri="{FF2B5EF4-FFF2-40B4-BE49-F238E27FC236}">
                <a16:creationId xmlns:a16="http://schemas.microsoft.com/office/drawing/2014/main" id="{E8F6B38D-635C-4601-802C-249BFF1F362B}"/>
              </a:ext>
            </a:extLst>
          </p:cNvPr>
          <p:cNvSpPr/>
          <p:nvPr/>
        </p:nvSpPr>
        <p:spPr>
          <a:xfrm>
            <a:off x="9398737" y="5501626"/>
            <a:ext cx="1983786" cy="914400"/>
          </a:xfrm>
          <a:prstGeom prst="parallelogram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Emotional Engagement</a:t>
            </a:r>
          </a:p>
        </p:txBody>
      </p:sp>
      <p:cxnSp>
        <p:nvCxnSpPr>
          <p:cNvPr id="2110" name="Connector: Elbow 2109">
            <a:extLst>
              <a:ext uri="{FF2B5EF4-FFF2-40B4-BE49-F238E27FC236}">
                <a16:creationId xmlns:a16="http://schemas.microsoft.com/office/drawing/2014/main" id="{C8D12FDB-1AA1-4314-AEB9-38E46A82F8BD}"/>
              </a:ext>
            </a:extLst>
          </p:cNvPr>
          <p:cNvCxnSpPr>
            <a:stCxn id="2088" idx="2"/>
          </p:cNvCxnSpPr>
          <p:nvPr/>
        </p:nvCxnSpPr>
        <p:spPr>
          <a:xfrm flipH="1" flipV="1">
            <a:off x="5588095" y="1156447"/>
            <a:ext cx="5292123" cy="3521455"/>
          </a:xfrm>
          <a:prstGeom prst="bentConnector3">
            <a:avLst>
              <a:gd name="adj1" fmla="val -647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2" name="Connector: Elbow 2111">
            <a:extLst>
              <a:ext uri="{FF2B5EF4-FFF2-40B4-BE49-F238E27FC236}">
                <a16:creationId xmlns:a16="http://schemas.microsoft.com/office/drawing/2014/main" id="{76F5DA54-A290-49EF-B616-A7F997B104B6}"/>
              </a:ext>
            </a:extLst>
          </p:cNvPr>
          <p:cNvCxnSpPr>
            <a:stCxn id="2093" idx="2"/>
          </p:cNvCxnSpPr>
          <p:nvPr/>
        </p:nvCxnSpPr>
        <p:spPr>
          <a:xfrm flipH="1" flipV="1">
            <a:off x="11089341" y="4677902"/>
            <a:ext cx="178882" cy="1280924"/>
          </a:xfrm>
          <a:prstGeom prst="bentConnector4">
            <a:avLst>
              <a:gd name="adj1" fmla="val -127794"/>
              <a:gd name="adj2" fmla="val 67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3" name="TextBox 2112">
            <a:extLst>
              <a:ext uri="{FF2B5EF4-FFF2-40B4-BE49-F238E27FC236}">
                <a16:creationId xmlns:a16="http://schemas.microsoft.com/office/drawing/2014/main" id="{5FD6E24E-4E00-4B45-BA59-A0FDD8D7B7A3}"/>
              </a:ext>
            </a:extLst>
          </p:cNvPr>
          <p:cNvSpPr txBox="1"/>
          <p:nvPr/>
        </p:nvSpPr>
        <p:spPr>
          <a:xfrm>
            <a:off x="8390965" y="6092798"/>
            <a:ext cx="690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sp>
        <p:nvSpPr>
          <p:cNvPr id="2114" name="TextBox 2113">
            <a:extLst>
              <a:ext uri="{FF2B5EF4-FFF2-40B4-BE49-F238E27FC236}">
                <a16:creationId xmlns:a16="http://schemas.microsoft.com/office/drawing/2014/main" id="{2455C043-362D-4754-B687-7B520C87C7B9}"/>
              </a:ext>
            </a:extLst>
          </p:cNvPr>
          <p:cNvSpPr txBox="1"/>
          <p:nvPr/>
        </p:nvSpPr>
        <p:spPr>
          <a:xfrm>
            <a:off x="8602186" y="4950218"/>
            <a:ext cx="533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</p:txBody>
      </p:sp>
      <p:cxnSp>
        <p:nvCxnSpPr>
          <p:cNvPr id="2124" name="Connector: Elbow 2123">
            <a:extLst>
              <a:ext uri="{FF2B5EF4-FFF2-40B4-BE49-F238E27FC236}">
                <a16:creationId xmlns:a16="http://schemas.microsoft.com/office/drawing/2014/main" id="{18FFF180-B070-4BA5-A5A4-876CAA7C1E18}"/>
              </a:ext>
            </a:extLst>
          </p:cNvPr>
          <p:cNvCxnSpPr>
            <a:stCxn id="8" idx="5"/>
            <a:endCxn id="7" idx="1"/>
          </p:cNvCxnSpPr>
          <p:nvPr/>
        </p:nvCxnSpPr>
        <p:spPr>
          <a:xfrm rot="10800000" flipH="1">
            <a:off x="407817" y="2590679"/>
            <a:ext cx="1515555" cy="1818972"/>
          </a:xfrm>
          <a:prstGeom prst="bentConnector3">
            <a:avLst>
              <a:gd name="adj1" fmla="val -228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53FA1B43-26A1-9451-9320-CBAE6F8DFDCC}"/>
              </a:ext>
            </a:extLst>
          </p:cNvPr>
          <p:cNvSpPr/>
          <p:nvPr/>
        </p:nvSpPr>
        <p:spPr>
          <a:xfrm>
            <a:off x="325702" y="5536516"/>
            <a:ext cx="1992904" cy="1029794"/>
          </a:xfrm>
          <a:prstGeom prst="flowChartInputOutpu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Emotional </a:t>
            </a:r>
          </a:p>
          <a:p>
            <a:pPr algn="ctr"/>
            <a:r>
              <a:rPr lang="en-US" sz="16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Engagement</a:t>
            </a:r>
          </a:p>
        </p:txBody>
      </p: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A4D9643-DCAD-9580-70CC-8B548077165D}"/>
              </a:ext>
            </a:extLst>
          </p:cNvPr>
          <p:cNvCxnSpPr>
            <a:stCxn id="21" idx="1"/>
            <a:endCxn id="15" idx="5"/>
          </p:cNvCxnSpPr>
          <p:nvPr/>
        </p:nvCxnSpPr>
        <p:spPr>
          <a:xfrm rot="10800000" flipV="1">
            <a:off x="2119317" y="5361649"/>
            <a:ext cx="524697" cy="6897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C76FB04-5D36-B040-BE85-68AEA44E93F2}"/>
              </a:ext>
            </a:extLst>
          </p:cNvPr>
          <p:cNvSpPr txBox="1"/>
          <p:nvPr/>
        </p:nvSpPr>
        <p:spPr>
          <a:xfrm>
            <a:off x="2336386" y="5512637"/>
            <a:ext cx="55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</a:p>
        </p:txBody>
      </p: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2451098E-B072-C465-703D-E3F31EED0C49}"/>
              </a:ext>
            </a:extLst>
          </p:cNvPr>
          <p:cNvCxnSpPr>
            <a:cxnSpLocks/>
            <a:stCxn id="21" idx="3"/>
            <a:endCxn id="2086" idx="1"/>
          </p:cNvCxnSpPr>
          <p:nvPr/>
        </p:nvCxnSpPr>
        <p:spPr>
          <a:xfrm>
            <a:off x="4393701" y="5361649"/>
            <a:ext cx="471545" cy="4725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52869874-FE84-64E6-B196-517BCCD82C06}"/>
              </a:ext>
            </a:extLst>
          </p:cNvPr>
          <p:cNvCxnSpPr>
            <a:stCxn id="2086" idx="2"/>
            <a:endCxn id="21" idx="2"/>
          </p:cNvCxnSpPr>
          <p:nvPr/>
        </p:nvCxnSpPr>
        <p:spPr>
          <a:xfrm rot="5400000" flipH="1">
            <a:off x="4328069" y="5009637"/>
            <a:ext cx="643281" cy="2261706"/>
          </a:xfrm>
          <a:prstGeom prst="bentConnector3">
            <a:avLst>
              <a:gd name="adj1" fmla="val -355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Connector: Elbow 2049">
            <a:extLst>
              <a:ext uri="{FF2B5EF4-FFF2-40B4-BE49-F238E27FC236}">
                <a16:creationId xmlns:a16="http://schemas.microsoft.com/office/drawing/2014/main" id="{D1404134-D8E0-88D4-AFB7-BEC49A6E36D0}"/>
              </a:ext>
            </a:extLst>
          </p:cNvPr>
          <p:cNvCxnSpPr>
            <a:stCxn id="6" idx="3"/>
            <a:endCxn id="21" idx="0"/>
          </p:cNvCxnSpPr>
          <p:nvPr/>
        </p:nvCxnSpPr>
        <p:spPr>
          <a:xfrm>
            <a:off x="2941012" y="3413474"/>
            <a:ext cx="577845" cy="149097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5" name="Connector: Elbow 2064">
            <a:extLst>
              <a:ext uri="{FF2B5EF4-FFF2-40B4-BE49-F238E27FC236}">
                <a16:creationId xmlns:a16="http://schemas.microsoft.com/office/drawing/2014/main" id="{AE802EED-BB76-1E5E-5C92-F1B4DED87B4A}"/>
              </a:ext>
            </a:extLst>
          </p:cNvPr>
          <p:cNvCxnSpPr>
            <a:stCxn id="15" idx="2"/>
          </p:cNvCxnSpPr>
          <p:nvPr/>
        </p:nvCxnSpPr>
        <p:spPr>
          <a:xfrm rot="10800000" flipH="1">
            <a:off x="524992" y="4950219"/>
            <a:ext cx="2876130" cy="1101195"/>
          </a:xfrm>
          <a:prstGeom prst="bentConnector3">
            <a:avLst>
              <a:gd name="adj1" fmla="val -1487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2" name="TextBox 2081">
            <a:extLst>
              <a:ext uri="{FF2B5EF4-FFF2-40B4-BE49-F238E27FC236}">
                <a16:creationId xmlns:a16="http://schemas.microsoft.com/office/drawing/2014/main" id="{2141C491-13C2-11AA-FABC-7187F8EC45E1}"/>
              </a:ext>
            </a:extLst>
          </p:cNvPr>
          <p:cNvSpPr txBox="1"/>
          <p:nvPr/>
        </p:nvSpPr>
        <p:spPr>
          <a:xfrm>
            <a:off x="4897370" y="6235020"/>
            <a:ext cx="548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1096686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4357415" y="445286"/>
            <a:ext cx="6375286" cy="7602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Pseudocode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3" descr="assets/icons/m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09" y="3840480"/>
            <a:ext cx="368686" cy="36868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9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B95F4F-1A03-4DC4-A081-FF3B3C31538E}"/>
              </a:ext>
            </a:extLst>
          </p:cNvPr>
          <p:cNvSpPr txBox="1"/>
          <p:nvPr/>
        </p:nvSpPr>
        <p:spPr>
          <a:xfrm>
            <a:off x="1838302" y="1159788"/>
            <a:ext cx="6706981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robot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INITIALIZE sensors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medicine schedule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system active DO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gas sensor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emergency alert if gas detected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current time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medicine time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medicine reminder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WAIT for user response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 medicine status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 medicine log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 reminder if medicine not taken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user presence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emotional engagement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emergency SMS if required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WHILE</a:t>
            </a:r>
          </a:p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to standby mode.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2539" b="93848" l="9961" r="9248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2693" y="150471"/>
            <a:ext cx="6204609" cy="6204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972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96056" y="411480"/>
            <a:ext cx="3236259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Conclusion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9224" y="1453896"/>
            <a:ext cx="438912" cy="438912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5" name="Image 0" descr="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72" y="1515344"/>
            <a:ext cx="316017" cy="31601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03506"/>
            <a:ext cx="590146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The Smart Medicine Companion Robot is a compact, intelligent, and interactive solution for medicine management.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49224" y="2414016"/>
            <a:ext cx="438912" cy="438912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8" name="Image 1" descr="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72" y="2475464"/>
            <a:ext cx="316017" cy="31601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39" y="2489113"/>
            <a:ext cx="590146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It improves medication adherence, ensures safety, and brings peace of mind to users and caregivers.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49224" y="3374136"/>
            <a:ext cx="438912" cy="438912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1" name="Image 2" descr="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72" y="3435584"/>
            <a:ext cx="316017" cy="31601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39" y="3405051"/>
            <a:ext cx="561459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It combines robotics, IoT, voice interaction, and emotional engagement in one platform.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9224" y="4334256"/>
            <a:ext cx="438912" cy="438912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</p:sp>
      <p:pic>
        <p:nvPicPr>
          <p:cNvPr id="14" name="Image 3" descr="assets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672" y="4395704"/>
            <a:ext cx="316017" cy="31601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18662" y="4388995"/>
            <a:ext cx="591724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This project has strong potential to make a real-world impact in healthcare.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48640" y="53949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8B5CF6"/>
            </a:solidFill>
            <a:prstDash val="solid"/>
          </a:ln>
          <a:effectLst>
            <a:outerShdw blurRad="76200" dist="25400" dir="5400000" algn="bl" rotWithShape="0">
              <a:srgbClr val="64748B">
                <a:alpha val="2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777240" y="5394960"/>
            <a:ext cx="4937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“Technology with Care, Health Everywhere.”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900" dirty="0"/>
          </a:p>
        </p:txBody>
      </p:sp>
      <p:pic>
        <p:nvPicPr>
          <p:cNvPr id="2" name="Robot Picture" descr="Smart Medicine Companion Robo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149" y="1868291"/>
            <a:ext cx="3949648" cy="294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62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4500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References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900" dirty="0"/>
          </a:p>
        </p:txBody>
      </p:sp>
      <p:sp>
        <p:nvSpPr>
          <p:cNvPr id="199" name="Divider"/>
          <p:cNvSpPr/>
          <p:nvPr/>
        </p:nvSpPr>
        <p:spPr>
          <a:xfrm>
            <a:off x="6053328" y="1280160"/>
            <a:ext cx="0" cy="507492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</p:sp>
      <p:sp>
        <p:nvSpPr>
          <p:cNvPr id="100" name="Badge1"/>
          <p:cNvSpPr/>
          <p:nvPr/>
        </p:nvSpPr>
        <p:spPr>
          <a:xfrm>
            <a:off x="548640" y="1350000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1</a:t>
            </a:r>
          </a:p>
        </p:txBody>
      </p:sp>
      <p:sp>
        <p:nvSpPr>
          <p:cNvPr id="101" name="Ref1"/>
          <p:cNvSpPr/>
          <p:nvPr/>
        </p:nvSpPr>
        <p:spPr>
          <a:xfrm>
            <a:off x="1179264" y="129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Stewart, S.-J. F., Moon, Z., &amp; Horne, R. (2023).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 nonadherence: Health impact, prevalence, correlates and interventions.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Psychology &amp; Health, 38(6), 726–765.</a:t>
            </a:r>
          </a:p>
        </p:txBody>
      </p:sp>
      <p:sp>
        <p:nvSpPr>
          <p:cNvPr id="102" name="Badge2"/>
          <p:cNvSpPr/>
          <p:nvPr/>
        </p:nvSpPr>
        <p:spPr>
          <a:xfrm>
            <a:off x="548640" y="3070000"/>
            <a:ext cx="420624" cy="420624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2</a:t>
            </a:r>
          </a:p>
        </p:txBody>
      </p:sp>
      <p:sp>
        <p:nvSpPr>
          <p:cNvPr id="103" name="Ref2"/>
          <p:cNvSpPr/>
          <p:nvPr/>
        </p:nvSpPr>
        <p:spPr>
          <a:xfrm>
            <a:off x="1179264" y="301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Jayasree, A., Shanmuganathan, P., Ramamurthy, P., &amp; Alwar, M. C. (2024).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medication non-adherence &amp; approaches to enhance medication adherence in mental health disorders: A narrative review.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Pharmacy Practice.</a:t>
            </a:r>
          </a:p>
        </p:txBody>
      </p:sp>
      <p:sp>
        <p:nvSpPr>
          <p:cNvPr id="104" name="Badge3"/>
          <p:cNvSpPr/>
          <p:nvPr/>
        </p:nvSpPr>
        <p:spPr>
          <a:xfrm>
            <a:off x="548640" y="4790000"/>
            <a:ext cx="420624" cy="420624"/>
          </a:xfrm>
          <a:prstGeom prst="ellipse">
            <a:avLst/>
          </a:prstGeom>
          <a:solidFill>
            <a:srgbClr val="F9731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3</a:t>
            </a:r>
          </a:p>
        </p:txBody>
      </p:sp>
      <p:sp>
        <p:nvSpPr>
          <p:cNvPr id="105" name="Ref3"/>
          <p:cNvSpPr/>
          <p:nvPr/>
        </p:nvSpPr>
        <p:spPr>
          <a:xfrm>
            <a:off x="1179264" y="473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King, K., Czuber-Dochan, W., Chalder, T., &amp; Norton, C. (2025).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Medication non-adherence in inflammatory bowel disease: A systematic review identifying risk factors and opportunities for intervention.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Pharmacy, 13(1), 21.</a:t>
            </a:r>
          </a:p>
        </p:txBody>
      </p:sp>
      <p:sp>
        <p:nvSpPr>
          <p:cNvPr id="106" name="Badge4"/>
          <p:cNvSpPr/>
          <p:nvPr/>
        </p:nvSpPr>
        <p:spPr>
          <a:xfrm>
            <a:off x="6355079" y="1350000"/>
            <a:ext cx="420624" cy="420624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4</a:t>
            </a:r>
          </a:p>
        </p:txBody>
      </p:sp>
      <p:sp>
        <p:nvSpPr>
          <p:cNvPr id="107" name="Ref4"/>
          <p:cNvSpPr/>
          <p:nvPr/>
        </p:nvSpPr>
        <p:spPr>
          <a:xfrm>
            <a:off x="6985703" y="129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Zafrani, O., Nimrod, G., &amp; Edan, Y. (2023).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fear and trust: Older adults’ evaluation of socially assistive robots.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Human-Computer Studies, 171, 102981.</a:t>
            </a:r>
          </a:p>
        </p:txBody>
      </p:sp>
      <p:sp>
        <p:nvSpPr>
          <p:cNvPr id="108" name="Badge5"/>
          <p:cNvSpPr/>
          <p:nvPr/>
        </p:nvSpPr>
        <p:spPr>
          <a:xfrm>
            <a:off x="6355079" y="3070000"/>
            <a:ext cx="420624" cy="420624"/>
          </a:xfrm>
          <a:prstGeom prst="ellipse">
            <a:avLst/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5</a:t>
            </a:r>
          </a:p>
        </p:txBody>
      </p:sp>
      <p:sp>
        <p:nvSpPr>
          <p:cNvPr id="109" name="Ref5"/>
          <p:cNvSpPr/>
          <p:nvPr/>
        </p:nvSpPr>
        <p:spPr>
          <a:xfrm>
            <a:off x="6985703" y="301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36th International BCS Human-Computer Interaction Conference (2023).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Exploring the potential of social robots in supporting home medication management.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BCS Learning &amp; Development.</a:t>
            </a:r>
          </a:p>
        </p:txBody>
      </p:sp>
      <p:sp>
        <p:nvSpPr>
          <p:cNvPr id="110" name="Badge6"/>
          <p:cNvSpPr/>
          <p:nvPr/>
        </p:nvSpPr>
        <p:spPr>
          <a:xfrm>
            <a:off x="6355079" y="4790000"/>
            <a:ext cx="420624" cy="420624"/>
          </a:xfrm>
          <a:prstGeom prst="ellipse">
            <a:avLst/>
          </a:prstGeom>
          <a:solidFill>
            <a:srgbClr val="0E7490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6</a:t>
            </a:r>
          </a:p>
        </p:txBody>
      </p:sp>
      <p:sp>
        <p:nvSpPr>
          <p:cNvPr id="111" name="Ref6"/>
          <p:cNvSpPr/>
          <p:nvPr/>
        </p:nvSpPr>
        <p:spPr>
          <a:xfrm>
            <a:off x="6985703" y="473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Sport and Health Science (2025).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intelligence-powered social robots for promoting physical activity in older adults: A systematic review.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Elsevier, on behalf of Shanghai University of Sport.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11480"/>
            <a:ext cx="450000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5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References</a:t>
            </a:r>
            <a:endParaRPr lang="en-US" sz="4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900" dirty="0"/>
          </a:p>
        </p:txBody>
      </p:sp>
      <p:sp>
        <p:nvSpPr>
          <p:cNvPr id="199" name="Divider"/>
          <p:cNvSpPr/>
          <p:nvPr/>
        </p:nvSpPr>
        <p:spPr>
          <a:xfrm>
            <a:off x="6053328" y="1280160"/>
            <a:ext cx="0" cy="5074920"/>
          </a:xfrm>
          <a:prstGeom prst="line">
            <a:avLst/>
          </a:prstGeom>
          <a:noFill/>
          <a:ln w="12700">
            <a:solidFill>
              <a:srgbClr val="D8E0EE"/>
            </a:solidFill>
            <a:prstDash val="solid"/>
          </a:ln>
        </p:spPr>
      </p:sp>
      <p:sp>
        <p:nvSpPr>
          <p:cNvPr id="100" name="Badge1"/>
          <p:cNvSpPr/>
          <p:nvPr/>
        </p:nvSpPr>
        <p:spPr>
          <a:xfrm>
            <a:off x="548640" y="1350000"/>
            <a:ext cx="420624" cy="420624"/>
          </a:xfrm>
          <a:prstGeom prst="ellipse">
            <a:avLst/>
          </a:prstGeom>
          <a:solidFill>
            <a:srgbClr val="8B5CF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7</a:t>
            </a:r>
          </a:p>
        </p:txBody>
      </p:sp>
      <p:sp>
        <p:nvSpPr>
          <p:cNvPr id="101" name="Ref1"/>
          <p:cNvSpPr/>
          <p:nvPr/>
        </p:nvSpPr>
        <p:spPr>
          <a:xfrm>
            <a:off x="1179264" y="129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Peddisetti, V., Kandregula, P. K., John, J. A., Poomdla, S., George, K., &amp; Panangadan, A. (2024).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medication management: Enhancing medication adherence with an IoT-based pill dispenser and smart cup.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2024 IEEE AIMHC, 137–144.</a:t>
            </a:r>
          </a:p>
        </p:txBody>
      </p:sp>
      <p:sp>
        <p:nvSpPr>
          <p:cNvPr id="102" name="Badge2"/>
          <p:cNvSpPr/>
          <p:nvPr/>
        </p:nvSpPr>
        <p:spPr>
          <a:xfrm>
            <a:off x="548640" y="3070000"/>
            <a:ext cx="420624" cy="420624"/>
          </a:xfrm>
          <a:prstGeom prst="ellipse">
            <a:avLst/>
          </a:prstGeom>
          <a:solidFill>
            <a:srgbClr val="06B6D4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8</a:t>
            </a:r>
          </a:p>
        </p:txBody>
      </p:sp>
      <p:sp>
        <p:nvSpPr>
          <p:cNvPr id="103" name="Ref2"/>
          <p:cNvSpPr/>
          <p:nvPr/>
        </p:nvSpPr>
        <p:spPr>
          <a:xfrm>
            <a:off x="1179264" y="301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Jung, H. W., Kim, Y., Kim, H., Kim, M., Lee, H., Park, J. Y., Kim, W. J., &amp; Park, J. (2025).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Socially assistive robot Hyodol for depressive symptoms of community-dwelling older adults in medically underserved areas: A preliminary study.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Journal of Clinical Medicine, 15(1), 217.</a:t>
            </a:r>
          </a:p>
        </p:txBody>
      </p:sp>
      <p:sp>
        <p:nvSpPr>
          <p:cNvPr id="104" name="Badge3"/>
          <p:cNvSpPr/>
          <p:nvPr/>
        </p:nvSpPr>
        <p:spPr>
          <a:xfrm>
            <a:off x="548640" y="4790000"/>
            <a:ext cx="420624" cy="420624"/>
          </a:xfrm>
          <a:prstGeom prst="ellipse">
            <a:avLst/>
          </a:prstGeom>
          <a:solidFill>
            <a:srgbClr val="F97316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</a:rPr>
              <a:t>9</a:t>
            </a:r>
          </a:p>
        </p:txBody>
      </p:sp>
      <p:sp>
        <p:nvSpPr>
          <p:cNvPr id="105" name="Ref3"/>
          <p:cNvSpPr/>
          <p:nvPr/>
        </p:nvSpPr>
        <p:spPr>
          <a:xfrm>
            <a:off x="1179264" y="473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Babu, T., Nair, R. R., Kishore, S., &amp; Vineeth, M. (2024).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Enhancing gas leak detection with IoT technology: An innovative approach.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Procedia Computer Science, 235, 961–969.</a:t>
            </a:r>
          </a:p>
        </p:txBody>
      </p:sp>
      <p:sp>
        <p:nvSpPr>
          <p:cNvPr id="106" name="Badge4"/>
          <p:cNvSpPr/>
          <p:nvPr/>
        </p:nvSpPr>
        <p:spPr>
          <a:xfrm>
            <a:off x="6355079" y="1350000"/>
            <a:ext cx="420624" cy="420624"/>
          </a:xfrm>
          <a:prstGeom prst="ellipse">
            <a:avLst/>
          </a:prstGeom>
          <a:solidFill>
            <a:srgbClr val="16A34A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</a:rPr>
              <a:t>10</a:t>
            </a:r>
          </a:p>
        </p:txBody>
      </p:sp>
      <p:sp>
        <p:nvSpPr>
          <p:cNvPr id="107" name="Ref4"/>
          <p:cNvSpPr/>
          <p:nvPr/>
        </p:nvSpPr>
        <p:spPr>
          <a:xfrm>
            <a:off x="6985703" y="129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Monisha, M., Sarumathi, S., &amp; Pratheeba, R. (2025).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enabled gas leak detection and safety automation system.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IJARCCE, 14(5), DOI:10.17148/IJARCCE.2025.14520</a:t>
            </a:r>
          </a:p>
        </p:txBody>
      </p:sp>
      <p:sp>
        <p:nvSpPr>
          <p:cNvPr id="108" name="Badge5"/>
          <p:cNvSpPr/>
          <p:nvPr/>
        </p:nvSpPr>
        <p:spPr>
          <a:xfrm>
            <a:off x="6355079" y="3070000"/>
            <a:ext cx="420624" cy="420624"/>
          </a:xfrm>
          <a:prstGeom prst="ellipse">
            <a:avLst/>
          </a:prstGeom>
          <a:solidFill>
            <a:srgbClr val="EC4899"/>
          </a:solidFill>
          <a:ln/>
          <a:effectLst>
            <a:outerShdw blurRad="63500" dist="25400" dir="5400000" algn="bl" rotWithShape="0">
              <a:srgbClr val="64748B">
                <a:alpha val="2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</a:rPr>
              <a:t>11</a:t>
            </a:r>
          </a:p>
        </p:txBody>
      </p:sp>
      <p:sp>
        <p:nvSpPr>
          <p:cNvPr id="109" name="Ref5"/>
          <p:cNvSpPr/>
          <p:nvPr/>
        </p:nvSpPr>
        <p:spPr>
          <a:xfrm>
            <a:off x="6985703" y="3010000"/>
            <a:ext cx="4444297" cy="16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Blavette, L., Dacunha, S., Alameda-Pineda, X., et al. (2025).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i="1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Acceptability and usability of a socially assistive robot integrated with a large language model in a geriatric care institution.</a:t>
            </a:r>
          </a:p>
          <a:p>
            <a:pPr marL="0" indent="0">
              <a:lnSpc>
                <a:spcPts val="125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JMIR Human Factors, 12, e76496.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99FF">
            <a:alpha val="32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hatsApp Video 2026-09-25 at 04.26.41 (1)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32201" b="27769"/>
          <a:stretch/>
        </p:blipFill>
        <p:spPr>
          <a:xfrm>
            <a:off x="1257418" y="0"/>
            <a:ext cx="9622336" cy="684947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586245" y="261490"/>
            <a:ext cx="51559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/>
              <a:t>Thank You For Your Attention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C52E70-6DB9-484D-B15F-03114AF8165F}"/>
              </a:ext>
            </a:extLst>
          </p:cNvPr>
          <p:cNvSpPr txBox="1"/>
          <p:nvPr/>
        </p:nvSpPr>
        <p:spPr>
          <a:xfrm>
            <a:off x="11490034" y="6174903"/>
            <a:ext cx="5137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983506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779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0" y="566928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172A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Robot Circuit Diagram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9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900" dirty="0"/>
          </a:p>
        </p:txBody>
      </p:sp>
      <p:pic>
        <p:nvPicPr>
          <p:cNvPr id="1026" name="Circuit Diagram" descr="Cirkit Designer circuit diagram of the PicoBot: ESP32-S3 with OLED, RTC, PIR, MQ-2, SIM800L, I2S mic and amplifier, rotary encoder, touch module and power supply"/>
          <p:cNvPicPr>
            <a:picLocks noChangeAspect="1"/>
          </p:cNvPicPr>
          <p:nvPr/>
        </p:nvPicPr>
        <p:blipFill>
          <a:blip r:embed="rId6"/>
          <a:srcRect l="5000" t="2780" r="1562" b="6275"/>
          <a:stretch>
            <a:fillRect/>
          </a:stretch>
        </p:blipFill>
        <p:spPr>
          <a:xfrm>
            <a:off x="2635956" y="1320000"/>
            <a:ext cx="6920087" cy="530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8901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1716</Words>
  <Application>Microsoft Office PowerPoint</Application>
  <PresentationFormat>Widescreen</PresentationFormat>
  <Paragraphs>345</Paragraphs>
  <Slides>19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Adika</dc:creator>
  <cp:lastModifiedBy>adika</cp:lastModifiedBy>
  <cp:revision>40</cp:revision>
  <dcterms:created xsi:type="dcterms:W3CDTF">2026-08-21T01:59:10Z</dcterms:created>
  <dcterms:modified xsi:type="dcterms:W3CDTF">2026-10-03T16:33:27Z</dcterms:modified>
</cp:coreProperties>
</file>