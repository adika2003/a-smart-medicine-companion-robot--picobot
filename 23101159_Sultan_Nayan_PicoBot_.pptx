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Oval 1"/>
          <p:cNvSpPr/>
          <p:nvPr/>
        </p:nvSpPr>
        <p:spPr>
          <a:xfrm>
            <a:off x="6172200" y="685800"/>
            <a:ext cx="5486400" cy="5486400"/>
          </a:xfrm>
          <a:prstGeom prst="ellipse">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97880" y="411480"/>
            <a:ext cx="6035040" cy="6035040"/>
          </a:xfrm>
          <a:prstGeom prst="ellipse">
            <a:avLst/>
          </a:prstGeom>
          <a:no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g_s1.png"/>
          <p:cNvPicPr>
            <a:picLocks noChangeAspect="1"/>
          </p:cNvPicPr>
          <p:nvPr/>
        </p:nvPicPr>
        <p:blipFill>
          <a:blip r:embed="rId2"/>
          <a:stretch>
            <a:fillRect/>
          </a:stretch>
        </p:blipFill>
        <p:spPr>
          <a:xfrm>
            <a:off x="6263640" y="1783080"/>
            <a:ext cx="5303520" cy="3959962"/>
          </a:xfrm>
          <a:prstGeom prst="rect">
            <a:avLst/>
          </a:prstGeom>
        </p:spPr>
      </p:pic>
      <p:sp>
        <p:nvSpPr>
          <p:cNvPr id="5" name="TextBox 4"/>
          <p:cNvSpPr txBox="1"/>
          <p:nvPr/>
        </p:nvSpPr>
        <p:spPr>
          <a:xfrm>
            <a:off x="685800" y="777240"/>
            <a:ext cx="5486400" cy="274320"/>
          </a:xfrm>
          <a:prstGeom prst="rect">
            <a:avLst/>
          </a:prstGeom>
          <a:noFill/>
        </p:spPr>
        <p:txBody>
          <a:bodyPr wrap="square" lIns="0" rIns="0" tIns="0" bIns="0" anchor="ctr">
            <a:spAutoFit/>
          </a:bodyPr>
          <a:lstStyle/>
          <a:p>
            <a:pPr algn="l"/>
            <a:r>
              <a:rPr sz="1300" b="1" i="0">
                <a:solidFill>
                  <a:srgbClr val="1E1B4B"/>
                </a:solidFill>
                <a:latin typeface="Calibri"/>
              </a:rPr>
              <a:t>GROUP PROJECT  ·  ROBOTICS</a:t>
            </a:r>
          </a:p>
        </p:txBody>
      </p:sp>
      <p:sp>
        <p:nvSpPr>
          <p:cNvPr id="6" name="TextBox 5"/>
          <p:cNvSpPr txBox="1"/>
          <p:nvPr/>
        </p:nvSpPr>
        <p:spPr>
          <a:xfrm>
            <a:off x="685800" y="1188720"/>
            <a:ext cx="5669280" cy="1737360"/>
          </a:xfrm>
          <a:prstGeom prst="rect">
            <a:avLst/>
          </a:prstGeom>
          <a:noFill/>
        </p:spPr>
        <p:txBody>
          <a:bodyPr wrap="square" lIns="0" rIns="0" tIns="0" bIns="0" anchor="t">
            <a:spAutoFit/>
          </a:bodyPr>
          <a:lstStyle/>
          <a:p>
            <a:pPr algn="l"/>
            <a:r>
              <a:rPr sz="4200" b="1" i="0">
                <a:solidFill>
                  <a:srgbClr val="1E1B4B"/>
                </a:solidFill>
                <a:latin typeface="Arial"/>
              </a:rPr>
              <a:t>Smart Medicine</a:t>
            </a:r>
          </a:p>
          <a:p>
            <a:pPr algn="l"/>
            <a:r>
              <a:rPr sz="4200" b="1" i="0">
                <a:solidFill>
                  <a:srgbClr val="1E1B4B"/>
                </a:solidFill>
                <a:latin typeface="Arial"/>
              </a:rPr>
              <a:t>Companion Robot</a:t>
            </a:r>
          </a:p>
        </p:txBody>
      </p:sp>
      <p:sp>
        <p:nvSpPr>
          <p:cNvPr id="7" name="TextBox 6"/>
          <p:cNvSpPr txBox="1"/>
          <p:nvPr/>
        </p:nvSpPr>
        <p:spPr>
          <a:xfrm>
            <a:off x="685800" y="2926080"/>
            <a:ext cx="5486400" cy="502920"/>
          </a:xfrm>
          <a:prstGeom prst="rect">
            <a:avLst/>
          </a:prstGeom>
          <a:noFill/>
        </p:spPr>
        <p:txBody>
          <a:bodyPr wrap="square" lIns="0" rIns="0" tIns="0" bIns="0" anchor="t">
            <a:spAutoFit/>
          </a:bodyPr>
          <a:lstStyle/>
          <a:p>
            <a:pPr algn="l"/>
            <a:r>
              <a:rPr sz="3000" b="1" i="0">
                <a:solidFill>
                  <a:srgbClr val="DB2777"/>
                </a:solidFill>
                <a:latin typeface="Arial"/>
              </a:rPr>
              <a:t>PicoBot</a:t>
            </a:r>
          </a:p>
        </p:txBody>
      </p:sp>
      <p:sp>
        <p:nvSpPr>
          <p:cNvPr id="8" name="TextBox 7"/>
          <p:cNvSpPr txBox="1"/>
          <p:nvPr/>
        </p:nvSpPr>
        <p:spPr>
          <a:xfrm>
            <a:off x="685800" y="3456432"/>
            <a:ext cx="5486400" cy="365760"/>
          </a:xfrm>
          <a:prstGeom prst="rect">
            <a:avLst/>
          </a:prstGeom>
          <a:noFill/>
        </p:spPr>
        <p:txBody>
          <a:bodyPr wrap="square" lIns="0" rIns="0" tIns="0" bIns="0" anchor="t">
            <a:spAutoFit/>
          </a:bodyPr>
          <a:lstStyle/>
          <a:p>
            <a:pPr algn="l"/>
            <a:r>
              <a:rPr sz="1700" b="0" i="1">
                <a:solidFill>
                  <a:srgbClr val="334155"/>
                </a:solidFill>
                <a:latin typeface="Calibri"/>
              </a:rPr>
              <a:t>Your Smart Reminder, Your Health Partner</a:t>
            </a:r>
          </a:p>
        </p:txBody>
      </p:sp>
      <p:sp>
        <p:nvSpPr>
          <p:cNvPr id="9" name="Rounded Rectangle 8"/>
          <p:cNvSpPr/>
          <p:nvPr/>
        </p:nvSpPr>
        <p:spPr>
          <a:xfrm>
            <a:off x="685800" y="4069080"/>
            <a:ext cx="1577339" cy="329184"/>
          </a:xfrm>
          <a:prstGeom prst="roundRect">
            <a:avLst>
              <a:gd name="adj" fmla="val 50000"/>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Medicine Reminder</a:t>
            </a:r>
          </a:p>
        </p:txBody>
      </p:sp>
      <p:sp>
        <p:nvSpPr>
          <p:cNvPr id="10" name="Rounded Rectangle 9"/>
          <p:cNvSpPr/>
          <p:nvPr/>
        </p:nvSpPr>
        <p:spPr>
          <a:xfrm>
            <a:off x="2391156" y="4069080"/>
            <a:ext cx="1440180" cy="329184"/>
          </a:xfrm>
          <a:prstGeom prst="roundRect">
            <a:avLst>
              <a:gd name="adj" fmla="val 50000"/>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Voice Assistant</a:t>
            </a:r>
          </a:p>
        </p:txBody>
      </p:sp>
      <p:sp>
        <p:nvSpPr>
          <p:cNvPr id="11" name="Rounded Rectangle 10"/>
          <p:cNvSpPr/>
          <p:nvPr/>
        </p:nvSpPr>
        <p:spPr>
          <a:xfrm>
            <a:off x="3959352" y="4069080"/>
            <a:ext cx="1303020" cy="329184"/>
          </a:xfrm>
          <a:prstGeom prst="roundRect">
            <a:avLst>
              <a:gd name="adj" fmla="val 50000"/>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Face Reaction</a:t>
            </a:r>
          </a:p>
        </p:txBody>
      </p:sp>
      <p:sp>
        <p:nvSpPr>
          <p:cNvPr id="12" name="Rounded Rectangle 11"/>
          <p:cNvSpPr/>
          <p:nvPr/>
        </p:nvSpPr>
        <p:spPr>
          <a:xfrm>
            <a:off x="685800" y="4507992"/>
            <a:ext cx="1645919" cy="329184"/>
          </a:xfrm>
          <a:prstGeom prst="roundRect">
            <a:avLst>
              <a:gd name="adj" fmla="val 50000"/>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Movement Detection</a:t>
            </a:r>
          </a:p>
        </p:txBody>
      </p:sp>
      <p:sp>
        <p:nvSpPr>
          <p:cNvPr id="13" name="Rounded Rectangle 12"/>
          <p:cNvSpPr/>
          <p:nvPr/>
        </p:nvSpPr>
        <p:spPr>
          <a:xfrm>
            <a:off x="2459736" y="4507992"/>
            <a:ext cx="1303020" cy="329184"/>
          </a:xfrm>
          <a:prstGeom prst="roundRect">
            <a:avLst>
              <a:gd name="adj" fmla="val 50000"/>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Emergency SMS</a:t>
            </a:r>
          </a:p>
        </p:txBody>
      </p:sp>
      <p:sp>
        <p:nvSpPr>
          <p:cNvPr id="14" name="TextBox 13"/>
          <p:cNvSpPr txBox="1"/>
          <p:nvPr/>
        </p:nvSpPr>
        <p:spPr>
          <a:xfrm>
            <a:off x="685800" y="5257800"/>
            <a:ext cx="5486400" cy="228600"/>
          </a:xfrm>
          <a:prstGeom prst="rect">
            <a:avLst/>
          </a:prstGeom>
          <a:noFill/>
        </p:spPr>
        <p:txBody>
          <a:bodyPr wrap="square" lIns="0" rIns="0" tIns="0" bIns="0" anchor="t">
            <a:spAutoFit/>
          </a:bodyPr>
          <a:lstStyle/>
          <a:p>
            <a:pPr algn="l"/>
            <a:r>
              <a:rPr sz="1100" b="1" i="0">
                <a:solidFill>
                  <a:srgbClr val="DB2777"/>
                </a:solidFill>
                <a:latin typeface="Calibri"/>
              </a:rPr>
              <a:t>PRESENTED BY</a:t>
            </a:r>
          </a:p>
        </p:txBody>
      </p:sp>
      <p:sp>
        <p:nvSpPr>
          <p:cNvPr id="15" name="TextBox 14"/>
          <p:cNvSpPr txBox="1"/>
          <p:nvPr/>
        </p:nvSpPr>
        <p:spPr>
          <a:xfrm>
            <a:off x="685800" y="5504688"/>
            <a:ext cx="5669280" cy="365760"/>
          </a:xfrm>
          <a:prstGeom prst="rect">
            <a:avLst/>
          </a:prstGeom>
          <a:noFill/>
        </p:spPr>
        <p:txBody>
          <a:bodyPr wrap="square" lIns="0" rIns="0" tIns="0" bIns="0" anchor="t">
            <a:spAutoFit/>
          </a:bodyPr>
          <a:lstStyle/>
          <a:p>
            <a:pPr algn="l"/>
            <a:r>
              <a:rPr sz="1700" b="1" i="0">
                <a:solidFill>
                  <a:srgbClr val="1E1B4B"/>
                </a:solidFill>
                <a:latin typeface="Calibri"/>
              </a:rPr>
              <a:t>Sultan Ruhul Kuddus Nayan</a:t>
            </a:r>
            <a:r>
              <a:rPr sz="1700" b="0" i="0">
                <a:solidFill>
                  <a:srgbClr val="334155"/>
                </a:solidFill>
                <a:latin typeface="Calibri"/>
              </a:rPr>
              <a:t>   ·   ID: 23101159</a:t>
            </a:r>
          </a:p>
        </p:txBody>
      </p:sp>
      <p:sp>
        <p:nvSpPr>
          <p:cNvPr id="16" name="TextBox 1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OVERVIEW</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Executive Summary</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02</a:t>
            </a:r>
          </a:p>
        </p:txBody>
      </p:sp>
      <p:sp>
        <p:nvSpPr>
          <p:cNvPr id="7" name="Rounded Rectangle 6"/>
          <p:cNvSpPr/>
          <p:nvPr/>
        </p:nvSpPr>
        <p:spPr>
          <a:xfrm>
            <a:off x="548640" y="1600200"/>
            <a:ext cx="3566160" cy="25146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1828800"/>
            <a:ext cx="384048"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65960"/>
            <a:ext cx="3017520" cy="411480"/>
          </a:xfrm>
          <a:prstGeom prst="rect">
            <a:avLst/>
          </a:prstGeom>
          <a:noFill/>
        </p:spPr>
        <p:txBody>
          <a:bodyPr wrap="square" lIns="0" rIns="0" tIns="0" bIns="0" anchor="t">
            <a:spAutoFit/>
          </a:bodyPr>
          <a:lstStyle/>
          <a:p>
            <a:pPr algn="l"/>
            <a:r>
              <a:rPr sz="1800" b="1" i="0">
                <a:solidFill>
                  <a:srgbClr val="1E1B4B"/>
                </a:solidFill>
                <a:latin typeface="Arial"/>
              </a:rPr>
              <a:t>Why We Built It</a:t>
            </a:r>
          </a:p>
        </p:txBody>
      </p:sp>
      <p:sp>
        <p:nvSpPr>
          <p:cNvPr id="10" name="TextBox 9"/>
          <p:cNvSpPr txBox="1"/>
          <p:nvPr/>
        </p:nvSpPr>
        <p:spPr>
          <a:xfrm>
            <a:off x="822959" y="2450592"/>
            <a:ext cx="3017520" cy="1554480"/>
          </a:xfrm>
          <a:prstGeom prst="rect">
            <a:avLst/>
          </a:prstGeom>
          <a:noFill/>
        </p:spPr>
        <p:txBody>
          <a:bodyPr wrap="square" lIns="0" rIns="0" tIns="0" bIns="0" anchor="t">
            <a:spAutoFit/>
          </a:bodyPr>
          <a:lstStyle/>
          <a:p>
            <a:pPr algn="l"/>
            <a:r>
              <a:rPr sz="1350" b="0" i="0">
                <a:solidFill>
                  <a:srgbClr val="334155"/>
                </a:solidFill>
                <a:latin typeface="Calibri"/>
              </a:rPr>
              <a:t>Many elderly and chronically ill patients forget their medicine, and many skip it on purpose. Reminder apps only fight forgetting, and caregivers cannot always be present. We built PicoBot to close this gap.</a:t>
            </a:r>
          </a:p>
        </p:txBody>
      </p:sp>
      <p:sp>
        <p:nvSpPr>
          <p:cNvPr id="11" name="Rounded Rectangle 10"/>
          <p:cNvSpPr/>
          <p:nvPr/>
        </p:nvSpPr>
        <p:spPr>
          <a:xfrm>
            <a:off x="4270248" y="1600200"/>
            <a:ext cx="3566160" cy="25146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44568" y="1828800"/>
            <a:ext cx="384048"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965960"/>
            <a:ext cx="3017520" cy="411480"/>
          </a:xfrm>
          <a:prstGeom prst="rect">
            <a:avLst/>
          </a:prstGeom>
          <a:noFill/>
        </p:spPr>
        <p:txBody>
          <a:bodyPr wrap="square" lIns="0" rIns="0" tIns="0" bIns="0" anchor="t">
            <a:spAutoFit/>
          </a:bodyPr>
          <a:lstStyle/>
          <a:p>
            <a:pPr algn="l"/>
            <a:r>
              <a:rPr sz="1800" b="1" i="0">
                <a:solidFill>
                  <a:srgbClr val="1E1B4B"/>
                </a:solidFill>
                <a:latin typeface="Arial"/>
              </a:rPr>
              <a:t>Our Goal</a:t>
            </a:r>
          </a:p>
        </p:txBody>
      </p:sp>
      <p:sp>
        <p:nvSpPr>
          <p:cNvPr id="14" name="TextBox 13"/>
          <p:cNvSpPr txBox="1"/>
          <p:nvPr/>
        </p:nvSpPr>
        <p:spPr>
          <a:xfrm>
            <a:off x="4544568" y="2450592"/>
            <a:ext cx="3017520" cy="1554480"/>
          </a:xfrm>
          <a:prstGeom prst="rect">
            <a:avLst/>
          </a:prstGeom>
          <a:noFill/>
        </p:spPr>
        <p:txBody>
          <a:bodyPr wrap="square" lIns="0" rIns="0" tIns="0" bIns="0" anchor="t">
            <a:spAutoFit/>
          </a:bodyPr>
          <a:lstStyle/>
          <a:p>
            <a:pPr algn="l"/>
            <a:r>
              <a:rPr sz="1350" b="0" i="0">
                <a:solidFill>
                  <a:srgbClr val="334155"/>
                </a:solidFill>
                <a:latin typeface="Calibri"/>
              </a:rPr>
              <a:t>Raise medication adherence with a low-cost companion robot that tackles both forgetting and unwillingness, and keeps the user safe with an instant emergency SMS alert.</a:t>
            </a:r>
          </a:p>
        </p:txBody>
      </p:sp>
      <p:sp>
        <p:nvSpPr>
          <p:cNvPr id="15" name="Rounded Rectangle 14"/>
          <p:cNvSpPr/>
          <p:nvPr/>
        </p:nvSpPr>
        <p:spPr>
          <a:xfrm>
            <a:off x="7991856" y="1600200"/>
            <a:ext cx="3566160" cy="25146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66176" y="1828800"/>
            <a:ext cx="384048"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965960"/>
            <a:ext cx="3017520" cy="411480"/>
          </a:xfrm>
          <a:prstGeom prst="rect">
            <a:avLst/>
          </a:prstGeom>
          <a:noFill/>
        </p:spPr>
        <p:txBody>
          <a:bodyPr wrap="square" lIns="0" rIns="0" tIns="0" bIns="0" anchor="t">
            <a:spAutoFit/>
          </a:bodyPr>
          <a:lstStyle/>
          <a:p>
            <a:pPr algn="l"/>
            <a:r>
              <a:rPr sz="1800" b="1" i="0">
                <a:solidFill>
                  <a:srgbClr val="1E1B4B"/>
                </a:solidFill>
                <a:latin typeface="Arial"/>
              </a:rPr>
              <a:t>My Contribution</a:t>
            </a:r>
          </a:p>
        </p:txBody>
      </p:sp>
      <p:sp>
        <p:nvSpPr>
          <p:cNvPr id="18" name="TextBox 17"/>
          <p:cNvSpPr txBox="1"/>
          <p:nvPr/>
        </p:nvSpPr>
        <p:spPr>
          <a:xfrm>
            <a:off x="8266176" y="2450592"/>
            <a:ext cx="3017520" cy="1554480"/>
          </a:xfrm>
          <a:prstGeom prst="rect">
            <a:avLst/>
          </a:prstGeom>
          <a:noFill/>
        </p:spPr>
        <p:txBody>
          <a:bodyPr wrap="square" lIns="0" rIns="0" tIns="0" bIns="0" anchor="t">
            <a:spAutoFit/>
          </a:bodyPr>
          <a:lstStyle/>
          <a:p>
            <a:pPr algn="l" marL="228600" indent="-228600">
              <a:spcAft>
                <a:spcPts val="400"/>
              </a:spcAft>
              <a:buClr>
                <a:srgbClr val="DB2777"/>
              </a:buClr>
              <a:buFont typeface="Arial"/>
              <a:buChar char="•"/>
            </a:pPr>
            <a:r>
              <a:rPr sz="1350" b="0" i="0">
                <a:solidFill>
                  <a:srgbClr val="334155"/>
                </a:solidFill>
                <a:latin typeface="Calibri"/>
              </a:rPr>
              <a:t>Workflow diagram (flowchart)</a:t>
            </a:r>
          </a:p>
          <a:p>
            <a:pPr algn="l" marL="228600" indent="-228600">
              <a:spcAft>
                <a:spcPts val="400"/>
              </a:spcAft>
              <a:buClr>
                <a:srgbClr val="DB2777"/>
              </a:buClr>
              <a:buFont typeface="Arial"/>
              <a:buChar char="•"/>
            </a:pPr>
            <a:r>
              <a:rPr sz="1350" b="0" i="0">
                <a:solidFill>
                  <a:srgbClr val="334155"/>
                </a:solidFill>
                <a:latin typeface="Calibri"/>
              </a:rPr>
              <a:t>5 code logics from the robot code</a:t>
            </a:r>
          </a:p>
          <a:p>
            <a:pPr algn="l" marL="228600" indent="-228600">
              <a:spcAft>
                <a:spcPts val="400"/>
              </a:spcAft>
              <a:buClr>
                <a:srgbClr val="DB2777"/>
              </a:buClr>
              <a:buFont typeface="Arial"/>
              <a:buChar char="•"/>
            </a:pPr>
            <a:r>
              <a:rPr sz="1350" b="0" i="0">
                <a:solidFill>
                  <a:srgbClr val="334155"/>
                </a:solidFill>
                <a:latin typeface="Calibri"/>
              </a:rPr>
              <a:t>Conclusion with live demo video</a:t>
            </a:r>
          </a:p>
        </p:txBody>
      </p:sp>
      <p:sp>
        <p:nvSpPr>
          <p:cNvPr id="19" name="Rounded Rectangle 18"/>
          <p:cNvSpPr/>
          <p:nvPr/>
        </p:nvSpPr>
        <p:spPr>
          <a:xfrm>
            <a:off x="548640" y="4315968"/>
            <a:ext cx="11036808" cy="1783080"/>
          </a:xfrm>
          <a:prstGeom prst="roundRect">
            <a:avLst>
              <a:gd name="adj" fmla="val 6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98848"/>
            <a:ext cx="2468880" cy="685800"/>
          </a:xfrm>
          <a:prstGeom prst="rect">
            <a:avLst/>
          </a:prstGeom>
          <a:noFill/>
        </p:spPr>
        <p:txBody>
          <a:bodyPr wrap="square" lIns="0" rIns="0" tIns="0" bIns="0" anchor="t">
            <a:spAutoFit/>
          </a:bodyPr>
          <a:lstStyle/>
          <a:p>
            <a:pPr algn="l"/>
            <a:r>
              <a:rPr sz="3600" b="1" i="0">
                <a:solidFill>
                  <a:srgbClr val="DB2777"/>
                </a:solidFill>
                <a:latin typeface="Arial"/>
              </a:rPr>
              <a:t>3</a:t>
            </a:r>
          </a:p>
        </p:txBody>
      </p:sp>
      <p:sp>
        <p:nvSpPr>
          <p:cNvPr id="21" name="TextBox 20"/>
          <p:cNvSpPr txBox="1"/>
          <p:nvPr/>
        </p:nvSpPr>
        <p:spPr>
          <a:xfrm>
            <a:off x="868680" y="5230368"/>
            <a:ext cx="2377440" cy="731520"/>
          </a:xfrm>
          <a:prstGeom prst="rect">
            <a:avLst/>
          </a:prstGeom>
          <a:noFill/>
        </p:spPr>
        <p:txBody>
          <a:bodyPr wrap="square" lIns="0" rIns="0" tIns="0" bIns="0" anchor="t">
            <a:spAutoFit/>
          </a:bodyPr>
          <a:lstStyle/>
          <a:p>
            <a:pPr algn="l"/>
            <a:r>
              <a:rPr sz="1300" b="0" i="0">
                <a:solidFill>
                  <a:srgbClr val="DDD6FE"/>
                </a:solidFill>
                <a:latin typeface="Calibri"/>
              </a:rPr>
              <a:t>daily medicine alarms, saved in flash memory</a:t>
            </a:r>
          </a:p>
        </p:txBody>
      </p:sp>
      <p:sp>
        <p:nvSpPr>
          <p:cNvPr id="22" name="TextBox 21"/>
          <p:cNvSpPr txBox="1"/>
          <p:nvPr/>
        </p:nvSpPr>
        <p:spPr>
          <a:xfrm>
            <a:off x="3611880" y="4498848"/>
            <a:ext cx="2468880" cy="685800"/>
          </a:xfrm>
          <a:prstGeom prst="rect">
            <a:avLst/>
          </a:prstGeom>
          <a:noFill/>
        </p:spPr>
        <p:txBody>
          <a:bodyPr wrap="square" lIns="0" rIns="0" tIns="0" bIns="0" anchor="t">
            <a:spAutoFit/>
          </a:bodyPr>
          <a:lstStyle/>
          <a:p>
            <a:pPr algn="l"/>
            <a:r>
              <a:rPr sz="3600" b="1" i="0">
                <a:solidFill>
                  <a:srgbClr val="DB2777"/>
                </a:solidFill>
                <a:latin typeface="Arial"/>
              </a:rPr>
              <a:t>4 s</a:t>
            </a:r>
          </a:p>
        </p:txBody>
      </p:sp>
      <p:sp>
        <p:nvSpPr>
          <p:cNvPr id="23" name="TextBox 22"/>
          <p:cNvSpPr txBox="1"/>
          <p:nvPr/>
        </p:nvSpPr>
        <p:spPr>
          <a:xfrm>
            <a:off x="3611880" y="5230368"/>
            <a:ext cx="2377440" cy="731520"/>
          </a:xfrm>
          <a:prstGeom prst="rect">
            <a:avLst/>
          </a:prstGeom>
          <a:noFill/>
        </p:spPr>
        <p:txBody>
          <a:bodyPr wrap="square" lIns="0" rIns="0" tIns="0" bIns="0" anchor="t">
            <a:spAutoFit/>
          </a:bodyPr>
          <a:lstStyle/>
          <a:p>
            <a:pPr algn="l"/>
            <a:r>
              <a:rPr sz="1300" b="0" i="0">
                <a:solidFill>
                  <a:srgbClr val="DDD6FE"/>
                </a:solidFill>
                <a:latin typeface="Calibri"/>
              </a:rPr>
              <a:t>gap between voice reminders until the user touches</a:t>
            </a:r>
          </a:p>
        </p:txBody>
      </p:sp>
      <p:sp>
        <p:nvSpPr>
          <p:cNvPr id="24" name="TextBox 23"/>
          <p:cNvSpPr txBox="1"/>
          <p:nvPr/>
        </p:nvSpPr>
        <p:spPr>
          <a:xfrm>
            <a:off x="6355080" y="4498848"/>
            <a:ext cx="2468880" cy="685800"/>
          </a:xfrm>
          <a:prstGeom prst="rect">
            <a:avLst/>
          </a:prstGeom>
          <a:noFill/>
        </p:spPr>
        <p:txBody>
          <a:bodyPr wrap="square" lIns="0" rIns="0" tIns="0" bIns="0" anchor="t">
            <a:spAutoFit/>
          </a:bodyPr>
          <a:lstStyle/>
          <a:p>
            <a:pPr algn="l"/>
            <a:r>
              <a:rPr sz="3600" b="1" i="0">
                <a:solidFill>
                  <a:srgbClr val="DB2777"/>
                </a:solidFill>
                <a:latin typeface="Arial"/>
              </a:rPr>
              <a:t>800</a:t>
            </a:r>
          </a:p>
        </p:txBody>
      </p:sp>
      <p:sp>
        <p:nvSpPr>
          <p:cNvPr id="25" name="TextBox 24"/>
          <p:cNvSpPr txBox="1"/>
          <p:nvPr/>
        </p:nvSpPr>
        <p:spPr>
          <a:xfrm>
            <a:off x="6355080" y="5230368"/>
            <a:ext cx="2377440" cy="731520"/>
          </a:xfrm>
          <a:prstGeom prst="rect">
            <a:avLst/>
          </a:prstGeom>
          <a:noFill/>
        </p:spPr>
        <p:txBody>
          <a:bodyPr wrap="square" lIns="0" rIns="0" tIns="0" bIns="0" anchor="t">
            <a:spAutoFit/>
          </a:bodyPr>
          <a:lstStyle/>
          <a:p>
            <a:pPr algn="l"/>
            <a:r>
              <a:rPr sz="1300" b="0" i="0">
                <a:solidFill>
                  <a:srgbClr val="DDD6FE"/>
                </a:solidFill>
                <a:latin typeface="Calibri"/>
              </a:rPr>
              <a:t>gas reading that triggers the SMS and call alert</a:t>
            </a:r>
          </a:p>
        </p:txBody>
      </p:sp>
      <p:sp>
        <p:nvSpPr>
          <p:cNvPr id="26" name="TextBox 25"/>
          <p:cNvSpPr txBox="1"/>
          <p:nvPr/>
        </p:nvSpPr>
        <p:spPr>
          <a:xfrm>
            <a:off x="9098280" y="4498848"/>
            <a:ext cx="2468880" cy="685800"/>
          </a:xfrm>
          <a:prstGeom prst="rect">
            <a:avLst/>
          </a:prstGeom>
          <a:noFill/>
        </p:spPr>
        <p:txBody>
          <a:bodyPr wrap="square" lIns="0" rIns="0" tIns="0" bIns="0" anchor="t">
            <a:spAutoFit/>
          </a:bodyPr>
          <a:lstStyle/>
          <a:p>
            <a:pPr algn="l"/>
            <a:r>
              <a:rPr sz="3600" b="1" i="0">
                <a:solidFill>
                  <a:srgbClr val="DB2777"/>
                </a:solidFill>
                <a:latin typeface="Arial"/>
              </a:rPr>
              <a:t>30 s</a:t>
            </a:r>
          </a:p>
        </p:txBody>
      </p:sp>
      <p:sp>
        <p:nvSpPr>
          <p:cNvPr id="27" name="TextBox 26"/>
          <p:cNvSpPr txBox="1"/>
          <p:nvPr/>
        </p:nvSpPr>
        <p:spPr>
          <a:xfrm>
            <a:off x="9098280" y="5230368"/>
            <a:ext cx="2377440" cy="731520"/>
          </a:xfrm>
          <a:prstGeom prst="rect">
            <a:avLst/>
          </a:prstGeom>
          <a:noFill/>
        </p:spPr>
        <p:txBody>
          <a:bodyPr wrap="square" lIns="0" rIns="0" tIns="0" bIns="0" anchor="t">
            <a:spAutoFit/>
          </a:bodyPr>
          <a:lstStyle/>
          <a:p>
            <a:pPr algn="l"/>
            <a:r>
              <a:rPr sz="1300" b="0" i="0">
                <a:solidFill>
                  <a:srgbClr val="DDD6FE"/>
                </a:solidFill>
                <a:latin typeface="Calibri"/>
              </a:rPr>
              <a:t>PIR warm-up before movement is detected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WHAT I WORKED ON</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My Contribution</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03</a:t>
            </a:r>
          </a:p>
        </p:txBody>
      </p:sp>
      <p:sp>
        <p:nvSpPr>
          <p:cNvPr id="7" name="Rounded Rectangle 6"/>
          <p:cNvSpPr/>
          <p:nvPr/>
        </p:nvSpPr>
        <p:spPr>
          <a:xfrm>
            <a:off x="548640" y="1600200"/>
            <a:ext cx="6766560" cy="877824"/>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1837943"/>
            <a:ext cx="402336" cy="402336"/>
          </a:xfrm>
          <a:prstGeom prst="roundRect">
            <a:avLst>
              <a:gd name="adj" fmla="val 25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FFFFFF"/>
                </a:solidFill>
                <a:latin typeface="Calibri"/>
              </a:rPr>
              <a:t>1</a:t>
            </a:r>
          </a:p>
        </p:txBody>
      </p:sp>
      <p:sp>
        <p:nvSpPr>
          <p:cNvPr id="9" name="TextBox 8"/>
          <p:cNvSpPr txBox="1"/>
          <p:nvPr/>
        </p:nvSpPr>
        <p:spPr>
          <a:xfrm>
            <a:off x="1371600" y="1600200"/>
            <a:ext cx="2514600" cy="877824"/>
          </a:xfrm>
          <a:prstGeom prst="rect">
            <a:avLst/>
          </a:prstGeom>
          <a:noFill/>
        </p:spPr>
        <p:txBody>
          <a:bodyPr wrap="square" lIns="0" rIns="0" tIns="0" bIns="0" anchor="ctr">
            <a:spAutoFit/>
          </a:bodyPr>
          <a:lstStyle/>
          <a:p>
            <a:pPr algn="l"/>
            <a:r>
              <a:rPr sz="1500" b="1" i="0">
                <a:solidFill>
                  <a:srgbClr val="1E1B4B"/>
                </a:solidFill>
                <a:latin typeface="Arial"/>
              </a:rPr>
              <a:t>Workflow Diagram</a:t>
            </a:r>
          </a:p>
        </p:txBody>
      </p:sp>
      <p:sp>
        <p:nvSpPr>
          <p:cNvPr id="10" name="TextBox 9"/>
          <p:cNvSpPr txBox="1"/>
          <p:nvPr/>
        </p:nvSpPr>
        <p:spPr>
          <a:xfrm>
            <a:off x="3931920" y="1600200"/>
            <a:ext cx="3200400" cy="877824"/>
          </a:xfrm>
          <a:prstGeom prst="rect">
            <a:avLst/>
          </a:prstGeom>
          <a:noFill/>
        </p:spPr>
        <p:txBody>
          <a:bodyPr wrap="square" lIns="0" rIns="0" tIns="0" bIns="0" anchor="ctr">
            <a:spAutoFit/>
          </a:bodyPr>
          <a:lstStyle/>
          <a:p>
            <a:pPr algn="l"/>
            <a:r>
              <a:rPr sz="1250" b="0" i="0">
                <a:solidFill>
                  <a:srgbClr val="334155"/>
                </a:solidFill>
                <a:latin typeface="Calibri"/>
              </a:rPr>
              <a:t>Flowchart of the main loop: gas check, medicine time, reminder and touch.</a:t>
            </a:r>
          </a:p>
        </p:txBody>
      </p:sp>
      <p:sp>
        <p:nvSpPr>
          <p:cNvPr id="11" name="Rounded Rectangle 10"/>
          <p:cNvSpPr/>
          <p:nvPr/>
        </p:nvSpPr>
        <p:spPr>
          <a:xfrm>
            <a:off x="548640" y="2697480"/>
            <a:ext cx="6766560" cy="877824"/>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9808" y="2935224"/>
            <a:ext cx="402336" cy="402336"/>
          </a:xfrm>
          <a:prstGeom prst="roundRect">
            <a:avLst>
              <a:gd name="adj" fmla="val 25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FFFFFF"/>
                </a:solidFill>
                <a:latin typeface="Calibri"/>
              </a:rPr>
              <a:t>2</a:t>
            </a:r>
          </a:p>
        </p:txBody>
      </p:sp>
      <p:sp>
        <p:nvSpPr>
          <p:cNvPr id="13" name="TextBox 12"/>
          <p:cNvSpPr txBox="1"/>
          <p:nvPr/>
        </p:nvSpPr>
        <p:spPr>
          <a:xfrm>
            <a:off x="1371600" y="2697480"/>
            <a:ext cx="2514600" cy="877824"/>
          </a:xfrm>
          <a:prstGeom prst="rect">
            <a:avLst/>
          </a:prstGeom>
          <a:noFill/>
        </p:spPr>
        <p:txBody>
          <a:bodyPr wrap="square" lIns="0" rIns="0" tIns="0" bIns="0" anchor="ctr">
            <a:spAutoFit/>
          </a:bodyPr>
          <a:lstStyle/>
          <a:p>
            <a:pPr algn="l"/>
            <a:r>
              <a:rPr sz="1500" b="1" i="0">
                <a:solidFill>
                  <a:srgbClr val="1E1B4B"/>
                </a:solidFill>
                <a:latin typeface="Arial"/>
              </a:rPr>
              <a:t>Code: PIR &amp; Alarm Setting</a:t>
            </a:r>
          </a:p>
        </p:txBody>
      </p:sp>
      <p:sp>
        <p:nvSpPr>
          <p:cNvPr id="14" name="TextBox 13"/>
          <p:cNvSpPr txBox="1"/>
          <p:nvPr/>
        </p:nvSpPr>
        <p:spPr>
          <a:xfrm>
            <a:off x="3931920" y="2697480"/>
            <a:ext cx="3200400" cy="877824"/>
          </a:xfrm>
          <a:prstGeom prst="rect">
            <a:avLst/>
          </a:prstGeom>
          <a:noFill/>
        </p:spPr>
        <p:txBody>
          <a:bodyPr wrap="square" lIns="0" rIns="0" tIns="0" bIns="0" anchor="ctr">
            <a:spAutoFit/>
          </a:bodyPr>
          <a:lstStyle/>
          <a:p>
            <a:pPr algn="l"/>
            <a:r>
              <a:rPr sz="1250" b="0" i="0">
                <a:solidFill>
                  <a:srgbClr val="334155"/>
                </a:solidFill>
                <a:latin typeface="Calibri"/>
              </a:rPr>
              <a:t>Movement detection, and setting 3 daily alarms with the rotary encoder.</a:t>
            </a:r>
          </a:p>
        </p:txBody>
      </p:sp>
      <p:sp>
        <p:nvSpPr>
          <p:cNvPr id="15" name="Rounded Rectangle 14"/>
          <p:cNvSpPr/>
          <p:nvPr/>
        </p:nvSpPr>
        <p:spPr>
          <a:xfrm>
            <a:off x="548640" y="3794760"/>
            <a:ext cx="6766560" cy="877824"/>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808" y="4032504"/>
            <a:ext cx="402336" cy="402336"/>
          </a:xfrm>
          <a:prstGeom prst="roundRect">
            <a:avLst>
              <a:gd name="adj" fmla="val 25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FFFFFF"/>
                </a:solidFill>
                <a:latin typeface="Calibri"/>
              </a:rPr>
              <a:t>3</a:t>
            </a:r>
          </a:p>
        </p:txBody>
      </p:sp>
      <p:sp>
        <p:nvSpPr>
          <p:cNvPr id="17" name="TextBox 16"/>
          <p:cNvSpPr txBox="1"/>
          <p:nvPr/>
        </p:nvSpPr>
        <p:spPr>
          <a:xfrm>
            <a:off x="1371600" y="3794760"/>
            <a:ext cx="2514600" cy="877824"/>
          </a:xfrm>
          <a:prstGeom prst="rect">
            <a:avLst/>
          </a:prstGeom>
          <a:noFill/>
        </p:spPr>
        <p:txBody>
          <a:bodyPr wrap="square" lIns="0" rIns="0" tIns="0" bIns="0" anchor="ctr">
            <a:spAutoFit/>
          </a:bodyPr>
          <a:lstStyle/>
          <a:p>
            <a:pPr algn="l"/>
            <a:r>
              <a:rPr sz="1500" b="1" i="0">
                <a:solidFill>
                  <a:srgbClr val="1E1B4B"/>
                </a:solidFill>
                <a:latin typeface="Arial"/>
              </a:rPr>
              <a:t>Code: RTC Time</a:t>
            </a:r>
          </a:p>
        </p:txBody>
      </p:sp>
      <p:sp>
        <p:nvSpPr>
          <p:cNvPr id="18" name="TextBox 17"/>
          <p:cNvSpPr txBox="1"/>
          <p:nvPr/>
        </p:nvSpPr>
        <p:spPr>
          <a:xfrm>
            <a:off x="3931920" y="3794760"/>
            <a:ext cx="3200400" cy="877824"/>
          </a:xfrm>
          <a:prstGeom prst="rect">
            <a:avLst/>
          </a:prstGeom>
          <a:noFill/>
        </p:spPr>
        <p:txBody>
          <a:bodyPr wrap="square" lIns="0" rIns="0" tIns="0" bIns="0" anchor="ctr">
            <a:spAutoFit/>
          </a:bodyPr>
          <a:lstStyle/>
          <a:p>
            <a:pPr algn="l"/>
            <a:r>
              <a:rPr sz="1250" b="0" i="0">
                <a:solidFill>
                  <a:srgbClr val="334155"/>
                </a:solidFill>
                <a:latin typeface="Calibri"/>
              </a:rPr>
              <a:t>Reading the real time from the DS3231 RTC module over I2C.</a:t>
            </a:r>
          </a:p>
        </p:txBody>
      </p:sp>
      <p:sp>
        <p:nvSpPr>
          <p:cNvPr id="19" name="Rounded Rectangle 18"/>
          <p:cNvSpPr/>
          <p:nvPr/>
        </p:nvSpPr>
        <p:spPr>
          <a:xfrm>
            <a:off x="548640" y="4892040"/>
            <a:ext cx="6766560" cy="877824"/>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9808" y="5129783"/>
            <a:ext cx="402336" cy="402336"/>
          </a:xfrm>
          <a:prstGeom prst="roundRect">
            <a:avLst>
              <a:gd name="adj" fmla="val 25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FFFFFF"/>
                </a:solidFill>
                <a:latin typeface="Calibri"/>
              </a:rPr>
              <a:t>4</a:t>
            </a:r>
          </a:p>
        </p:txBody>
      </p:sp>
      <p:sp>
        <p:nvSpPr>
          <p:cNvPr id="21" name="TextBox 20"/>
          <p:cNvSpPr txBox="1"/>
          <p:nvPr/>
        </p:nvSpPr>
        <p:spPr>
          <a:xfrm>
            <a:off x="1371600" y="4892040"/>
            <a:ext cx="2514600" cy="877824"/>
          </a:xfrm>
          <a:prstGeom prst="rect">
            <a:avLst/>
          </a:prstGeom>
          <a:noFill/>
        </p:spPr>
        <p:txBody>
          <a:bodyPr wrap="square" lIns="0" rIns="0" tIns="0" bIns="0" anchor="ctr">
            <a:spAutoFit/>
          </a:bodyPr>
          <a:lstStyle/>
          <a:p>
            <a:pPr algn="l"/>
            <a:r>
              <a:rPr sz="1500" b="1" i="0">
                <a:solidFill>
                  <a:srgbClr val="1E1B4B"/>
                </a:solidFill>
                <a:latin typeface="Arial"/>
              </a:rPr>
              <a:t>Code: OLED &amp; Voice</a:t>
            </a:r>
          </a:p>
        </p:txBody>
      </p:sp>
      <p:sp>
        <p:nvSpPr>
          <p:cNvPr id="22" name="TextBox 21"/>
          <p:cNvSpPr txBox="1"/>
          <p:nvPr/>
        </p:nvSpPr>
        <p:spPr>
          <a:xfrm>
            <a:off x="3931920" y="4892040"/>
            <a:ext cx="3200400" cy="877824"/>
          </a:xfrm>
          <a:prstGeom prst="rect">
            <a:avLst/>
          </a:prstGeom>
          <a:noFill/>
        </p:spPr>
        <p:txBody>
          <a:bodyPr wrap="square" lIns="0" rIns="0" tIns="0" bIns="0" anchor="ctr">
            <a:spAutoFit/>
          </a:bodyPr>
          <a:lstStyle/>
          <a:p>
            <a:pPr algn="l"/>
            <a:r>
              <a:rPr sz="1250" b="0" i="0">
                <a:solidFill>
                  <a:srgbClr val="334155"/>
                </a:solidFill>
                <a:latin typeface="Calibri"/>
              </a:rPr>
              <a:t>Drawing each OLED screen, and loading the Bangla voice clips.</a:t>
            </a:r>
          </a:p>
        </p:txBody>
      </p:sp>
      <p:sp>
        <p:nvSpPr>
          <p:cNvPr id="23" name="Rounded Rectangle 22"/>
          <p:cNvSpPr/>
          <p:nvPr/>
        </p:nvSpPr>
        <p:spPr>
          <a:xfrm>
            <a:off x="7543800" y="1600200"/>
            <a:ext cx="4041648" cy="4352544"/>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92440" y="1783080"/>
            <a:ext cx="2926080" cy="2926080"/>
          </a:xfrm>
          <a:prstGeom prst="ellipse">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g_s1.png"/>
          <p:cNvPicPr>
            <a:picLocks noChangeAspect="1"/>
          </p:cNvPicPr>
          <p:nvPr/>
        </p:nvPicPr>
        <p:blipFill>
          <a:blip r:embed="rId2"/>
          <a:stretch>
            <a:fillRect/>
          </a:stretch>
        </p:blipFill>
        <p:spPr>
          <a:xfrm>
            <a:off x="7772400" y="1965960"/>
            <a:ext cx="3566160" cy="2662733"/>
          </a:xfrm>
          <a:prstGeom prst="rect">
            <a:avLst/>
          </a:prstGeom>
        </p:spPr>
      </p:pic>
      <p:sp>
        <p:nvSpPr>
          <p:cNvPr id="26" name="TextBox 25"/>
          <p:cNvSpPr txBox="1"/>
          <p:nvPr/>
        </p:nvSpPr>
        <p:spPr>
          <a:xfrm>
            <a:off x="7863840" y="4709160"/>
            <a:ext cx="3429000" cy="274320"/>
          </a:xfrm>
          <a:prstGeom prst="rect">
            <a:avLst/>
          </a:prstGeom>
          <a:noFill/>
        </p:spPr>
        <p:txBody>
          <a:bodyPr wrap="square" lIns="0" rIns="0" tIns="0" bIns="0" anchor="t">
            <a:spAutoFit/>
          </a:bodyPr>
          <a:lstStyle/>
          <a:p>
            <a:pPr algn="l"/>
            <a:r>
              <a:rPr sz="1200" b="1" i="0">
                <a:solidFill>
                  <a:srgbClr val="DB2777"/>
                </a:solidFill>
                <a:latin typeface="Calibri"/>
              </a:rPr>
              <a:t>MY ROLE</a:t>
            </a:r>
          </a:p>
        </p:txBody>
      </p:sp>
      <p:sp>
        <p:nvSpPr>
          <p:cNvPr id="27" name="TextBox 26"/>
          <p:cNvSpPr txBox="1"/>
          <p:nvPr/>
        </p:nvSpPr>
        <p:spPr>
          <a:xfrm>
            <a:off x="7863840" y="4983480"/>
            <a:ext cx="3474720" cy="914400"/>
          </a:xfrm>
          <a:prstGeom prst="rect">
            <a:avLst/>
          </a:prstGeom>
          <a:noFill/>
        </p:spPr>
        <p:txBody>
          <a:bodyPr wrap="square" lIns="0" rIns="0" tIns="0" bIns="0" anchor="t">
            <a:spAutoFit/>
          </a:bodyPr>
          <a:lstStyle/>
          <a:p>
            <a:pPr algn="l"/>
            <a:r>
              <a:rPr sz="1350" b="0" i="0">
                <a:solidFill>
                  <a:srgbClr val="334155"/>
                </a:solidFill>
                <a:latin typeface="Calibri"/>
              </a:rPr>
              <a:t>I mapped PicoBot’s main loop as a flowchart, and explained five of its code logics.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MAIN LOOP</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Robot Workflow Diagram</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04</a:t>
            </a:r>
          </a:p>
        </p:txBody>
      </p:sp>
      <p:cxnSp>
        <p:nvCxnSpPr>
          <p:cNvPr id="7" name="Connector 6"/>
          <p:cNvCxnSpPr/>
          <p:nvPr/>
        </p:nvCxnSpPr>
        <p:spPr>
          <a:xfrm>
            <a:off x="1828800" y="2103120"/>
            <a:ext cx="48006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909060" y="2103120"/>
            <a:ext cx="41148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20740" y="2103120"/>
            <a:ext cx="52578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183879" y="2103120"/>
            <a:ext cx="777241"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75320" y="1847087"/>
            <a:ext cx="411480" cy="201168"/>
          </a:xfrm>
          <a:prstGeom prst="rect">
            <a:avLst/>
          </a:prstGeom>
          <a:noFill/>
        </p:spPr>
        <p:txBody>
          <a:bodyPr wrap="square" lIns="0" rIns="0" tIns="0" bIns="0" anchor="ctr">
            <a:spAutoFit/>
          </a:bodyPr>
          <a:lstStyle/>
          <a:p>
            <a:pPr algn="l"/>
            <a:r>
              <a:rPr sz="1100" b="1" i="0">
                <a:solidFill>
                  <a:srgbClr val="7C3AED"/>
                </a:solidFill>
                <a:latin typeface="Calibri"/>
              </a:rPr>
              <a:t>Yes</a:t>
            </a:r>
          </a:p>
        </p:txBody>
      </p:sp>
      <p:cxnSp>
        <p:nvCxnSpPr>
          <p:cNvPr id="12" name="Connector 11"/>
          <p:cNvCxnSpPr/>
          <p:nvPr/>
        </p:nvCxnSpPr>
        <p:spPr>
          <a:xfrm flipV="1">
            <a:off x="9966960" y="1508760"/>
            <a:ext cx="0" cy="251459"/>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120640" y="1508760"/>
            <a:ext cx="484632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20640" y="1508760"/>
            <a:ext cx="0" cy="251459"/>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315200" y="2606039"/>
            <a:ext cx="0" cy="502921"/>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88352" y="2651760"/>
            <a:ext cx="411480" cy="201168"/>
          </a:xfrm>
          <a:prstGeom prst="rect">
            <a:avLst/>
          </a:prstGeom>
          <a:noFill/>
        </p:spPr>
        <p:txBody>
          <a:bodyPr wrap="square" lIns="0" rIns="0" tIns="0" bIns="0" anchor="ctr">
            <a:spAutoFit/>
          </a:bodyPr>
          <a:lstStyle/>
          <a:p>
            <a:pPr algn="l"/>
            <a:r>
              <a:rPr sz="1100" b="1" i="0">
                <a:solidFill>
                  <a:srgbClr val="E11D48"/>
                </a:solidFill>
                <a:latin typeface="Calibri"/>
              </a:rPr>
              <a:t>No</a:t>
            </a:r>
          </a:p>
        </p:txBody>
      </p:sp>
      <p:cxnSp>
        <p:nvCxnSpPr>
          <p:cNvPr id="17" name="Connector 16"/>
          <p:cNvCxnSpPr/>
          <p:nvPr/>
        </p:nvCxnSpPr>
        <p:spPr>
          <a:xfrm flipH="1">
            <a:off x="5920740" y="3611880"/>
            <a:ext cx="52578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89320" y="3355848"/>
            <a:ext cx="411480" cy="201168"/>
          </a:xfrm>
          <a:prstGeom prst="rect">
            <a:avLst/>
          </a:prstGeom>
          <a:noFill/>
        </p:spPr>
        <p:txBody>
          <a:bodyPr wrap="square" lIns="0" rIns="0" tIns="0" bIns="0" anchor="ctr">
            <a:spAutoFit/>
          </a:bodyPr>
          <a:lstStyle/>
          <a:p>
            <a:pPr algn="l"/>
            <a:r>
              <a:rPr sz="1100" b="1" i="0">
                <a:solidFill>
                  <a:srgbClr val="E11D48"/>
                </a:solidFill>
                <a:latin typeface="Calibri"/>
              </a:rPr>
              <a:t>No</a:t>
            </a:r>
          </a:p>
        </p:txBody>
      </p:sp>
      <p:cxnSp>
        <p:nvCxnSpPr>
          <p:cNvPr id="19" name="Connector 18"/>
          <p:cNvCxnSpPr/>
          <p:nvPr/>
        </p:nvCxnSpPr>
        <p:spPr>
          <a:xfrm>
            <a:off x="8183879" y="3611880"/>
            <a:ext cx="777241"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75320" y="3355848"/>
            <a:ext cx="411480" cy="201168"/>
          </a:xfrm>
          <a:prstGeom prst="rect">
            <a:avLst/>
          </a:prstGeom>
          <a:noFill/>
        </p:spPr>
        <p:txBody>
          <a:bodyPr wrap="square" lIns="0" rIns="0" tIns="0" bIns="0" anchor="ctr">
            <a:spAutoFit/>
          </a:bodyPr>
          <a:lstStyle/>
          <a:p>
            <a:pPr algn="l"/>
            <a:r>
              <a:rPr sz="1100" b="1" i="0">
                <a:solidFill>
                  <a:srgbClr val="7C3AED"/>
                </a:solidFill>
                <a:latin typeface="Calibri"/>
              </a:rPr>
              <a:t>Yes</a:t>
            </a:r>
          </a:p>
        </p:txBody>
      </p:sp>
      <p:cxnSp>
        <p:nvCxnSpPr>
          <p:cNvPr id="21" name="Connector 20"/>
          <p:cNvCxnSpPr/>
          <p:nvPr/>
        </p:nvCxnSpPr>
        <p:spPr>
          <a:xfrm flipV="1">
            <a:off x="5120640" y="2446020"/>
            <a:ext cx="0" cy="82296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966960" y="3954780"/>
            <a:ext cx="0" cy="70866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8115300" y="5166360"/>
            <a:ext cx="98298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0" y="4910328"/>
            <a:ext cx="411480" cy="201168"/>
          </a:xfrm>
          <a:prstGeom prst="rect">
            <a:avLst/>
          </a:prstGeom>
          <a:noFill/>
        </p:spPr>
        <p:txBody>
          <a:bodyPr wrap="square" lIns="0" rIns="0" tIns="0" bIns="0" anchor="ctr">
            <a:spAutoFit/>
          </a:bodyPr>
          <a:lstStyle/>
          <a:p>
            <a:pPr algn="l"/>
            <a:r>
              <a:rPr sz="1100" b="1" i="0">
                <a:solidFill>
                  <a:srgbClr val="7C3AED"/>
                </a:solidFill>
                <a:latin typeface="Calibri"/>
              </a:rPr>
              <a:t>Yes</a:t>
            </a:r>
          </a:p>
        </p:txBody>
      </p:sp>
      <p:cxnSp>
        <p:nvCxnSpPr>
          <p:cNvPr id="25" name="Connector 24"/>
          <p:cNvCxnSpPr/>
          <p:nvPr/>
        </p:nvCxnSpPr>
        <p:spPr>
          <a:xfrm>
            <a:off x="10835640" y="5166360"/>
            <a:ext cx="54864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1384280" y="3611880"/>
            <a:ext cx="0" cy="155448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0972800" y="3611880"/>
            <a:ext cx="411480" cy="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881360" y="4910328"/>
            <a:ext cx="411480" cy="201168"/>
          </a:xfrm>
          <a:prstGeom prst="rect">
            <a:avLst/>
          </a:prstGeom>
          <a:noFill/>
        </p:spPr>
        <p:txBody>
          <a:bodyPr wrap="square" lIns="0" rIns="0" tIns="0" bIns="0" anchor="ctr">
            <a:spAutoFit/>
          </a:bodyPr>
          <a:lstStyle/>
          <a:p>
            <a:pPr algn="l"/>
            <a:r>
              <a:rPr sz="1100" b="1" i="0">
                <a:solidFill>
                  <a:srgbClr val="E11D48"/>
                </a:solidFill>
                <a:latin typeface="Calibri"/>
              </a:rPr>
              <a:t>No</a:t>
            </a:r>
          </a:p>
        </p:txBody>
      </p:sp>
      <p:cxnSp>
        <p:nvCxnSpPr>
          <p:cNvPr id="29" name="Connector 28"/>
          <p:cNvCxnSpPr/>
          <p:nvPr/>
        </p:nvCxnSpPr>
        <p:spPr>
          <a:xfrm flipH="1">
            <a:off x="5120640" y="5166360"/>
            <a:ext cx="139446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120640" y="3954780"/>
            <a:ext cx="0" cy="1211580"/>
          </a:xfrm>
          <a:prstGeom prst="line">
            <a:avLst/>
          </a:prstGeom>
          <a:ln w="1905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48640" y="1783079"/>
            <a:ext cx="1280160" cy="640080"/>
          </a:xfrm>
          <a:prstGeom prst="roundRect">
            <a:avLst>
              <a:gd name="adj" fmla="val 50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300" b="1">
                <a:solidFill>
                  <a:srgbClr val="DB2777"/>
                </a:solidFill>
                <a:latin typeface="Calibri"/>
              </a:rPr>
              <a:t>START</a:t>
            </a:r>
          </a:p>
        </p:txBody>
      </p:sp>
      <p:sp>
        <p:nvSpPr>
          <p:cNvPr id="32" name="Rounded Rectangle 31"/>
          <p:cNvSpPr/>
          <p:nvPr/>
        </p:nvSpPr>
        <p:spPr>
          <a:xfrm>
            <a:off x="2308860" y="1760219"/>
            <a:ext cx="1600200" cy="685800"/>
          </a:xfrm>
          <a:prstGeom prst="roundRect">
            <a:avLst>
              <a:gd name="adj" fmla="val 15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Initialize sensors, RTC, voice &amp; SIM800L</a:t>
            </a:r>
          </a:p>
        </p:txBody>
      </p:sp>
      <p:sp>
        <p:nvSpPr>
          <p:cNvPr id="33" name="Rounded Rectangle 32"/>
          <p:cNvSpPr/>
          <p:nvPr/>
        </p:nvSpPr>
        <p:spPr>
          <a:xfrm>
            <a:off x="4320540" y="1760219"/>
            <a:ext cx="1600200" cy="685800"/>
          </a:xfrm>
          <a:prstGeom prst="roundRect">
            <a:avLst>
              <a:gd name="adj" fmla="val 15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Read time (RTC) &amp; check motion (PIR)</a:t>
            </a:r>
          </a:p>
        </p:txBody>
      </p:sp>
      <p:sp>
        <p:nvSpPr>
          <p:cNvPr id="34" name="Diamond 33"/>
          <p:cNvSpPr/>
          <p:nvPr/>
        </p:nvSpPr>
        <p:spPr>
          <a:xfrm>
            <a:off x="6446520" y="1600199"/>
            <a:ext cx="1737360" cy="1005840"/>
          </a:xfrm>
          <a:prstGeom prst="diamond">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Gas &gt; 800?</a:t>
            </a:r>
          </a:p>
        </p:txBody>
      </p:sp>
      <p:sp>
        <p:nvSpPr>
          <p:cNvPr id="35" name="Rounded Rectangle 34"/>
          <p:cNvSpPr/>
          <p:nvPr/>
        </p:nvSpPr>
        <p:spPr>
          <a:xfrm>
            <a:off x="8961120" y="1760219"/>
            <a:ext cx="2011680" cy="685800"/>
          </a:xfrm>
          <a:prstGeom prst="roundRect">
            <a:avLst>
              <a:gd name="adj" fmla="val 15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FFFFFF"/>
                </a:solidFill>
                <a:latin typeface="Calibri"/>
              </a:rPr>
              <a:t>Gas warning voice + SMS &amp; call caregiver</a:t>
            </a:r>
          </a:p>
        </p:txBody>
      </p:sp>
      <p:sp>
        <p:nvSpPr>
          <p:cNvPr id="36" name="Diamond 35"/>
          <p:cNvSpPr/>
          <p:nvPr/>
        </p:nvSpPr>
        <p:spPr>
          <a:xfrm>
            <a:off x="6446520" y="3108960"/>
            <a:ext cx="1737360" cy="1005840"/>
          </a:xfrm>
          <a:prstGeom prst="diamond">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Medicine time?</a:t>
            </a:r>
          </a:p>
        </p:txBody>
      </p:sp>
      <p:sp>
        <p:nvSpPr>
          <p:cNvPr id="37" name="Rounded Rectangle 36"/>
          <p:cNvSpPr/>
          <p:nvPr/>
        </p:nvSpPr>
        <p:spPr>
          <a:xfrm>
            <a:off x="4320540" y="3268980"/>
            <a:ext cx="1600200" cy="685800"/>
          </a:xfrm>
          <a:prstGeom prst="roundRect">
            <a:avLst>
              <a:gd name="adj" fmla="val 15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Show clock screen (+ “Movement”)</a:t>
            </a:r>
          </a:p>
        </p:txBody>
      </p:sp>
      <p:sp>
        <p:nvSpPr>
          <p:cNvPr id="38" name="Rounded Rectangle 37"/>
          <p:cNvSpPr/>
          <p:nvPr/>
        </p:nvSpPr>
        <p:spPr>
          <a:xfrm>
            <a:off x="8961120" y="3268980"/>
            <a:ext cx="2011680" cy="685800"/>
          </a:xfrm>
          <a:prstGeom prst="roundRect">
            <a:avLst>
              <a:gd name="adj" fmla="val 15000"/>
            </a:avLst>
          </a:prstGeom>
          <a:solidFill>
            <a:srgbClr val="FCE7F3"/>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Sad face + “take medicine” voice</a:t>
            </a:r>
          </a:p>
        </p:txBody>
      </p:sp>
      <p:sp>
        <p:nvSpPr>
          <p:cNvPr id="39" name="Diamond 38"/>
          <p:cNvSpPr/>
          <p:nvPr/>
        </p:nvSpPr>
        <p:spPr>
          <a:xfrm>
            <a:off x="9098280" y="4663440"/>
            <a:ext cx="1737360" cy="1005840"/>
          </a:xfrm>
          <a:prstGeom prst="diamond">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User touched?</a:t>
            </a:r>
          </a:p>
        </p:txBody>
      </p:sp>
      <p:sp>
        <p:nvSpPr>
          <p:cNvPr id="40" name="Rounded Rectangle 39"/>
          <p:cNvSpPr/>
          <p:nvPr/>
        </p:nvSpPr>
        <p:spPr>
          <a:xfrm>
            <a:off x="6515100" y="4823460"/>
            <a:ext cx="1600200" cy="685800"/>
          </a:xfrm>
          <a:prstGeom prst="roundRect">
            <a:avLst>
              <a:gd name="adj" fmla="val 15000"/>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50" b="1">
                <a:solidFill>
                  <a:srgbClr val="1E1B4B"/>
                </a:solidFill>
                <a:latin typeface="Calibri"/>
              </a:rPr>
              <a:t>Happy face + “thank you” voice</a:t>
            </a:r>
          </a:p>
        </p:txBody>
      </p:sp>
      <p:sp>
        <p:nvSpPr>
          <p:cNvPr id="41" name="TextBox 40"/>
          <p:cNvSpPr txBox="1"/>
          <p:nvPr/>
        </p:nvSpPr>
        <p:spPr>
          <a:xfrm>
            <a:off x="548640" y="3200400"/>
            <a:ext cx="3657600" cy="1463040"/>
          </a:xfrm>
          <a:prstGeom prst="rect">
            <a:avLst/>
          </a:prstGeom>
          <a:noFill/>
        </p:spPr>
        <p:txBody>
          <a:bodyPr wrap="square" lIns="0" rIns="0" tIns="0" bIns="0" anchor="t">
            <a:spAutoFit/>
          </a:bodyPr>
          <a:lstStyle/>
          <a:p>
            <a:pPr algn="l"/>
            <a:r>
              <a:rPr sz="1250" b="0" i="0">
                <a:solidFill>
                  <a:srgbClr val="334155"/>
                </a:solidFill>
                <a:latin typeface="Calibri"/>
              </a:rPr>
              <a:t>Every loop checks gas first, so a gas alert overrides the clock and the reminder. Without a touch, the reminder voice repeats every 4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FROM THE PICOBOT CODE</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Code Logic 1: PIR Movement Detection</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05</a:t>
            </a:r>
          </a:p>
        </p:txBody>
      </p:sp>
      <p:sp>
        <p:nvSpPr>
          <p:cNvPr id="7" name="Rounded Rectangle 6"/>
          <p:cNvSpPr/>
          <p:nvPr/>
        </p:nvSpPr>
        <p:spPr>
          <a:xfrm>
            <a:off x="548640" y="1572768"/>
            <a:ext cx="7086600" cy="4572000"/>
          </a:xfrm>
          <a:prstGeom prst="roundRect">
            <a:avLst>
              <a:gd name="adj" fmla="val 3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783080"/>
            <a:ext cx="1051560" cy="310896"/>
          </a:xfrm>
          <a:prstGeom prst="roundRect">
            <a:avLst>
              <a:gd name="adj" fmla="val 5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FFFFFF"/>
                </a:solidFill>
                <a:latin typeface="Calibri"/>
              </a:rPr>
              <a:t>Logic 1</a:t>
            </a:r>
          </a:p>
        </p:txBody>
      </p:sp>
      <p:sp>
        <p:nvSpPr>
          <p:cNvPr id="9" name="TextBox 8"/>
          <p:cNvSpPr txBox="1"/>
          <p:nvPr/>
        </p:nvSpPr>
        <p:spPr>
          <a:xfrm>
            <a:off x="2011680" y="1764792"/>
            <a:ext cx="5486400" cy="347472"/>
          </a:xfrm>
          <a:prstGeom prst="rect">
            <a:avLst/>
          </a:prstGeom>
          <a:noFill/>
        </p:spPr>
        <p:txBody>
          <a:bodyPr wrap="square" lIns="0" rIns="0" tIns="0" bIns="0" anchor="ctr">
            <a:spAutoFit/>
          </a:bodyPr>
          <a:lstStyle/>
          <a:p>
            <a:pPr algn="l"/>
            <a:r>
              <a:rPr sz="1700" b="1" i="0">
                <a:solidFill>
                  <a:srgbClr val="FFFFFF"/>
                </a:solidFill>
                <a:latin typeface="Arial"/>
              </a:rPr>
              <a:t>PIR Movement Detection</a:t>
            </a:r>
          </a:p>
        </p:txBody>
      </p:sp>
      <p:sp>
        <p:nvSpPr>
          <p:cNvPr id="10" name="Rectangle 9"/>
          <p:cNvSpPr/>
          <p:nvPr/>
        </p:nvSpPr>
        <p:spPr>
          <a:xfrm>
            <a:off x="822960" y="2267712"/>
            <a:ext cx="6537960" cy="13716"/>
          </a:xfrm>
          <a:prstGeom prst="rect">
            <a:avLst/>
          </a:prstGeom>
          <a:solidFill>
            <a:srgbClr val="4A4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6675120" cy="3611880"/>
          </a:xfrm>
          <a:prstGeom prst="rect">
            <a:avLst/>
          </a:prstGeom>
          <a:noFill/>
        </p:spPr>
        <p:txBody>
          <a:bodyPr wrap="none" lIns="0" rIns="0" tIns="0" bIns="0">
            <a:spAutoFit/>
          </a:bodyPr>
          <a:lstStyle/>
          <a:p>
            <a:pPr>
              <a:lnSpc>
                <a:spcPct val="100000"/>
              </a:lnSpc>
            </a:pPr>
            <a:r>
              <a:rPr sz="1600" i="1">
                <a:solidFill>
                  <a:srgbClr val="7DD3FC"/>
                </a:solidFill>
                <a:latin typeface="Consolas"/>
              </a:rPr>
              <a:t>// ignore PIR for 30 s after boot</a:t>
            </a:r>
          </a:p>
          <a:p>
            <a:pPr>
              <a:lnSpc>
                <a:spcPct val="100000"/>
              </a:lnSpc>
            </a:pPr>
            <a:r>
              <a:rPr sz="1600" i="0">
                <a:solidFill>
                  <a:srgbClr val="E2E8F0"/>
                </a:solidFill>
                <a:latin typeface="Consolas"/>
              </a:rPr>
              <a:t>if (millis() - bootMs &lt; PIR_WARMUP_MS)</a:t>
            </a:r>
          </a:p>
          <a:p>
            <a:pPr>
              <a:lnSpc>
                <a:spcPct val="100000"/>
              </a:lnSpc>
            </a:pPr>
            <a:r>
              <a:rPr sz="1600" i="0">
                <a:solidFill>
                  <a:srgbClr val="E2E8F0"/>
                </a:solidFill>
                <a:latin typeface="Consolas"/>
              </a:rPr>
              <a:t>  return;</a:t>
            </a:r>
          </a:p>
          <a:p>
            <a:pPr>
              <a:lnSpc>
                <a:spcPct val="100000"/>
              </a:lnSpc>
            </a:pPr>
            <a:r>
              <a:rPr sz="1600">
                <a:latin typeface="Consolas"/>
              </a:rPr>
              <a:t> </a:t>
            </a:r>
          </a:p>
          <a:p>
            <a:pPr>
              <a:lnSpc>
                <a:spcPct val="100000"/>
              </a:lnSpc>
            </a:pPr>
            <a:r>
              <a:rPr sz="1600" i="0">
                <a:solidFill>
                  <a:srgbClr val="E2E8F0"/>
                </a:solidFill>
                <a:latin typeface="Consolas"/>
              </a:rPr>
              <a:t>bool motionNow =</a:t>
            </a:r>
          </a:p>
          <a:p>
            <a:pPr>
              <a:lnSpc>
                <a:spcPct val="100000"/>
              </a:lnSpc>
            </a:pPr>
            <a:r>
              <a:rPr sz="1600" i="0">
                <a:solidFill>
                  <a:srgbClr val="E2E8F0"/>
                </a:solidFill>
                <a:latin typeface="Consolas"/>
              </a:rPr>
              <a:t>    digitalRead(PIN_PIR) == HIGH;</a:t>
            </a:r>
          </a:p>
          <a:p>
            <a:pPr>
              <a:lnSpc>
                <a:spcPct val="100000"/>
              </a:lnSpc>
            </a:pPr>
            <a:r>
              <a:rPr sz="1600" i="0">
                <a:solidFill>
                  <a:srgbClr val="E2E8F0"/>
                </a:solidFill>
                <a:latin typeface="Consolas"/>
              </a:rPr>
              <a:t>if (motionNow)                </a:t>
            </a:r>
            <a:r>
              <a:rPr sz="1600" i="1">
                <a:solidFill>
                  <a:srgbClr val="7DD3FC"/>
                </a:solidFill>
                <a:latin typeface="Consolas"/>
              </a:rPr>
              <a:t>// hold 3 s</a:t>
            </a:r>
          </a:p>
          <a:p>
            <a:pPr>
              <a:lnSpc>
                <a:spcPct val="100000"/>
              </a:lnSpc>
            </a:pPr>
            <a:r>
              <a:rPr sz="1600" i="0">
                <a:solidFill>
                  <a:srgbClr val="E2E8F0"/>
                </a:solidFill>
                <a:latin typeface="Consolas"/>
              </a:rPr>
              <a:t>  motionUntil = millis() + MOTION_HOLD_MS;</a:t>
            </a:r>
          </a:p>
          <a:p>
            <a:pPr>
              <a:lnSpc>
                <a:spcPct val="100000"/>
              </a:lnSpc>
            </a:pPr>
            <a:r>
              <a:rPr sz="1600">
                <a:latin typeface="Consolas"/>
              </a:rPr>
              <a:t> </a:t>
            </a:r>
          </a:p>
          <a:p>
            <a:pPr>
              <a:lnSpc>
                <a:spcPct val="100000"/>
              </a:lnSpc>
            </a:pPr>
            <a:r>
              <a:rPr sz="1600" i="1">
                <a:solidFill>
                  <a:srgbClr val="7DD3FC"/>
                </a:solidFill>
                <a:latin typeface="Consolas"/>
              </a:rPr>
              <a:t>// clock screen: show the label</a:t>
            </a:r>
          </a:p>
          <a:p>
            <a:pPr>
              <a:lnSpc>
                <a:spcPct val="100000"/>
              </a:lnSpc>
            </a:pPr>
            <a:r>
              <a:rPr sz="1600" i="0">
                <a:solidFill>
                  <a:srgbClr val="E2E8F0"/>
                </a:solidFill>
                <a:latin typeface="Consolas"/>
              </a:rPr>
              <a:t>if (millis() &lt; motionUntil)</a:t>
            </a:r>
          </a:p>
          <a:p>
            <a:pPr>
              <a:lnSpc>
                <a:spcPct val="100000"/>
              </a:lnSpc>
            </a:pPr>
            <a:r>
              <a:rPr sz="1600" i="0">
                <a:solidFill>
                  <a:srgbClr val="E2E8F0"/>
                </a:solidFill>
                <a:latin typeface="Consolas"/>
              </a:rPr>
              <a:t>  u8g2.drawStr(dateW + 6, 10, "Movement");</a:t>
            </a:r>
          </a:p>
        </p:txBody>
      </p:sp>
      <p:sp>
        <p:nvSpPr>
          <p:cNvPr id="12" name="Rounded Rectangle 11"/>
          <p:cNvSpPr/>
          <p:nvPr/>
        </p:nvSpPr>
        <p:spPr>
          <a:xfrm>
            <a:off x="7818120" y="1572768"/>
            <a:ext cx="3767328" cy="45720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83080"/>
            <a:ext cx="3291840" cy="320040"/>
          </a:xfrm>
          <a:prstGeom prst="rect">
            <a:avLst/>
          </a:prstGeom>
          <a:noFill/>
        </p:spPr>
        <p:txBody>
          <a:bodyPr wrap="square" lIns="0" rIns="0" tIns="0" bIns="0" anchor="t">
            <a:spAutoFit/>
          </a:bodyPr>
          <a:lstStyle/>
          <a:p>
            <a:pPr algn="l"/>
            <a:r>
              <a:rPr sz="1200" b="1" i="0">
                <a:solidFill>
                  <a:srgbClr val="DB2777"/>
                </a:solidFill>
                <a:latin typeface="Calibri"/>
              </a:rPr>
              <a:t>HOW IT WORKS</a:t>
            </a:r>
          </a:p>
        </p:txBody>
      </p:sp>
      <p:sp>
        <p:nvSpPr>
          <p:cNvPr id="14" name="Oval 13"/>
          <p:cNvSpPr/>
          <p:nvPr/>
        </p:nvSpPr>
        <p:spPr>
          <a:xfrm>
            <a:off x="8092440" y="22128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1</a:t>
            </a:r>
          </a:p>
        </p:txBody>
      </p:sp>
      <p:sp>
        <p:nvSpPr>
          <p:cNvPr id="15" name="TextBox 14"/>
          <p:cNvSpPr txBox="1"/>
          <p:nvPr/>
        </p:nvSpPr>
        <p:spPr>
          <a:xfrm>
            <a:off x="8522208" y="2194560"/>
            <a:ext cx="2880360" cy="868680"/>
          </a:xfrm>
          <a:prstGeom prst="rect">
            <a:avLst/>
          </a:prstGeom>
          <a:noFill/>
        </p:spPr>
        <p:txBody>
          <a:bodyPr wrap="square" lIns="0" rIns="0" tIns="0" bIns="0" anchor="t">
            <a:spAutoFit/>
          </a:bodyPr>
          <a:lstStyle/>
          <a:p>
            <a:pPr algn="l"/>
            <a:r>
              <a:rPr sz="1400" b="0" i="0">
                <a:solidFill>
                  <a:srgbClr val="334155"/>
                </a:solidFill>
                <a:latin typeface="Calibri"/>
              </a:rPr>
              <a:t>For the first 30 s after power-on the PIR is ignored, while the sensor warms up.</a:t>
            </a:r>
          </a:p>
        </p:txBody>
      </p:sp>
      <p:sp>
        <p:nvSpPr>
          <p:cNvPr id="16" name="Oval 15"/>
          <p:cNvSpPr/>
          <p:nvPr/>
        </p:nvSpPr>
        <p:spPr>
          <a:xfrm>
            <a:off x="8092440" y="31272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2</a:t>
            </a:r>
          </a:p>
        </p:txBody>
      </p:sp>
      <p:sp>
        <p:nvSpPr>
          <p:cNvPr id="17" name="TextBox 16"/>
          <p:cNvSpPr txBox="1"/>
          <p:nvPr/>
        </p:nvSpPr>
        <p:spPr>
          <a:xfrm>
            <a:off x="8522208" y="3108960"/>
            <a:ext cx="2880360" cy="868680"/>
          </a:xfrm>
          <a:prstGeom prst="rect">
            <a:avLst/>
          </a:prstGeom>
          <a:noFill/>
        </p:spPr>
        <p:txBody>
          <a:bodyPr wrap="square" lIns="0" rIns="0" tIns="0" bIns="0" anchor="t">
            <a:spAutoFit/>
          </a:bodyPr>
          <a:lstStyle/>
          <a:p>
            <a:pPr algn="l"/>
            <a:r>
              <a:rPr sz="1400" b="0" i="0">
                <a:solidFill>
                  <a:srgbClr val="334155"/>
                </a:solidFill>
                <a:latin typeface="Calibri"/>
              </a:rPr>
              <a:t>Every loop reads the PIR pin. HIGH means someone is moving.</a:t>
            </a:r>
          </a:p>
        </p:txBody>
      </p:sp>
      <p:sp>
        <p:nvSpPr>
          <p:cNvPr id="18" name="Oval 17"/>
          <p:cNvSpPr/>
          <p:nvPr/>
        </p:nvSpPr>
        <p:spPr>
          <a:xfrm>
            <a:off x="8092440" y="40416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3</a:t>
            </a:r>
          </a:p>
        </p:txBody>
      </p:sp>
      <p:sp>
        <p:nvSpPr>
          <p:cNvPr id="19" name="TextBox 18"/>
          <p:cNvSpPr txBox="1"/>
          <p:nvPr/>
        </p:nvSpPr>
        <p:spPr>
          <a:xfrm>
            <a:off x="8522208" y="4023360"/>
            <a:ext cx="2880360" cy="868680"/>
          </a:xfrm>
          <a:prstGeom prst="rect">
            <a:avLst/>
          </a:prstGeom>
          <a:noFill/>
        </p:spPr>
        <p:txBody>
          <a:bodyPr wrap="square" lIns="0" rIns="0" tIns="0" bIns="0" anchor="t">
            <a:spAutoFit/>
          </a:bodyPr>
          <a:lstStyle/>
          <a:p>
            <a:pPr algn="l"/>
            <a:r>
              <a:rPr sz="1400" b="0" i="0">
                <a:solidFill>
                  <a:srgbClr val="334155"/>
                </a:solidFill>
                <a:latin typeface="Calibri"/>
              </a:rPr>
              <a:t>On movement, “Movement” stays on the clock screen for 3 s.</a:t>
            </a:r>
          </a:p>
        </p:txBody>
      </p:sp>
      <p:sp>
        <p:nvSpPr>
          <p:cNvPr id="20" name="Rectangle 19"/>
          <p:cNvSpPr/>
          <p:nvPr/>
        </p:nvSpPr>
        <p:spPr>
          <a:xfrm>
            <a:off x="8092440" y="5029200"/>
            <a:ext cx="32004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5138928"/>
            <a:ext cx="3291840" cy="228600"/>
          </a:xfrm>
          <a:prstGeom prst="rect">
            <a:avLst/>
          </a:prstGeom>
          <a:noFill/>
        </p:spPr>
        <p:txBody>
          <a:bodyPr wrap="square" lIns="0" rIns="0" tIns="0" bIns="0" anchor="t">
            <a:spAutoFit/>
          </a:bodyPr>
          <a:lstStyle/>
          <a:p>
            <a:pPr algn="l"/>
            <a:r>
              <a:rPr sz="1100" b="1" i="0">
                <a:solidFill>
                  <a:srgbClr val="475569"/>
                </a:solidFill>
                <a:latin typeface="Calibri"/>
              </a:rPr>
              <a:t>IN SHORT</a:t>
            </a:r>
          </a:p>
        </p:txBody>
      </p:sp>
      <p:sp>
        <p:nvSpPr>
          <p:cNvPr id="22" name="TextBox 21"/>
          <p:cNvSpPr txBox="1"/>
          <p:nvPr/>
        </p:nvSpPr>
        <p:spPr>
          <a:xfrm>
            <a:off x="8092440" y="5394960"/>
            <a:ext cx="3291840" cy="685800"/>
          </a:xfrm>
          <a:prstGeom prst="rect">
            <a:avLst/>
          </a:prstGeom>
          <a:noFill/>
        </p:spPr>
        <p:txBody>
          <a:bodyPr wrap="square" lIns="0" rIns="0" tIns="0" bIns="0" anchor="t">
            <a:spAutoFit/>
          </a:bodyPr>
          <a:lstStyle/>
          <a:p>
            <a:pPr algn="l"/>
            <a:r>
              <a:rPr sz="1350" b="1" i="0">
                <a:solidFill>
                  <a:srgbClr val="1E1B4B"/>
                </a:solidFill>
                <a:latin typeface="Calibri"/>
              </a:rPr>
              <a:t>Motion shows “Movement” on the clock for 3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FROM THE PICOBOT CODE</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Code Logic 2: Alarm Setting</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06</a:t>
            </a:r>
          </a:p>
        </p:txBody>
      </p:sp>
      <p:sp>
        <p:nvSpPr>
          <p:cNvPr id="7" name="Rounded Rectangle 6"/>
          <p:cNvSpPr/>
          <p:nvPr/>
        </p:nvSpPr>
        <p:spPr>
          <a:xfrm>
            <a:off x="548640" y="1572768"/>
            <a:ext cx="7086600" cy="4572000"/>
          </a:xfrm>
          <a:prstGeom prst="roundRect">
            <a:avLst>
              <a:gd name="adj" fmla="val 3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783080"/>
            <a:ext cx="1051560" cy="310896"/>
          </a:xfrm>
          <a:prstGeom prst="roundRect">
            <a:avLst>
              <a:gd name="adj" fmla="val 5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FFFFFF"/>
                </a:solidFill>
                <a:latin typeface="Calibri"/>
              </a:rPr>
              <a:t>Logic 2</a:t>
            </a:r>
          </a:p>
        </p:txBody>
      </p:sp>
      <p:sp>
        <p:nvSpPr>
          <p:cNvPr id="9" name="TextBox 8"/>
          <p:cNvSpPr txBox="1"/>
          <p:nvPr/>
        </p:nvSpPr>
        <p:spPr>
          <a:xfrm>
            <a:off x="2011680" y="1764792"/>
            <a:ext cx="5486400" cy="347472"/>
          </a:xfrm>
          <a:prstGeom prst="rect">
            <a:avLst/>
          </a:prstGeom>
          <a:noFill/>
        </p:spPr>
        <p:txBody>
          <a:bodyPr wrap="square" lIns="0" rIns="0" tIns="0" bIns="0" anchor="ctr">
            <a:spAutoFit/>
          </a:bodyPr>
          <a:lstStyle/>
          <a:p>
            <a:pPr algn="l"/>
            <a:r>
              <a:rPr sz="1700" b="1" i="0">
                <a:solidFill>
                  <a:srgbClr val="FFFFFF"/>
                </a:solidFill>
                <a:latin typeface="Arial"/>
              </a:rPr>
              <a:t>Alarm Setting</a:t>
            </a:r>
          </a:p>
        </p:txBody>
      </p:sp>
      <p:sp>
        <p:nvSpPr>
          <p:cNvPr id="10" name="Rectangle 9"/>
          <p:cNvSpPr/>
          <p:nvPr/>
        </p:nvSpPr>
        <p:spPr>
          <a:xfrm>
            <a:off x="822960" y="2267712"/>
            <a:ext cx="6537960" cy="13716"/>
          </a:xfrm>
          <a:prstGeom prst="rect">
            <a:avLst/>
          </a:prstGeom>
          <a:solidFill>
            <a:srgbClr val="4A4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6675120" cy="3611880"/>
          </a:xfrm>
          <a:prstGeom prst="rect">
            <a:avLst/>
          </a:prstGeom>
          <a:noFill/>
        </p:spPr>
        <p:txBody>
          <a:bodyPr wrap="none" lIns="0" rIns="0" tIns="0" bIns="0">
            <a:spAutoFit/>
          </a:bodyPr>
          <a:lstStyle/>
          <a:p>
            <a:pPr>
              <a:lnSpc>
                <a:spcPct val="100000"/>
              </a:lnSpc>
            </a:pPr>
            <a:r>
              <a:rPr sz="1500" i="0">
                <a:solidFill>
                  <a:srgbClr val="E2E8F0"/>
                </a:solidFill>
                <a:latin typeface="Consolas"/>
              </a:rPr>
              <a:t>case SCR_SET_HOUR:</a:t>
            </a:r>
          </a:p>
          <a:p>
            <a:pPr>
              <a:lnSpc>
                <a:spcPct val="100000"/>
              </a:lnSpc>
            </a:pPr>
            <a:r>
              <a:rPr sz="1500" i="0">
                <a:solidFill>
                  <a:srgbClr val="E2E8F0"/>
                </a:solidFill>
                <a:latin typeface="Consolas"/>
              </a:rPr>
              <a:t>  if (steps)</a:t>
            </a:r>
          </a:p>
          <a:p>
            <a:pPr>
              <a:lnSpc>
                <a:spcPct val="100000"/>
              </a:lnSpc>
            </a:pPr>
            <a:r>
              <a:rPr sz="1500" i="0">
                <a:solidFill>
                  <a:srgbClr val="E2E8F0"/>
                </a:solidFill>
                <a:latin typeface="Consolas"/>
              </a:rPr>
              <a:t>    editHour = wrap(editHour, steps, 24);</a:t>
            </a:r>
          </a:p>
          <a:p>
            <a:pPr>
              <a:lnSpc>
                <a:spcPct val="100000"/>
              </a:lnSpc>
            </a:pPr>
            <a:r>
              <a:rPr sz="1500" i="0">
                <a:solidFill>
                  <a:srgbClr val="E2E8F0"/>
                </a:solidFill>
                <a:latin typeface="Consolas"/>
              </a:rPr>
              <a:t>  if (press) screen = SCR_SET_MIN;  </a:t>
            </a:r>
            <a:r>
              <a:rPr sz="1500" i="1">
                <a:solidFill>
                  <a:srgbClr val="7DD3FC"/>
                </a:solidFill>
                <a:latin typeface="Consolas"/>
              </a:rPr>
              <a:t>// next</a:t>
            </a:r>
          </a:p>
          <a:p>
            <a:pPr>
              <a:lnSpc>
                <a:spcPct val="100000"/>
              </a:lnSpc>
            </a:pPr>
            <a:r>
              <a:rPr sz="1500" i="0">
                <a:solidFill>
                  <a:srgbClr val="E2E8F0"/>
                </a:solidFill>
                <a:latin typeface="Consolas"/>
              </a:rPr>
              <a:t>case SCR_SET_MIN:</a:t>
            </a:r>
          </a:p>
          <a:p>
            <a:pPr>
              <a:lnSpc>
                <a:spcPct val="100000"/>
              </a:lnSpc>
            </a:pPr>
            <a:r>
              <a:rPr sz="1500" i="0">
                <a:solidFill>
                  <a:srgbClr val="E2E8F0"/>
                </a:solidFill>
                <a:latin typeface="Consolas"/>
              </a:rPr>
              <a:t>  if (steps)</a:t>
            </a:r>
          </a:p>
          <a:p>
            <a:pPr>
              <a:lnSpc>
                <a:spcPct val="100000"/>
              </a:lnSpc>
            </a:pPr>
            <a:r>
              <a:rPr sz="1500" i="0">
                <a:solidFill>
                  <a:srgbClr val="E2E8F0"/>
                </a:solidFill>
                <a:latin typeface="Consolas"/>
              </a:rPr>
              <a:t>    editMin = wrap(editMin, steps, 60);</a:t>
            </a:r>
          </a:p>
          <a:p>
            <a:pPr>
              <a:lnSpc>
                <a:spcPct val="100000"/>
              </a:lnSpc>
            </a:pPr>
            <a:r>
              <a:rPr sz="1500" i="0">
                <a:solidFill>
                  <a:srgbClr val="E2E8F0"/>
                </a:solidFill>
                <a:latin typeface="Consolas"/>
              </a:rPr>
              <a:t>  if (press) {                      </a:t>
            </a:r>
            <a:r>
              <a:rPr sz="1500" i="1">
                <a:solidFill>
                  <a:srgbClr val="7DD3FC"/>
                </a:solidFill>
                <a:latin typeface="Consolas"/>
              </a:rPr>
              <a:t>// save</a:t>
            </a:r>
          </a:p>
          <a:p>
            <a:pPr>
              <a:lnSpc>
                <a:spcPct val="100000"/>
              </a:lnSpc>
            </a:pPr>
            <a:r>
              <a:rPr sz="1500" i="0">
                <a:solidFill>
                  <a:srgbClr val="E2E8F0"/>
                </a:solidFill>
                <a:latin typeface="Consolas"/>
              </a:rPr>
              <a:t>    alarmHour[editingSlot] = editHour;</a:t>
            </a:r>
          </a:p>
          <a:p>
            <a:pPr>
              <a:lnSpc>
                <a:spcPct val="100000"/>
              </a:lnSpc>
            </a:pPr>
            <a:r>
              <a:rPr sz="1500" i="0">
                <a:solidFill>
                  <a:srgbClr val="E2E8F0"/>
                </a:solidFill>
                <a:latin typeface="Consolas"/>
              </a:rPr>
              <a:t>    alarmMin[editingSlot]  = editMin;</a:t>
            </a:r>
          </a:p>
          <a:p>
            <a:pPr>
              <a:lnSpc>
                <a:spcPct val="100000"/>
              </a:lnSpc>
            </a:pPr>
            <a:r>
              <a:rPr sz="1500" i="0">
                <a:solidFill>
                  <a:srgbClr val="E2E8F0"/>
                </a:solidFill>
                <a:latin typeface="Consolas"/>
              </a:rPr>
              <a:t>    prefs.putUChar(keyH, editHour); </a:t>
            </a:r>
            <a:r>
              <a:rPr sz="1500" i="1">
                <a:solidFill>
                  <a:srgbClr val="7DD3FC"/>
                </a:solidFill>
                <a:latin typeface="Consolas"/>
              </a:rPr>
              <a:t>// flash</a:t>
            </a:r>
          </a:p>
          <a:p>
            <a:pPr>
              <a:lnSpc>
                <a:spcPct val="100000"/>
              </a:lnSpc>
            </a:pPr>
            <a:r>
              <a:rPr sz="1500" i="0">
                <a:solidFill>
                  <a:srgbClr val="E2E8F0"/>
                </a:solidFill>
                <a:latin typeface="Consolas"/>
              </a:rPr>
              <a:t>    prefs.putUChar(keyM, editMin);</a:t>
            </a:r>
          </a:p>
          <a:p>
            <a:pPr>
              <a:lnSpc>
                <a:spcPct val="100000"/>
              </a:lnSpc>
            </a:pPr>
            <a:r>
              <a:rPr sz="1500" i="0">
                <a:solidFill>
                  <a:srgbClr val="E2E8F0"/>
                </a:solidFill>
                <a:latin typeface="Consolas"/>
              </a:rPr>
              <a:t>    screen = SCR_SELECT_ALARM;</a:t>
            </a:r>
          </a:p>
          <a:p>
            <a:pPr>
              <a:lnSpc>
                <a:spcPct val="100000"/>
              </a:lnSpc>
            </a:pPr>
            <a:r>
              <a:rPr sz="1500" i="0">
                <a:solidFill>
                  <a:srgbClr val="E2E8F0"/>
                </a:solidFill>
                <a:latin typeface="Consolas"/>
              </a:rPr>
              <a:t>  }</a:t>
            </a:r>
          </a:p>
        </p:txBody>
      </p:sp>
      <p:sp>
        <p:nvSpPr>
          <p:cNvPr id="12" name="Rounded Rectangle 11"/>
          <p:cNvSpPr/>
          <p:nvPr/>
        </p:nvSpPr>
        <p:spPr>
          <a:xfrm>
            <a:off x="7818120" y="1572768"/>
            <a:ext cx="3767328" cy="45720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83080"/>
            <a:ext cx="3291840" cy="320040"/>
          </a:xfrm>
          <a:prstGeom prst="rect">
            <a:avLst/>
          </a:prstGeom>
          <a:noFill/>
        </p:spPr>
        <p:txBody>
          <a:bodyPr wrap="square" lIns="0" rIns="0" tIns="0" bIns="0" anchor="t">
            <a:spAutoFit/>
          </a:bodyPr>
          <a:lstStyle/>
          <a:p>
            <a:pPr algn="l"/>
            <a:r>
              <a:rPr sz="1200" b="1" i="0">
                <a:solidFill>
                  <a:srgbClr val="0284C7"/>
                </a:solidFill>
                <a:latin typeface="Calibri"/>
              </a:rPr>
              <a:t>HOW IT WORKS</a:t>
            </a:r>
          </a:p>
        </p:txBody>
      </p:sp>
      <p:sp>
        <p:nvSpPr>
          <p:cNvPr id="14" name="Oval 13"/>
          <p:cNvSpPr/>
          <p:nvPr/>
        </p:nvSpPr>
        <p:spPr>
          <a:xfrm>
            <a:off x="8092440" y="22128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1</a:t>
            </a:r>
          </a:p>
        </p:txBody>
      </p:sp>
      <p:sp>
        <p:nvSpPr>
          <p:cNvPr id="15" name="TextBox 14"/>
          <p:cNvSpPr txBox="1"/>
          <p:nvPr/>
        </p:nvSpPr>
        <p:spPr>
          <a:xfrm>
            <a:off x="8522208" y="2194560"/>
            <a:ext cx="2880360" cy="868680"/>
          </a:xfrm>
          <a:prstGeom prst="rect">
            <a:avLst/>
          </a:prstGeom>
          <a:noFill/>
        </p:spPr>
        <p:txBody>
          <a:bodyPr wrap="square" lIns="0" rIns="0" tIns="0" bIns="0" anchor="t">
            <a:spAutoFit/>
          </a:bodyPr>
          <a:lstStyle/>
          <a:p>
            <a:pPr algn="l"/>
            <a:r>
              <a:rPr sz="1400" b="0" i="0">
                <a:solidFill>
                  <a:srgbClr val="334155"/>
                </a:solidFill>
                <a:latin typeface="Calibri"/>
              </a:rPr>
              <a:t>Turning the rotary encoder changes the hour (0–23), then the minute (0–59).</a:t>
            </a:r>
          </a:p>
        </p:txBody>
      </p:sp>
      <p:sp>
        <p:nvSpPr>
          <p:cNvPr id="16" name="Oval 15"/>
          <p:cNvSpPr/>
          <p:nvPr/>
        </p:nvSpPr>
        <p:spPr>
          <a:xfrm>
            <a:off x="8092440" y="31272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2</a:t>
            </a:r>
          </a:p>
        </p:txBody>
      </p:sp>
      <p:sp>
        <p:nvSpPr>
          <p:cNvPr id="17" name="TextBox 16"/>
          <p:cNvSpPr txBox="1"/>
          <p:nvPr/>
        </p:nvSpPr>
        <p:spPr>
          <a:xfrm>
            <a:off x="8522208" y="3108960"/>
            <a:ext cx="2880360" cy="868680"/>
          </a:xfrm>
          <a:prstGeom prst="rect">
            <a:avLst/>
          </a:prstGeom>
          <a:noFill/>
        </p:spPr>
        <p:txBody>
          <a:bodyPr wrap="square" lIns="0" rIns="0" tIns="0" bIns="0" anchor="t">
            <a:spAutoFit/>
          </a:bodyPr>
          <a:lstStyle/>
          <a:p>
            <a:pPr algn="l"/>
            <a:r>
              <a:rPr sz="1400" b="0" i="0">
                <a:solidFill>
                  <a:srgbClr val="334155"/>
                </a:solidFill>
                <a:latin typeface="Calibri"/>
              </a:rPr>
              <a:t>Pressing it moves from hour to minute, then saves the alarm.</a:t>
            </a:r>
          </a:p>
        </p:txBody>
      </p:sp>
      <p:sp>
        <p:nvSpPr>
          <p:cNvPr id="18" name="Oval 17"/>
          <p:cNvSpPr/>
          <p:nvPr/>
        </p:nvSpPr>
        <p:spPr>
          <a:xfrm>
            <a:off x="8092440" y="40416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3</a:t>
            </a:r>
          </a:p>
        </p:txBody>
      </p:sp>
      <p:sp>
        <p:nvSpPr>
          <p:cNvPr id="19" name="TextBox 18"/>
          <p:cNvSpPr txBox="1"/>
          <p:nvPr/>
        </p:nvSpPr>
        <p:spPr>
          <a:xfrm>
            <a:off x="8522208" y="4023360"/>
            <a:ext cx="2880360" cy="868680"/>
          </a:xfrm>
          <a:prstGeom prst="rect">
            <a:avLst/>
          </a:prstGeom>
          <a:noFill/>
        </p:spPr>
        <p:txBody>
          <a:bodyPr wrap="square" lIns="0" rIns="0" tIns="0" bIns="0" anchor="t">
            <a:spAutoFit/>
          </a:bodyPr>
          <a:lstStyle/>
          <a:p>
            <a:pPr algn="l"/>
            <a:r>
              <a:rPr sz="1400" b="0" i="0">
                <a:solidFill>
                  <a:srgbClr val="334155"/>
                </a:solidFill>
                <a:latin typeface="Calibri"/>
              </a:rPr>
              <a:t>The time is stored in flash memory, so it stays after power-off.</a:t>
            </a:r>
          </a:p>
        </p:txBody>
      </p:sp>
      <p:sp>
        <p:nvSpPr>
          <p:cNvPr id="20" name="Rectangle 19"/>
          <p:cNvSpPr/>
          <p:nvPr/>
        </p:nvSpPr>
        <p:spPr>
          <a:xfrm>
            <a:off x="8092440" y="5029200"/>
            <a:ext cx="32004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5138928"/>
            <a:ext cx="3291840" cy="228600"/>
          </a:xfrm>
          <a:prstGeom prst="rect">
            <a:avLst/>
          </a:prstGeom>
          <a:noFill/>
        </p:spPr>
        <p:txBody>
          <a:bodyPr wrap="square" lIns="0" rIns="0" tIns="0" bIns="0" anchor="t">
            <a:spAutoFit/>
          </a:bodyPr>
          <a:lstStyle/>
          <a:p>
            <a:pPr algn="l"/>
            <a:r>
              <a:rPr sz="1100" b="1" i="0">
                <a:solidFill>
                  <a:srgbClr val="475569"/>
                </a:solidFill>
                <a:latin typeface="Calibri"/>
              </a:rPr>
              <a:t>IN SHORT</a:t>
            </a:r>
          </a:p>
        </p:txBody>
      </p:sp>
      <p:sp>
        <p:nvSpPr>
          <p:cNvPr id="22" name="TextBox 21"/>
          <p:cNvSpPr txBox="1"/>
          <p:nvPr/>
        </p:nvSpPr>
        <p:spPr>
          <a:xfrm>
            <a:off x="8092440" y="5394960"/>
            <a:ext cx="3291840" cy="685800"/>
          </a:xfrm>
          <a:prstGeom prst="rect">
            <a:avLst/>
          </a:prstGeom>
          <a:noFill/>
        </p:spPr>
        <p:txBody>
          <a:bodyPr wrap="square" lIns="0" rIns="0" tIns="0" bIns="0" anchor="t">
            <a:spAutoFit/>
          </a:bodyPr>
          <a:lstStyle/>
          <a:p>
            <a:pPr algn="l"/>
            <a:r>
              <a:rPr sz="1350" b="1" i="0">
                <a:solidFill>
                  <a:srgbClr val="1E1B4B"/>
                </a:solidFill>
                <a:latin typeface="Calibri"/>
              </a:rPr>
              <a:t>Up to 3 daily alarms, set with one knob.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FROM THE PICOBOT CODE</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Code Logic 3: RTC Time (DS3231)</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07</a:t>
            </a:r>
          </a:p>
        </p:txBody>
      </p:sp>
      <p:sp>
        <p:nvSpPr>
          <p:cNvPr id="7" name="Rounded Rectangle 6"/>
          <p:cNvSpPr/>
          <p:nvPr/>
        </p:nvSpPr>
        <p:spPr>
          <a:xfrm>
            <a:off x="548640" y="1572768"/>
            <a:ext cx="7086600" cy="4572000"/>
          </a:xfrm>
          <a:prstGeom prst="roundRect">
            <a:avLst>
              <a:gd name="adj" fmla="val 3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783080"/>
            <a:ext cx="1051560" cy="310896"/>
          </a:xfrm>
          <a:prstGeom prst="roundRect">
            <a:avLst>
              <a:gd name="adj" fmla="val 5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FFFFFF"/>
                </a:solidFill>
                <a:latin typeface="Calibri"/>
              </a:rPr>
              <a:t>Logic 3</a:t>
            </a:r>
          </a:p>
        </p:txBody>
      </p:sp>
      <p:sp>
        <p:nvSpPr>
          <p:cNvPr id="9" name="TextBox 8"/>
          <p:cNvSpPr txBox="1"/>
          <p:nvPr/>
        </p:nvSpPr>
        <p:spPr>
          <a:xfrm>
            <a:off x="2011680" y="1764792"/>
            <a:ext cx="5486400" cy="347472"/>
          </a:xfrm>
          <a:prstGeom prst="rect">
            <a:avLst/>
          </a:prstGeom>
          <a:noFill/>
        </p:spPr>
        <p:txBody>
          <a:bodyPr wrap="square" lIns="0" rIns="0" tIns="0" bIns="0" anchor="ctr">
            <a:spAutoFit/>
          </a:bodyPr>
          <a:lstStyle/>
          <a:p>
            <a:pPr algn="l"/>
            <a:r>
              <a:rPr sz="1700" b="1" i="0">
                <a:solidFill>
                  <a:srgbClr val="FFFFFF"/>
                </a:solidFill>
                <a:latin typeface="Arial"/>
              </a:rPr>
              <a:t>RTC Time (DS3231)</a:t>
            </a:r>
          </a:p>
        </p:txBody>
      </p:sp>
      <p:sp>
        <p:nvSpPr>
          <p:cNvPr id="10" name="Rectangle 9"/>
          <p:cNvSpPr/>
          <p:nvPr/>
        </p:nvSpPr>
        <p:spPr>
          <a:xfrm>
            <a:off x="822960" y="2267712"/>
            <a:ext cx="6537960" cy="13716"/>
          </a:xfrm>
          <a:prstGeom prst="rect">
            <a:avLst/>
          </a:prstGeom>
          <a:solidFill>
            <a:srgbClr val="4A4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6675120" cy="3611880"/>
          </a:xfrm>
          <a:prstGeom prst="rect">
            <a:avLst/>
          </a:prstGeom>
          <a:noFill/>
        </p:spPr>
        <p:txBody>
          <a:bodyPr wrap="none" lIns="0" rIns="0" tIns="0" bIns="0">
            <a:spAutoFit/>
          </a:bodyPr>
          <a:lstStyle/>
          <a:p>
            <a:pPr>
              <a:lnSpc>
                <a:spcPct val="100000"/>
              </a:lnSpc>
            </a:pPr>
            <a:r>
              <a:rPr sz="1500" i="0">
                <a:solidFill>
                  <a:srgbClr val="E2E8F0"/>
                </a:solidFill>
                <a:latin typeface="Consolas"/>
              </a:rPr>
              <a:t>bool rtcRead(RtcTime &amp;t) {</a:t>
            </a:r>
          </a:p>
          <a:p>
            <a:pPr>
              <a:lnSpc>
                <a:spcPct val="100000"/>
              </a:lnSpc>
            </a:pPr>
            <a:r>
              <a:rPr sz="1500" i="0">
                <a:solidFill>
                  <a:srgbClr val="E2E8F0"/>
                </a:solidFill>
                <a:latin typeface="Consolas"/>
              </a:rPr>
              <a:t>  Wire.beginTransmission(DS3231_ADDR);</a:t>
            </a:r>
          </a:p>
          <a:p>
            <a:pPr>
              <a:lnSpc>
                <a:spcPct val="100000"/>
              </a:lnSpc>
            </a:pPr>
            <a:r>
              <a:rPr sz="1500" i="0">
                <a:solidFill>
                  <a:srgbClr val="E2E8F0"/>
                </a:solidFill>
                <a:latin typeface="Consolas"/>
              </a:rPr>
              <a:t>  Wire.write(DS3231_REG_TIME);</a:t>
            </a:r>
          </a:p>
          <a:p>
            <a:pPr>
              <a:lnSpc>
                <a:spcPct val="100000"/>
              </a:lnSpc>
            </a:pPr>
            <a:r>
              <a:rPr sz="1500" i="0">
                <a:solidFill>
                  <a:srgbClr val="E2E8F0"/>
                </a:solidFill>
                <a:latin typeface="Consolas"/>
              </a:rPr>
              <a:t>  if (Wire.endTransmission() != 0) return false;</a:t>
            </a:r>
          </a:p>
          <a:p>
            <a:pPr>
              <a:lnSpc>
                <a:spcPct val="100000"/>
              </a:lnSpc>
            </a:pPr>
            <a:r>
              <a:rPr sz="1500" i="0">
                <a:solidFill>
                  <a:srgbClr val="E2E8F0"/>
                </a:solidFill>
                <a:latin typeface="Consolas"/>
              </a:rPr>
              <a:t>  Wire.requestFrom((uint8_t)DS3231_ADDR, (size_t)7);</a:t>
            </a:r>
          </a:p>
          <a:p>
            <a:pPr>
              <a:lnSpc>
                <a:spcPct val="100000"/>
              </a:lnSpc>
            </a:pPr>
            <a:r>
              <a:rPr sz="1500" i="0">
                <a:solidFill>
                  <a:srgbClr val="E2E8F0"/>
                </a:solidFill>
                <a:latin typeface="Consolas"/>
              </a:rPr>
              <a:t>  t.sec  = bcd2dec(Wire.read() &amp; 0x7F); </a:t>
            </a:r>
            <a:r>
              <a:rPr sz="1500" i="1">
                <a:solidFill>
                  <a:srgbClr val="7DD3FC"/>
                </a:solidFill>
                <a:latin typeface="Consolas"/>
              </a:rPr>
              <a:t>// BCD</a:t>
            </a:r>
          </a:p>
          <a:p>
            <a:pPr>
              <a:lnSpc>
                <a:spcPct val="100000"/>
              </a:lnSpc>
            </a:pPr>
            <a:r>
              <a:rPr sz="1500" i="0">
                <a:solidFill>
                  <a:srgbClr val="E2E8F0"/>
                </a:solidFill>
                <a:latin typeface="Consolas"/>
              </a:rPr>
              <a:t>  t.min  = bcd2dec(Wire.read() &amp; 0x7F);</a:t>
            </a:r>
          </a:p>
          <a:p>
            <a:pPr>
              <a:lnSpc>
                <a:spcPct val="100000"/>
              </a:lnSpc>
            </a:pPr>
            <a:r>
              <a:rPr sz="1500" i="0">
                <a:solidFill>
                  <a:srgbClr val="E2E8F0"/>
                </a:solidFill>
                <a:latin typeface="Consolas"/>
              </a:rPr>
              <a:t>  t.hour = bcd2dec(Wire.read() &amp; 0x3F); </a:t>
            </a:r>
            <a:r>
              <a:rPr sz="1500" i="1">
                <a:solidFill>
                  <a:srgbClr val="7DD3FC"/>
                </a:solidFill>
                <a:latin typeface="Consolas"/>
              </a:rPr>
              <a:t>// 24 h</a:t>
            </a:r>
          </a:p>
          <a:p>
            <a:pPr>
              <a:lnSpc>
                <a:spcPct val="100000"/>
              </a:lnSpc>
            </a:pPr>
            <a:r>
              <a:rPr sz="1500" i="0">
                <a:solidFill>
                  <a:srgbClr val="E2E8F0"/>
                </a:solidFill>
                <a:latin typeface="Consolas"/>
              </a:rPr>
              <a:t>}</a:t>
            </a:r>
          </a:p>
          <a:p>
            <a:pPr>
              <a:lnSpc>
                <a:spcPct val="100000"/>
              </a:lnSpc>
            </a:pPr>
            <a:r>
              <a:rPr sz="1500" i="0">
                <a:solidFill>
                  <a:srgbClr val="E2E8F0"/>
                </a:solidFill>
                <a:latin typeface="Consolas"/>
              </a:rPr>
              <a:t>if (rtcLostPower()) {            </a:t>
            </a:r>
            <a:r>
              <a:rPr sz="1500" i="1">
                <a:solidFill>
                  <a:srgbClr val="7DD3FC"/>
                </a:solidFill>
                <a:latin typeface="Consolas"/>
              </a:rPr>
              <a:t>// battery died</a:t>
            </a:r>
          </a:p>
          <a:p>
            <a:pPr>
              <a:lnSpc>
                <a:spcPct val="100000"/>
              </a:lnSpc>
            </a:pPr>
            <a:r>
              <a:rPr sz="1500" i="0">
                <a:solidFill>
                  <a:srgbClr val="E2E8F0"/>
                </a:solidFill>
                <a:latin typeface="Consolas"/>
              </a:rPr>
              <a:t>  RtcTime c;</a:t>
            </a:r>
          </a:p>
          <a:p>
            <a:pPr>
              <a:lnSpc>
                <a:spcPct val="100000"/>
              </a:lnSpc>
            </a:pPr>
            <a:r>
              <a:rPr sz="1500" i="0">
                <a:solidFill>
                  <a:srgbClr val="E2E8F0"/>
                </a:solidFill>
                <a:latin typeface="Consolas"/>
              </a:rPr>
              <a:t>  if (compileTime(c)) rtcSet(c);</a:t>
            </a:r>
          </a:p>
          <a:p>
            <a:pPr>
              <a:lnSpc>
                <a:spcPct val="100000"/>
              </a:lnSpc>
            </a:pPr>
            <a:r>
              <a:rPr sz="1500" i="0">
                <a:solidFill>
                  <a:srgbClr val="E2E8F0"/>
                </a:solidFill>
                <a:latin typeface="Consolas"/>
              </a:rPr>
              <a:t>}</a:t>
            </a:r>
          </a:p>
        </p:txBody>
      </p:sp>
      <p:sp>
        <p:nvSpPr>
          <p:cNvPr id="12" name="Rounded Rectangle 11"/>
          <p:cNvSpPr/>
          <p:nvPr/>
        </p:nvSpPr>
        <p:spPr>
          <a:xfrm>
            <a:off x="7818120" y="1572768"/>
            <a:ext cx="3767328" cy="45720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83080"/>
            <a:ext cx="3291840" cy="320040"/>
          </a:xfrm>
          <a:prstGeom prst="rect">
            <a:avLst/>
          </a:prstGeom>
          <a:noFill/>
        </p:spPr>
        <p:txBody>
          <a:bodyPr wrap="square" lIns="0" rIns="0" tIns="0" bIns="0" anchor="t">
            <a:spAutoFit/>
          </a:bodyPr>
          <a:lstStyle/>
          <a:p>
            <a:pPr algn="l"/>
            <a:r>
              <a:rPr sz="1200" b="1" i="0">
                <a:solidFill>
                  <a:srgbClr val="DB2777"/>
                </a:solidFill>
                <a:latin typeface="Calibri"/>
              </a:rPr>
              <a:t>HOW IT WORKS</a:t>
            </a:r>
          </a:p>
        </p:txBody>
      </p:sp>
      <p:sp>
        <p:nvSpPr>
          <p:cNvPr id="14" name="Oval 13"/>
          <p:cNvSpPr/>
          <p:nvPr/>
        </p:nvSpPr>
        <p:spPr>
          <a:xfrm>
            <a:off x="8092440" y="22128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1</a:t>
            </a:r>
          </a:p>
        </p:txBody>
      </p:sp>
      <p:sp>
        <p:nvSpPr>
          <p:cNvPr id="15" name="TextBox 14"/>
          <p:cNvSpPr txBox="1"/>
          <p:nvPr/>
        </p:nvSpPr>
        <p:spPr>
          <a:xfrm>
            <a:off x="8522208" y="2194560"/>
            <a:ext cx="2880360" cy="868680"/>
          </a:xfrm>
          <a:prstGeom prst="rect">
            <a:avLst/>
          </a:prstGeom>
          <a:noFill/>
        </p:spPr>
        <p:txBody>
          <a:bodyPr wrap="square" lIns="0" rIns="0" tIns="0" bIns="0" anchor="t">
            <a:spAutoFit/>
          </a:bodyPr>
          <a:lstStyle/>
          <a:p>
            <a:pPr algn="l"/>
            <a:r>
              <a:rPr sz="1400" b="0" i="0">
                <a:solidFill>
                  <a:srgbClr val="334155"/>
                </a:solidFill>
                <a:latin typeface="Calibri"/>
              </a:rPr>
              <a:t>The ESP32 asks the DS3231 for 7 bytes of time data over I2C.</a:t>
            </a:r>
          </a:p>
        </p:txBody>
      </p:sp>
      <p:sp>
        <p:nvSpPr>
          <p:cNvPr id="16" name="Oval 15"/>
          <p:cNvSpPr/>
          <p:nvPr/>
        </p:nvSpPr>
        <p:spPr>
          <a:xfrm>
            <a:off x="8092440" y="31272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2</a:t>
            </a:r>
          </a:p>
        </p:txBody>
      </p:sp>
      <p:sp>
        <p:nvSpPr>
          <p:cNvPr id="17" name="TextBox 16"/>
          <p:cNvSpPr txBox="1"/>
          <p:nvPr/>
        </p:nvSpPr>
        <p:spPr>
          <a:xfrm>
            <a:off x="8522208" y="3108960"/>
            <a:ext cx="2880360" cy="868680"/>
          </a:xfrm>
          <a:prstGeom prst="rect">
            <a:avLst/>
          </a:prstGeom>
          <a:noFill/>
        </p:spPr>
        <p:txBody>
          <a:bodyPr wrap="square" lIns="0" rIns="0" tIns="0" bIns="0" anchor="t">
            <a:spAutoFit/>
          </a:bodyPr>
          <a:lstStyle/>
          <a:p>
            <a:pPr algn="l"/>
            <a:r>
              <a:rPr sz="1400" b="0" i="0">
                <a:solidFill>
                  <a:srgbClr val="334155"/>
                </a:solidFill>
                <a:latin typeface="Calibri"/>
              </a:rPr>
              <a:t>Each byte is in BCD, so bcd2dec() turns it into a normal number.</a:t>
            </a:r>
          </a:p>
        </p:txBody>
      </p:sp>
      <p:sp>
        <p:nvSpPr>
          <p:cNvPr id="18" name="Oval 17"/>
          <p:cNvSpPr/>
          <p:nvPr/>
        </p:nvSpPr>
        <p:spPr>
          <a:xfrm>
            <a:off x="8092440" y="40416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3</a:t>
            </a:r>
          </a:p>
        </p:txBody>
      </p:sp>
      <p:sp>
        <p:nvSpPr>
          <p:cNvPr id="19" name="TextBox 18"/>
          <p:cNvSpPr txBox="1"/>
          <p:nvPr/>
        </p:nvSpPr>
        <p:spPr>
          <a:xfrm>
            <a:off x="8522208" y="4023360"/>
            <a:ext cx="2880360" cy="868680"/>
          </a:xfrm>
          <a:prstGeom prst="rect">
            <a:avLst/>
          </a:prstGeom>
          <a:noFill/>
        </p:spPr>
        <p:txBody>
          <a:bodyPr wrap="square" lIns="0" rIns="0" tIns="0" bIns="0" anchor="t">
            <a:spAutoFit/>
          </a:bodyPr>
          <a:lstStyle/>
          <a:p>
            <a:pPr algn="l"/>
            <a:r>
              <a:rPr sz="1400" b="0" i="0">
                <a:solidFill>
                  <a:srgbClr val="334155"/>
                </a:solidFill>
                <a:latin typeface="Calibri"/>
              </a:rPr>
              <a:t>If the RTC lost power, the time is reset to when the code was compiled.</a:t>
            </a:r>
          </a:p>
        </p:txBody>
      </p:sp>
      <p:sp>
        <p:nvSpPr>
          <p:cNvPr id="20" name="Rectangle 19"/>
          <p:cNvSpPr/>
          <p:nvPr/>
        </p:nvSpPr>
        <p:spPr>
          <a:xfrm>
            <a:off x="8092440" y="5029200"/>
            <a:ext cx="32004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5138928"/>
            <a:ext cx="3291840" cy="228600"/>
          </a:xfrm>
          <a:prstGeom prst="rect">
            <a:avLst/>
          </a:prstGeom>
          <a:noFill/>
        </p:spPr>
        <p:txBody>
          <a:bodyPr wrap="square" lIns="0" rIns="0" tIns="0" bIns="0" anchor="t">
            <a:spAutoFit/>
          </a:bodyPr>
          <a:lstStyle/>
          <a:p>
            <a:pPr algn="l"/>
            <a:r>
              <a:rPr sz="1100" b="1" i="0">
                <a:solidFill>
                  <a:srgbClr val="475569"/>
                </a:solidFill>
                <a:latin typeface="Calibri"/>
              </a:rPr>
              <a:t>IN SHORT</a:t>
            </a:r>
          </a:p>
        </p:txBody>
      </p:sp>
      <p:sp>
        <p:nvSpPr>
          <p:cNvPr id="22" name="TextBox 21"/>
          <p:cNvSpPr txBox="1"/>
          <p:nvPr/>
        </p:nvSpPr>
        <p:spPr>
          <a:xfrm>
            <a:off x="8092440" y="5394960"/>
            <a:ext cx="3291840" cy="685800"/>
          </a:xfrm>
          <a:prstGeom prst="rect">
            <a:avLst/>
          </a:prstGeom>
          <a:noFill/>
        </p:spPr>
        <p:txBody>
          <a:bodyPr wrap="square" lIns="0" rIns="0" tIns="0" bIns="0" anchor="t">
            <a:spAutoFit/>
          </a:bodyPr>
          <a:lstStyle/>
          <a:p>
            <a:pPr algn="l"/>
            <a:r>
              <a:rPr sz="1350" b="1" i="0">
                <a:solidFill>
                  <a:srgbClr val="1E1B4B"/>
                </a:solidFill>
                <a:latin typeface="Calibri"/>
              </a:rPr>
              <a:t>Gives the robot the real time, every 0.2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FROM THE PICOBOT CODE</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Code Logic 4: OLED Screens</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08</a:t>
            </a:r>
          </a:p>
        </p:txBody>
      </p:sp>
      <p:sp>
        <p:nvSpPr>
          <p:cNvPr id="7" name="Rounded Rectangle 6"/>
          <p:cNvSpPr/>
          <p:nvPr/>
        </p:nvSpPr>
        <p:spPr>
          <a:xfrm>
            <a:off x="548640" y="1572768"/>
            <a:ext cx="7086600" cy="4572000"/>
          </a:xfrm>
          <a:prstGeom prst="roundRect">
            <a:avLst>
              <a:gd name="adj" fmla="val 3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783080"/>
            <a:ext cx="1051560" cy="310896"/>
          </a:xfrm>
          <a:prstGeom prst="roundRect">
            <a:avLst>
              <a:gd name="adj" fmla="val 5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FFFFFF"/>
                </a:solidFill>
                <a:latin typeface="Calibri"/>
              </a:rPr>
              <a:t>Logic 4</a:t>
            </a:r>
          </a:p>
        </p:txBody>
      </p:sp>
      <p:sp>
        <p:nvSpPr>
          <p:cNvPr id="9" name="TextBox 8"/>
          <p:cNvSpPr txBox="1"/>
          <p:nvPr/>
        </p:nvSpPr>
        <p:spPr>
          <a:xfrm>
            <a:off x="2011680" y="1764792"/>
            <a:ext cx="5486400" cy="347472"/>
          </a:xfrm>
          <a:prstGeom prst="rect">
            <a:avLst/>
          </a:prstGeom>
          <a:noFill/>
        </p:spPr>
        <p:txBody>
          <a:bodyPr wrap="square" lIns="0" rIns="0" tIns="0" bIns="0" anchor="ctr">
            <a:spAutoFit/>
          </a:bodyPr>
          <a:lstStyle/>
          <a:p>
            <a:pPr algn="l"/>
            <a:r>
              <a:rPr sz="1700" b="1" i="0">
                <a:solidFill>
                  <a:srgbClr val="FFFFFF"/>
                </a:solidFill>
                <a:latin typeface="Arial"/>
              </a:rPr>
              <a:t>OLED Screens</a:t>
            </a:r>
          </a:p>
        </p:txBody>
      </p:sp>
      <p:sp>
        <p:nvSpPr>
          <p:cNvPr id="10" name="Rectangle 9"/>
          <p:cNvSpPr/>
          <p:nvPr/>
        </p:nvSpPr>
        <p:spPr>
          <a:xfrm>
            <a:off x="822960" y="2267712"/>
            <a:ext cx="6537960" cy="13716"/>
          </a:xfrm>
          <a:prstGeom prst="rect">
            <a:avLst/>
          </a:prstGeom>
          <a:solidFill>
            <a:srgbClr val="4A4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6675120" cy="3611880"/>
          </a:xfrm>
          <a:prstGeom prst="rect">
            <a:avLst/>
          </a:prstGeom>
          <a:noFill/>
        </p:spPr>
        <p:txBody>
          <a:bodyPr wrap="none" lIns="0" rIns="0" tIns="0" bIns="0">
            <a:spAutoFit/>
          </a:bodyPr>
          <a:lstStyle/>
          <a:p>
            <a:pPr>
              <a:lnSpc>
                <a:spcPct val="100000"/>
              </a:lnSpc>
            </a:pPr>
            <a:r>
              <a:rPr sz="1500" i="0">
                <a:solidFill>
                  <a:srgbClr val="E2E8F0"/>
                </a:solidFill>
                <a:latin typeface="Consolas"/>
              </a:rPr>
              <a:t>void draw() {</a:t>
            </a:r>
          </a:p>
          <a:p>
            <a:pPr>
              <a:lnSpc>
                <a:spcPct val="100000"/>
              </a:lnSpc>
            </a:pPr>
            <a:r>
              <a:rPr sz="1500" i="0">
                <a:solidFill>
                  <a:srgbClr val="E2E8F0"/>
                </a:solidFill>
                <a:latin typeface="Consolas"/>
              </a:rPr>
              <a:t>  u8g2.clearBuffer();</a:t>
            </a:r>
          </a:p>
          <a:p>
            <a:pPr>
              <a:lnSpc>
                <a:spcPct val="100000"/>
              </a:lnSpc>
            </a:pPr>
            <a:r>
              <a:rPr sz="1500" i="0">
                <a:solidFill>
                  <a:srgbClr val="E2E8F0"/>
                </a:solidFill>
                <a:latin typeface="Consolas"/>
              </a:rPr>
              <a:t>  switch (screen) {</a:t>
            </a:r>
          </a:p>
          <a:p>
            <a:pPr>
              <a:lnSpc>
                <a:spcPct val="100000"/>
              </a:lnSpc>
            </a:pPr>
            <a:r>
              <a:rPr sz="1500" i="0">
                <a:solidFill>
                  <a:srgbClr val="E2E8F0"/>
                </a:solidFill>
                <a:latin typeface="Consolas"/>
              </a:rPr>
              <a:t>    case SCR_CLOCK:       drawClockScreen(); break;</a:t>
            </a:r>
          </a:p>
          <a:p>
            <a:pPr>
              <a:lnSpc>
                <a:spcPct val="100000"/>
              </a:lnSpc>
            </a:pPr>
            <a:r>
              <a:rPr sz="1500" i="0">
                <a:solidFill>
                  <a:srgbClr val="E2E8F0"/>
                </a:solidFill>
                <a:latin typeface="Consolas"/>
              </a:rPr>
              <a:t>    case SCR_SELECT_ALARM: drawSelectAlarm(); break;</a:t>
            </a:r>
          </a:p>
          <a:p>
            <a:pPr>
              <a:lnSpc>
                <a:spcPct val="100000"/>
              </a:lnSpc>
            </a:pPr>
            <a:r>
              <a:rPr sz="1500" i="0">
                <a:solidFill>
                  <a:srgbClr val="E2E8F0"/>
                </a:solidFill>
                <a:latin typeface="Consolas"/>
              </a:rPr>
              <a:t>    case SCR_SET_HOUR:    drawSetScreen(true); break;</a:t>
            </a:r>
          </a:p>
          <a:p>
            <a:pPr>
              <a:lnSpc>
                <a:spcPct val="100000"/>
              </a:lnSpc>
            </a:pPr>
            <a:r>
              <a:rPr sz="1500" i="0">
                <a:solidFill>
                  <a:srgbClr val="E2E8F0"/>
                </a:solidFill>
                <a:latin typeface="Consolas"/>
              </a:rPr>
              <a:t>    case SCR_SET_MIN:     drawSetScreen(false); break;</a:t>
            </a:r>
          </a:p>
          <a:p>
            <a:pPr>
              <a:lnSpc>
                <a:spcPct val="100000"/>
              </a:lnSpc>
            </a:pPr>
            <a:r>
              <a:rPr sz="1500" i="0">
                <a:solidFill>
                  <a:srgbClr val="E2E8F0"/>
                </a:solidFill>
                <a:latin typeface="Consolas"/>
              </a:rPr>
              <a:t>    case SCR_RINGING:     drawAlertFace(); break;</a:t>
            </a:r>
          </a:p>
          <a:p>
            <a:pPr>
              <a:lnSpc>
                <a:spcPct val="100000"/>
              </a:lnSpc>
            </a:pPr>
            <a:r>
              <a:rPr sz="1500" i="0">
                <a:solidFill>
                  <a:srgbClr val="E2E8F0"/>
                </a:solidFill>
                <a:latin typeface="Consolas"/>
              </a:rPr>
              <a:t>    case SCR_HAPPY:       drawHappyFace(); break;</a:t>
            </a:r>
          </a:p>
          <a:p>
            <a:pPr>
              <a:lnSpc>
                <a:spcPct val="100000"/>
              </a:lnSpc>
            </a:pPr>
            <a:r>
              <a:rPr sz="1500" i="0">
                <a:solidFill>
                  <a:srgbClr val="E2E8F0"/>
                </a:solidFill>
                <a:latin typeface="Consolas"/>
              </a:rPr>
              <a:t>    case SCR_GAS_WARNING: drawGasWarning(); break;</a:t>
            </a:r>
          </a:p>
          <a:p>
            <a:pPr>
              <a:lnSpc>
                <a:spcPct val="100000"/>
              </a:lnSpc>
            </a:pPr>
            <a:r>
              <a:rPr sz="1500" i="0">
                <a:solidFill>
                  <a:srgbClr val="E2E8F0"/>
                </a:solidFill>
                <a:latin typeface="Consolas"/>
              </a:rPr>
              <a:t>  }</a:t>
            </a:r>
          </a:p>
          <a:p>
            <a:pPr>
              <a:lnSpc>
                <a:spcPct val="100000"/>
              </a:lnSpc>
            </a:pPr>
            <a:r>
              <a:rPr sz="1500" i="0">
                <a:solidFill>
                  <a:srgbClr val="E2E8F0"/>
                </a:solidFill>
                <a:latin typeface="Consolas"/>
              </a:rPr>
              <a:t>  u8g2.sendBuffer();         </a:t>
            </a:r>
            <a:r>
              <a:rPr sz="1500" i="1">
                <a:solidFill>
                  <a:srgbClr val="7DD3FC"/>
                </a:solidFill>
                <a:latin typeface="Consolas"/>
              </a:rPr>
              <a:t>// to OLED</a:t>
            </a:r>
          </a:p>
          <a:p>
            <a:pPr>
              <a:lnSpc>
                <a:spcPct val="100000"/>
              </a:lnSpc>
            </a:pPr>
            <a:r>
              <a:rPr sz="1500" i="0">
                <a:solidFill>
                  <a:srgbClr val="E2E8F0"/>
                </a:solidFill>
                <a:latin typeface="Consolas"/>
              </a:rPr>
              <a:t>}</a:t>
            </a:r>
          </a:p>
        </p:txBody>
      </p:sp>
      <p:sp>
        <p:nvSpPr>
          <p:cNvPr id="12" name="Rounded Rectangle 11"/>
          <p:cNvSpPr/>
          <p:nvPr/>
        </p:nvSpPr>
        <p:spPr>
          <a:xfrm>
            <a:off x="7818120" y="1572768"/>
            <a:ext cx="3767328" cy="45720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83080"/>
            <a:ext cx="3291840" cy="320040"/>
          </a:xfrm>
          <a:prstGeom prst="rect">
            <a:avLst/>
          </a:prstGeom>
          <a:noFill/>
        </p:spPr>
        <p:txBody>
          <a:bodyPr wrap="square" lIns="0" rIns="0" tIns="0" bIns="0" anchor="t">
            <a:spAutoFit/>
          </a:bodyPr>
          <a:lstStyle/>
          <a:p>
            <a:pPr algn="l"/>
            <a:r>
              <a:rPr sz="1200" b="1" i="0">
                <a:solidFill>
                  <a:srgbClr val="DB2777"/>
                </a:solidFill>
                <a:latin typeface="Calibri"/>
              </a:rPr>
              <a:t>HOW IT WORKS</a:t>
            </a:r>
          </a:p>
        </p:txBody>
      </p:sp>
      <p:sp>
        <p:nvSpPr>
          <p:cNvPr id="14" name="Oval 13"/>
          <p:cNvSpPr/>
          <p:nvPr/>
        </p:nvSpPr>
        <p:spPr>
          <a:xfrm>
            <a:off x="8092440" y="22128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1</a:t>
            </a:r>
          </a:p>
        </p:txBody>
      </p:sp>
      <p:sp>
        <p:nvSpPr>
          <p:cNvPr id="15" name="TextBox 14"/>
          <p:cNvSpPr txBox="1"/>
          <p:nvPr/>
        </p:nvSpPr>
        <p:spPr>
          <a:xfrm>
            <a:off x="8522208" y="2194560"/>
            <a:ext cx="2880360" cy="868680"/>
          </a:xfrm>
          <a:prstGeom prst="rect">
            <a:avLst/>
          </a:prstGeom>
          <a:noFill/>
        </p:spPr>
        <p:txBody>
          <a:bodyPr wrap="square" lIns="0" rIns="0" tIns="0" bIns="0" anchor="t">
            <a:spAutoFit/>
          </a:bodyPr>
          <a:lstStyle/>
          <a:p>
            <a:pPr algn="l"/>
            <a:r>
              <a:rPr sz="1400" b="0" i="0">
                <a:solidFill>
                  <a:srgbClr val="334155"/>
                </a:solidFill>
                <a:latin typeface="Calibri"/>
              </a:rPr>
              <a:t>The robot is always in one screen state: clock, set alarm, reminder, happy or gas.</a:t>
            </a:r>
          </a:p>
        </p:txBody>
      </p:sp>
      <p:sp>
        <p:nvSpPr>
          <p:cNvPr id="16" name="Oval 15"/>
          <p:cNvSpPr/>
          <p:nvPr/>
        </p:nvSpPr>
        <p:spPr>
          <a:xfrm>
            <a:off x="8092440" y="31272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2</a:t>
            </a:r>
          </a:p>
        </p:txBody>
      </p:sp>
      <p:sp>
        <p:nvSpPr>
          <p:cNvPr id="17" name="TextBox 16"/>
          <p:cNvSpPr txBox="1"/>
          <p:nvPr/>
        </p:nvSpPr>
        <p:spPr>
          <a:xfrm>
            <a:off x="8522208" y="3108960"/>
            <a:ext cx="2880360" cy="868680"/>
          </a:xfrm>
          <a:prstGeom prst="rect">
            <a:avLst/>
          </a:prstGeom>
          <a:noFill/>
        </p:spPr>
        <p:txBody>
          <a:bodyPr wrap="square" lIns="0" rIns="0" tIns="0" bIns="0" anchor="t">
            <a:spAutoFit/>
          </a:bodyPr>
          <a:lstStyle/>
          <a:p>
            <a:pPr algn="l"/>
            <a:r>
              <a:rPr sz="1400" b="0" i="0">
                <a:solidFill>
                  <a:srgbClr val="334155"/>
                </a:solidFill>
                <a:latin typeface="Calibri"/>
              </a:rPr>
              <a:t>draw() clears the display and calls the matching draw function.</a:t>
            </a:r>
          </a:p>
        </p:txBody>
      </p:sp>
      <p:sp>
        <p:nvSpPr>
          <p:cNvPr id="18" name="Oval 17"/>
          <p:cNvSpPr/>
          <p:nvPr/>
        </p:nvSpPr>
        <p:spPr>
          <a:xfrm>
            <a:off x="8092440" y="4041648"/>
            <a:ext cx="310896" cy="3108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3</a:t>
            </a:r>
          </a:p>
        </p:txBody>
      </p:sp>
      <p:sp>
        <p:nvSpPr>
          <p:cNvPr id="19" name="TextBox 18"/>
          <p:cNvSpPr txBox="1"/>
          <p:nvPr/>
        </p:nvSpPr>
        <p:spPr>
          <a:xfrm>
            <a:off x="8522208" y="4023360"/>
            <a:ext cx="2880360" cy="868680"/>
          </a:xfrm>
          <a:prstGeom prst="rect">
            <a:avLst/>
          </a:prstGeom>
          <a:noFill/>
        </p:spPr>
        <p:txBody>
          <a:bodyPr wrap="square" lIns="0" rIns="0" tIns="0" bIns="0" anchor="t">
            <a:spAutoFit/>
          </a:bodyPr>
          <a:lstStyle/>
          <a:p>
            <a:pPr algn="l"/>
            <a:r>
              <a:rPr sz="1400" b="0" i="0">
                <a:solidFill>
                  <a:srgbClr val="334155"/>
                </a:solidFill>
                <a:latin typeface="Calibri"/>
              </a:rPr>
              <a:t>sendBuffer() sends the new picture to the OLED.</a:t>
            </a:r>
          </a:p>
        </p:txBody>
      </p:sp>
      <p:sp>
        <p:nvSpPr>
          <p:cNvPr id="20" name="Rectangle 19"/>
          <p:cNvSpPr/>
          <p:nvPr/>
        </p:nvSpPr>
        <p:spPr>
          <a:xfrm>
            <a:off x="8092440" y="5029200"/>
            <a:ext cx="32004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5138928"/>
            <a:ext cx="3291840" cy="228600"/>
          </a:xfrm>
          <a:prstGeom prst="rect">
            <a:avLst/>
          </a:prstGeom>
          <a:noFill/>
        </p:spPr>
        <p:txBody>
          <a:bodyPr wrap="square" lIns="0" rIns="0" tIns="0" bIns="0" anchor="t">
            <a:spAutoFit/>
          </a:bodyPr>
          <a:lstStyle/>
          <a:p>
            <a:pPr algn="l"/>
            <a:r>
              <a:rPr sz="1100" b="1" i="0">
                <a:solidFill>
                  <a:srgbClr val="475569"/>
                </a:solidFill>
                <a:latin typeface="Calibri"/>
              </a:rPr>
              <a:t>IN SHORT</a:t>
            </a:r>
          </a:p>
        </p:txBody>
      </p:sp>
      <p:sp>
        <p:nvSpPr>
          <p:cNvPr id="22" name="TextBox 21"/>
          <p:cNvSpPr txBox="1"/>
          <p:nvPr/>
        </p:nvSpPr>
        <p:spPr>
          <a:xfrm>
            <a:off x="8092440" y="5394960"/>
            <a:ext cx="3291840" cy="685800"/>
          </a:xfrm>
          <a:prstGeom prst="rect">
            <a:avLst/>
          </a:prstGeom>
          <a:noFill/>
        </p:spPr>
        <p:txBody>
          <a:bodyPr wrap="square" lIns="0" rIns="0" tIns="0" bIns="0" anchor="t">
            <a:spAutoFit/>
          </a:bodyPr>
          <a:lstStyle/>
          <a:p>
            <a:pPr algn="l"/>
            <a:r>
              <a:rPr sz="1350" b="1" i="0">
                <a:solidFill>
                  <a:srgbClr val="1E1B4B"/>
                </a:solidFill>
                <a:latin typeface="Calibri"/>
              </a:rPr>
              <a:t>One function shows the right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FROM THE PICOBOT CODE</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Code Logic 5: Bangla Voice Clips</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09</a:t>
            </a:r>
          </a:p>
        </p:txBody>
      </p:sp>
      <p:sp>
        <p:nvSpPr>
          <p:cNvPr id="7" name="Rounded Rectangle 6"/>
          <p:cNvSpPr/>
          <p:nvPr/>
        </p:nvSpPr>
        <p:spPr>
          <a:xfrm>
            <a:off x="548640" y="1572768"/>
            <a:ext cx="7086600" cy="4572000"/>
          </a:xfrm>
          <a:prstGeom prst="roundRect">
            <a:avLst>
              <a:gd name="adj" fmla="val 3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783080"/>
            <a:ext cx="1051560" cy="310896"/>
          </a:xfrm>
          <a:prstGeom prst="roundRect">
            <a:avLst>
              <a:gd name="adj" fmla="val 5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200" b="1">
                <a:solidFill>
                  <a:srgbClr val="FFFFFF"/>
                </a:solidFill>
                <a:latin typeface="Calibri"/>
              </a:rPr>
              <a:t>Logic 5</a:t>
            </a:r>
          </a:p>
        </p:txBody>
      </p:sp>
      <p:sp>
        <p:nvSpPr>
          <p:cNvPr id="9" name="TextBox 8"/>
          <p:cNvSpPr txBox="1"/>
          <p:nvPr/>
        </p:nvSpPr>
        <p:spPr>
          <a:xfrm>
            <a:off x="2011680" y="1764792"/>
            <a:ext cx="5486400" cy="347472"/>
          </a:xfrm>
          <a:prstGeom prst="rect">
            <a:avLst/>
          </a:prstGeom>
          <a:noFill/>
        </p:spPr>
        <p:txBody>
          <a:bodyPr wrap="square" lIns="0" rIns="0" tIns="0" bIns="0" anchor="ctr">
            <a:spAutoFit/>
          </a:bodyPr>
          <a:lstStyle/>
          <a:p>
            <a:pPr algn="l"/>
            <a:r>
              <a:rPr sz="1700" b="1" i="0">
                <a:solidFill>
                  <a:srgbClr val="FFFFFF"/>
                </a:solidFill>
                <a:latin typeface="Arial"/>
              </a:rPr>
              <a:t>Bangla Voice Clips</a:t>
            </a:r>
          </a:p>
        </p:txBody>
      </p:sp>
      <p:sp>
        <p:nvSpPr>
          <p:cNvPr id="10" name="Rectangle 9"/>
          <p:cNvSpPr/>
          <p:nvPr/>
        </p:nvSpPr>
        <p:spPr>
          <a:xfrm>
            <a:off x="822960" y="2267712"/>
            <a:ext cx="6537960" cy="13716"/>
          </a:xfrm>
          <a:prstGeom prst="rect">
            <a:avLst/>
          </a:prstGeom>
          <a:solidFill>
            <a:srgbClr val="4A4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6675120" cy="3611880"/>
          </a:xfrm>
          <a:prstGeom prst="rect">
            <a:avLst/>
          </a:prstGeom>
          <a:noFill/>
        </p:spPr>
        <p:txBody>
          <a:bodyPr wrap="none" lIns="0" rIns="0" tIns="0" bIns="0">
            <a:spAutoFit/>
          </a:bodyPr>
          <a:lstStyle/>
          <a:p>
            <a:pPr>
              <a:lnSpc>
                <a:spcPct val="100000"/>
              </a:lnSpc>
            </a:pPr>
            <a:r>
              <a:rPr sz="1500" i="0">
                <a:solidFill>
                  <a:srgbClr val="E2E8F0"/>
                </a:solidFill>
                <a:latin typeface="Consolas"/>
              </a:rPr>
              <a:t>File f = LittleFS.open(path, "r");</a:t>
            </a:r>
          </a:p>
          <a:p>
            <a:pPr>
              <a:lnSpc>
                <a:spcPct val="100000"/>
              </a:lnSpc>
            </a:pPr>
            <a:r>
              <a:rPr sz="1500" i="0">
                <a:solidFill>
                  <a:srgbClr val="E2E8F0"/>
                </a:solidFill>
                <a:latin typeface="Consolas"/>
              </a:rPr>
              <a:t>size_t len = f.size();</a:t>
            </a:r>
          </a:p>
          <a:p>
            <a:pPr>
              <a:lnSpc>
                <a:spcPct val="100000"/>
              </a:lnSpc>
            </a:pPr>
            <a:r>
              <a:rPr sz="1500" i="0">
                <a:solidFill>
                  <a:srgbClr val="E2E8F0"/>
                </a:solidFill>
                <a:latin typeface="Consolas"/>
              </a:rPr>
              <a:t>uint8_t *buf = (uint8_t *)heap_caps_malloc(len,</a:t>
            </a:r>
          </a:p>
          <a:p>
            <a:pPr>
              <a:lnSpc>
                <a:spcPct val="100000"/>
              </a:lnSpc>
            </a:pPr>
            <a:r>
              <a:rPr sz="1500" i="0">
                <a:solidFill>
                  <a:srgbClr val="E2E8F0"/>
                </a:solidFill>
                <a:latin typeface="Consolas"/>
              </a:rPr>
              <a:t>    MALLOC_CAP_SPIRAM | MALLOC_CAP_8BIT); </a:t>
            </a:r>
            <a:r>
              <a:rPr sz="1500" i="1">
                <a:solidFill>
                  <a:srgbClr val="7DD3FC"/>
                </a:solidFill>
                <a:latin typeface="Consolas"/>
              </a:rPr>
              <a:t>// PSRAM</a:t>
            </a:r>
          </a:p>
          <a:p>
            <a:pPr>
              <a:lnSpc>
                <a:spcPct val="100000"/>
              </a:lnSpc>
            </a:pPr>
            <a:r>
              <a:rPr sz="1500" i="0">
                <a:solidFill>
                  <a:srgbClr val="E2E8F0"/>
                </a:solidFill>
                <a:latin typeface="Consolas"/>
              </a:rPr>
              <a:t>f.read(buf, len);</a:t>
            </a:r>
          </a:p>
          <a:p>
            <a:pPr>
              <a:lnSpc>
                <a:spcPct val="100000"/>
              </a:lnSpc>
            </a:pPr>
            <a:r>
              <a:rPr sz="1500">
                <a:latin typeface="Consolas"/>
              </a:rPr>
              <a:t> </a:t>
            </a:r>
          </a:p>
          <a:p>
            <a:pPr>
              <a:lnSpc>
                <a:spcPct val="100000"/>
              </a:lnSpc>
            </a:pPr>
            <a:r>
              <a:rPr sz="1500" i="0">
                <a:solidFill>
                  <a:srgbClr val="E2E8F0"/>
                </a:solidFill>
                <a:latin typeface="Consolas"/>
              </a:rPr>
              <a:t>int16_t *pcm = (int16_t *)(buf + 44);  </a:t>
            </a:r>
            <a:r>
              <a:rPr sz="1500" i="1">
                <a:solidFill>
                  <a:srgbClr val="7DD3FC"/>
                </a:solidFill>
                <a:latin typeface="Consolas"/>
              </a:rPr>
              <a:t>// skip header</a:t>
            </a:r>
          </a:p>
          <a:p>
            <a:pPr>
              <a:lnSpc>
                <a:spcPct val="100000"/>
              </a:lnSpc>
            </a:pPr>
            <a:r>
              <a:rPr sz="1500" i="0">
                <a:solidFill>
                  <a:srgbClr val="E2E8F0"/>
                </a:solidFill>
                <a:latin typeface="Consolas"/>
              </a:rPr>
              <a:t>for (size_t i = 0; i &lt; numSamples; i++) {</a:t>
            </a:r>
          </a:p>
          <a:p>
            <a:pPr>
              <a:lnSpc>
                <a:spcPct val="100000"/>
              </a:lnSpc>
            </a:pPr>
            <a:r>
              <a:rPr sz="1500" i="0">
                <a:solidFill>
                  <a:srgbClr val="E2E8F0"/>
                </a:solidFill>
                <a:latin typeface="Consolas"/>
              </a:rPr>
              <a:t>  int32_t boosted = pcm[i] * VOICE_GAIN; </a:t>
            </a:r>
            <a:r>
              <a:rPr sz="1500" i="1">
                <a:solidFill>
                  <a:srgbClr val="7DD3FC"/>
                </a:solidFill>
                <a:latin typeface="Consolas"/>
              </a:rPr>
              <a:t>// x1.5</a:t>
            </a:r>
          </a:p>
          <a:p>
            <a:pPr>
              <a:lnSpc>
                <a:spcPct val="100000"/>
              </a:lnSpc>
            </a:pPr>
            <a:r>
              <a:rPr sz="1500" i="0">
                <a:solidFill>
                  <a:srgbClr val="E2E8F0"/>
                </a:solidFill>
                <a:latin typeface="Consolas"/>
              </a:rPr>
              <a:t>  if (boosted &gt; INT16_MAX) boosted = INT16_MAX;</a:t>
            </a:r>
          </a:p>
          <a:p>
            <a:pPr>
              <a:lnSpc>
                <a:spcPct val="100000"/>
              </a:lnSpc>
            </a:pPr>
            <a:r>
              <a:rPr sz="1500" i="0">
                <a:solidFill>
                  <a:srgbClr val="E2E8F0"/>
                </a:solidFill>
                <a:latin typeface="Consolas"/>
              </a:rPr>
              <a:t>  if (boosted &lt; INT16_MIN) boosted = INT16_MIN;</a:t>
            </a:r>
          </a:p>
          <a:p>
            <a:pPr>
              <a:lnSpc>
                <a:spcPct val="100000"/>
              </a:lnSpc>
            </a:pPr>
            <a:r>
              <a:rPr sz="1500" i="0">
                <a:solidFill>
                  <a:srgbClr val="E2E8F0"/>
                </a:solidFill>
                <a:latin typeface="Consolas"/>
              </a:rPr>
              <a:t>  pcm[i] = (int16_t)boosted;</a:t>
            </a:r>
          </a:p>
          <a:p>
            <a:pPr>
              <a:lnSpc>
                <a:spcPct val="100000"/>
              </a:lnSpc>
            </a:pPr>
            <a:r>
              <a:rPr sz="1500" i="0">
                <a:solidFill>
                  <a:srgbClr val="E2E8F0"/>
                </a:solidFill>
                <a:latin typeface="Consolas"/>
              </a:rPr>
              <a:t>}</a:t>
            </a:r>
          </a:p>
        </p:txBody>
      </p:sp>
      <p:sp>
        <p:nvSpPr>
          <p:cNvPr id="12" name="Rounded Rectangle 11"/>
          <p:cNvSpPr/>
          <p:nvPr/>
        </p:nvSpPr>
        <p:spPr>
          <a:xfrm>
            <a:off x="7818120" y="1572768"/>
            <a:ext cx="3767328" cy="457200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783080"/>
            <a:ext cx="3291840" cy="320040"/>
          </a:xfrm>
          <a:prstGeom prst="rect">
            <a:avLst/>
          </a:prstGeom>
          <a:noFill/>
        </p:spPr>
        <p:txBody>
          <a:bodyPr wrap="square" lIns="0" rIns="0" tIns="0" bIns="0" anchor="t">
            <a:spAutoFit/>
          </a:bodyPr>
          <a:lstStyle/>
          <a:p>
            <a:pPr algn="l"/>
            <a:r>
              <a:rPr sz="1200" b="1" i="0">
                <a:solidFill>
                  <a:srgbClr val="0284C7"/>
                </a:solidFill>
                <a:latin typeface="Calibri"/>
              </a:rPr>
              <a:t>HOW IT WORKS</a:t>
            </a:r>
          </a:p>
        </p:txBody>
      </p:sp>
      <p:sp>
        <p:nvSpPr>
          <p:cNvPr id="14" name="Oval 13"/>
          <p:cNvSpPr/>
          <p:nvPr/>
        </p:nvSpPr>
        <p:spPr>
          <a:xfrm>
            <a:off x="8092440" y="22128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1</a:t>
            </a:r>
          </a:p>
        </p:txBody>
      </p:sp>
      <p:sp>
        <p:nvSpPr>
          <p:cNvPr id="15" name="TextBox 14"/>
          <p:cNvSpPr txBox="1"/>
          <p:nvPr/>
        </p:nvSpPr>
        <p:spPr>
          <a:xfrm>
            <a:off x="8522208" y="2194560"/>
            <a:ext cx="2880360" cy="868680"/>
          </a:xfrm>
          <a:prstGeom prst="rect">
            <a:avLst/>
          </a:prstGeom>
          <a:noFill/>
        </p:spPr>
        <p:txBody>
          <a:bodyPr wrap="square" lIns="0" rIns="0" tIns="0" bIns="0" anchor="t">
            <a:spAutoFit/>
          </a:bodyPr>
          <a:lstStyle/>
          <a:p>
            <a:pPr algn="l"/>
            <a:r>
              <a:rPr sz="1400" b="0" i="0">
                <a:solidFill>
                  <a:srgbClr val="334155"/>
                </a:solidFill>
                <a:latin typeface="Calibri"/>
              </a:rPr>
              <a:t>Opens the Bangla .wav file (reminder, thank you or gas) from LittleFS.</a:t>
            </a:r>
          </a:p>
        </p:txBody>
      </p:sp>
      <p:sp>
        <p:nvSpPr>
          <p:cNvPr id="16" name="Oval 15"/>
          <p:cNvSpPr/>
          <p:nvPr/>
        </p:nvSpPr>
        <p:spPr>
          <a:xfrm>
            <a:off x="8092440" y="31272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2</a:t>
            </a:r>
          </a:p>
        </p:txBody>
      </p:sp>
      <p:sp>
        <p:nvSpPr>
          <p:cNvPr id="17" name="TextBox 16"/>
          <p:cNvSpPr txBox="1"/>
          <p:nvPr/>
        </p:nvSpPr>
        <p:spPr>
          <a:xfrm>
            <a:off x="8522208" y="3108960"/>
            <a:ext cx="2880360" cy="868680"/>
          </a:xfrm>
          <a:prstGeom prst="rect">
            <a:avLst/>
          </a:prstGeom>
          <a:noFill/>
        </p:spPr>
        <p:txBody>
          <a:bodyPr wrap="square" lIns="0" rIns="0" tIns="0" bIns="0" anchor="t">
            <a:spAutoFit/>
          </a:bodyPr>
          <a:lstStyle/>
          <a:p>
            <a:pPr algn="l"/>
            <a:r>
              <a:rPr sz="1400" b="0" i="0">
                <a:solidFill>
                  <a:srgbClr val="334155"/>
                </a:solidFill>
                <a:latin typeface="Calibri"/>
              </a:rPr>
              <a:t>Loads it into PSRAM, the extra 8 MB memory of the ESP32-S3.</a:t>
            </a:r>
          </a:p>
        </p:txBody>
      </p:sp>
      <p:sp>
        <p:nvSpPr>
          <p:cNvPr id="18" name="Oval 17"/>
          <p:cNvSpPr/>
          <p:nvPr/>
        </p:nvSpPr>
        <p:spPr>
          <a:xfrm>
            <a:off x="8092440" y="40416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3</a:t>
            </a:r>
          </a:p>
        </p:txBody>
      </p:sp>
      <p:sp>
        <p:nvSpPr>
          <p:cNvPr id="19" name="TextBox 18"/>
          <p:cNvSpPr txBox="1"/>
          <p:nvPr/>
        </p:nvSpPr>
        <p:spPr>
          <a:xfrm>
            <a:off x="8522208" y="4023360"/>
            <a:ext cx="2880360" cy="868680"/>
          </a:xfrm>
          <a:prstGeom prst="rect">
            <a:avLst/>
          </a:prstGeom>
          <a:noFill/>
        </p:spPr>
        <p:txBody>
          <a:bodyPr wrap="square" lIns="0" rIns="0" tIns="0" bIns="0" anchor="t">
            <a:spAutoFit/>
          </a:bodyPr>
          <a:lstStyle/>
          <a:p>
            <a:pPr algn="l"/>
            <a:r>
              <a:rPr sz="1400" b="0" i="0">
                <a:solidFill>
                  <a:srgbClr val="334155"/>
                </a:solidFill>
                <a:latin typeface="Calibri"/>
              </a:rPr>
              <a:t>Makes every sample 1.5× louder, capped so the sound does not distort.</a:t>
            </a:r>
          </a:p>
        </p:txBody>
      </p:sp>
      <p:sp>
        <p:nvSpPr>
          <p:cNvPr id="20" name="Rectangle 19"/>
          <p:cNvSpPr/>
          <p:nvPr/>
        </p:nvSpPr>
        <p:spPr>
          <a:xfrm>
            <a:off x="8092440" y="5029200"/>
            <a:ext cx="32004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5138928"/>
            <a:ext cx="3291840" cy="228600"/>
          </a:xfrm>
          <a:prstGeom prst="rect">
            <a:avLst/>
          </a:prstGeom>
          <a:noFill/>
        </p:spPr>
        <p:txBody>
          <a:bodyPr wrap="square" lIns="0" rIns="0" tIns="0" bIns="0" anchor="t">
            <a:spAutoFit/>
          </a:bodyPr>
          <a:lstStyle/>
          <a:p>
            <a:pPr algn="l"/>
            <a:r>
              <a:rPr sz="1100" b="1" i="0">
                <a:solidFill>
                  <a:srgbClr val="475569"/>
                </a:solidFill>
                <a:latin typeface="Calibri"/>
              </a:rPr>
              <a:t>IN SHORT</a:t>
            </a:r>
          </a:p>
        </p:txBody>
      </p:sp>
      <p:sp>
        <p:nvSpPr>
          <p:cNvPr id="22" name="TextBox 21"/>
          <p:cNvSpPr txBox="1"/>
          <p:nvPr/>
        </p:nvSpPr>
        <p:spPr>
          <a:xfrm>
            <a:off x="8092440" y="5394960"/>
            <a:ext cx="3291840" cy="685800"/>
          </a:xfrm>
          <a:prstGeom prst="rect">
            <a:avLst/>
          </a:prstGeom>
          <a:noFill/>
        </p:spPr>
        <p:txBody>
          <a:bodyPr wrap="square" lIns="0" rIns="0" tIns="0" bIns="0" anchor="t">
            <a:spAutoFit/>
          </a:bodyPr>
          <a:lstStyle/>
          <a:p>
            <a:pPr algn="l"/>
            <a:r>
              <a:rPr sz="1350" b="1" i="0">
                <a:solidFill>
                  <a:srgbClr val="1E1B4B"/>
                </a:solidFill>
                <a:latin typeface="Calibri"/>
              </a:rPr>
              <a:t>Clear, louder Bangla voice messages.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PROJECT PLAN</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Project Timeline: Gantt Chart</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10</a:t>
            </a:r>
          </a:p>
        </p:txBody>
      </p:sp>
      <p:sp>
        <p:nvSpPr>
          <p:cNvPr id="7" name="Rounded Rectangle 6"/>
          <p:cNvSpPr/>
          <p:nvPr/>
        </p:nvSpPr>
        <p:spPr>
          <a:xfrm>
            <a:off x="457200" y="1463039"/>
            <a:ext cx="11219688" cy="4402836"/>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3840480" cy="347472"/>
          </a:xfrm>
          <a:prstGeom prst="rect">
            <a:avLst/>
          </a:prstGeom>
          <a:noFill/>
        </p:spPr>
        <p:txBody>
          <a:bodyPr wrap="square" lIns="0" rIns="0" tIns="0" bIns="0" anchor="ctr">
            <a:spAutoFit/>
          </a:bodyPr>
          <a:lstStyle/>
          <a:p>
            <a:pPr algn="l"/>
            <a:r>
              <a:rPr sz="1300" b="1" i="0">
                <a:solidFill>
                  <a:srgbClr val="1E1B4B"/>
                </a:solidFill>
                <a:latin typeface="Arial"/>
              </a:rPr>
              <a:t>Task</a:t>
            </a:r>
          </a:p>
        </p:txBody>
      </p:sp>
      <p:sp>
        <p:nvSpPr>
          <p:cNvPr id="9" name="Rectangle 8"/>
          <p:cNvSpPr/>
          <p:nvPr/>
        </p:nvSpPr>
        <p:spPr>
          <a:xfrm>
            <a:off x="4395520"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W1</a:t>
            </a:r>
          </a:p>
        </p:txBody>
      </p:sp>
      <p:sp>
        <p:nvSpPr>
          <p:cNvPr id="10" name="Rectangle 9"/>
          <p:cNvSpPr/>
          <p:nvPr/>
        </p:nvSpPr>
        <p:spPr>
          <a:xfrm>
            <a:off x="4995214"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W2</a:t>
            </a:r>
          </a:p>
        </p:txBody>
      </p:sp>
      <p:sp>
        <p:nvSpPr>
          <p:cNvPr id="11" name="Rectangle 10"/>
          <p:cNvSpPr/>
          <p:nvPr/>
        </p:nvSpPr>
        <p:spPr>
          <a:xfrm>
            <a:off x="5594908"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W3</a:t>
            </a:r>
          </a:p>
        </p:txBody>
      </p:sp>
      <p:sp>
        <p:nvSpPr>
          <p:cNvPr id="12" name="Rectangle 11"/>
          <p:cNvSpPr/>
          <p:nvPr/>
        </p:nvSpPr>
        <p:spPr>
          <a:xfrm>
            <a:off x="6194602"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W4</a:t>
            </a:r>
          </a:p>
        </p:txBody>
      </p:sp>
      <p:sp>
        <p:nvSpPr>
          <p:cNvPr id="13" name="Rectangle 12"/>
          <p:cNvSpPr/>
          <p:nvPr/>
        </p:nvSpPr>
        <p:spPr>
          <a:xfrm>
            <a:off x="6794296"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W5</a:t>
            </a:r>
          </a:p>
        </p:txBody>
      </p:sp>
      <p:sp>
        <p:nvSpPr>
          <p:cNvPr id="14" name="Rectangle 13"/>
          <p:cNvSpPr/>
          <p:nvPr/>
        </p:nvSpPr>
        <p:spPr>
          <a:xfrm>
            <a:off x="7393990"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W6</a:t>
            </a:r>
          </a:p>
        </p:txBody>
      </p:sp>
      <p:sp>
        <p:nvSpPr>
          <p:cNvPr id="15" name="Rectangle 14"/>
          <p:cNvSpPr/>
          <p:nvPr/>
        </p:nvSpPr>
        <p:spPr>
          <a:xfrm>
            <a:off x="7993684"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W7</a:t>
            </a:r>
          </a:p>
        </p:txBody>
      </p:sp>
      <p:sp>
        <p:nvSpPr>
          <p:cNvPr id="16" name="Rectangle 15"/>
          <p:cNvSpPr/>
          <p:nvPr/>
        </p:nvSpPr>
        <p:spPr>
          <a:xfrm>
            <a:off x="8593378"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W8</a:t>
            </a:r>
          </a:p>
        </p:txBody>
      </p:sp>
      <p:sp>
        <p:nvSpPr>
          <p:cNvPr id="17" name="Rectangle 16"/>
          <p:cNvSpPr/>
          <p:nvPr/>
        </p:nvSpPr>
        <p:spPr>
          <a:xfrm>
            <a:off x="9193072"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W9</a:t>
            </a:r>
          </a:p>
        </p:txBody>
      </p:sp>
      <p:sp>
        <p:nvSpPr>
          <p:cNvPr id="18" name="Rectangle 17"/>
          <p:cNvSpPr/>
          <p:nvPr/>
        </p:nvSpPr>
        <p:spPr>
          <a:xfrm>
            <a:off x="9792766"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W10</a:t>
            </a:r>
          </a:p>
        </p:txBody>
      </p:sp>
      <p:sp>
        <p:nvSpPr>
          <p:cNvPr id="19" name="Rectangle 18"/>
          <p:cNvSpPr/>
          <p:nvPr/>
        </p:nvSpPr>
        <p:spPr>
          <a:xfrm>
            <a:off x="10392460"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W11</a:t>
            </a:r>
          </a:p>
        </p:txBody>
      </p:sp>
      <p:sp>
        <p:nvSpPr>
          <p:cNvPr id="20" name="Rectangle 19"/>
          <p:cNvSpPr/>
          <p:nvPr/>
        </p:nvSpPr>
        <p:spPr>
          <a:xfrm>
            <a:off x="10992154" y="1554480"/>
            <a:ext cx="586892" cy="347472"/>
          </a:xfrm>
          <a:prstGeom prst="rect">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100" b="1">
                <a:solidFill>
                  <a:srgbClr val="FFFFFF"/>
                </a:solidFill>
                <a:latin typeface="Calibri"/>
              </a:rPr>
              <a:t>W12</a:t>
            </a:r>
          </a:p>
        </p:txBody>
      </p:sp>
      <p:sp>
        <p:nvSpPr>
          <p:cNvPr id="21" name="Rectangle 20"/>
          <p:cNvSpPr/>
          <p:nvPr/>
        </p:nvSpPr>
        <p:spPr>
          <a:xfrm>
            <a:off x="548640" y="2253996"/>
            <a:ext cx="11036808" cy="35204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958084"/>
            <a:ext cx="11036808" cy="35204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662172"/>
            <a:ext cx="11036808" cy="35204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366260"/>
            <a:ext cx="11036808" cy="35204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070348"/>
            <a:ext cx="11036808" cy="35204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85613"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85307"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85001"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84695"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84389"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84083"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83777"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83471"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83165"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82859"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82553" y="1901952"/>
            <a:ext cx="6400" cy="3872484"/>
          </a:xfrm>
          <a:prstGeom prst="rect">
            <a:avLst/>
          </a:prstGeom>
          <a:solidFill>
            <a:srgbClr val="E7E5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1901952"/>
            <a:ext cx="3749040" cy="352044"/>
          </a:xfrm>
          <a:prstGeom prst="rect">
            <a:avLst/>
          </a:prstGeom>
          <a:noFill/>
        </p:spPr>
        <p:txBody>
          <a:bodyPr wrap="square" lIns="0" rIns="0" tIns="0" bIns="0" anchor="ctr">
            <a:spAutoFit/>
          </a:bodyPr>
          <a:lstStyle/>
          <a:p>
            <a:pPr algn="l"/>
            <a:r>
              <a:rPr sz="1200" b="1" i="0">
                <a:solidFill>
                  <a:srgbClr val="2E2A5A"/>
                </a:solidFill>
                <a:latin typeface="Calibri"/>
              </a:rPr>
              <a:t>1. </a:t>
            </a:r>
            <a:r>
              <a:rPr sz="1200" b="0" i="0">
                <a:solidFill>
                  <a:srgbClr val="334155"/>
                </a:solidFill>
                <a:latin typeface="Calibri"/>
              </a:rPr>
              <a:t>Literature review &amp; survey</a:t>
            </a:r>
          </a:p>
        </p:txBody>
      </p:sp>
      <p:sp>
        <p:nvSpPr>
          <p:cNvPr id="38" name="Rounded Rectangle 37"/>
          <p:cNvSpPr/>
          <p:nvPr/>
        </p:nvSpPr>
        <p:spPr>
          <a:xfrm>
            <a:off x="4416552" y="1965960"/>
            <a:ext cx="1744218" cy="224028"/>
          </a:xfrm>
          <a:prstGeom prst="roundRect">
            <a:avLst>
              <a:gd name="adj" fmla="val 30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3 wk</a:t>
            </a:r>
          </a:p>
        </p:txBody>
      </p:sp>
      <p:sp>
        <p:nvSpPr>
          <p:cNvPr id="39" name="TextBox 38"/>
          <p:cNvSpPr txBox="1"/>
          <p:nvPr/>
        </p:nvSpPr>
        <p:spPr>
          <a:xfrm>
            <a:off x="640080" y="2253996"/>
            <a:ext cx="3749040" cy="352044"/>
          </a:xfrm>
          <a:prstGeom prst="rect">
            <a:avLst/>
          </a:prstGeom>
          <a:noFill/>
        </p:spPr>
        <p:txBody>
          <a:bodyPr wrap="square" lIns="0" rIns="0" tIns="0" bIns="0" anchor="ctr">
            <a:spAutoFit/>
          </a:bodyPr>
          <a:lstStyle/>
          <a:p>
            <a:pPr algn="l"/>
            <a:r>
              <a:rPr sz="1200" b="1" i="0">
                <a:solidFill>
                  <a:srgbClr val="2E2A5A"/>
                </a:solidFill>
                <a:latin typeface="Calibri"/>
              </a:rPr>
              <a:t>2. </a:t>
            </a:r>
            <a:r>
              <a:rPr sz="1200" b="0" i="0">
                <a:solidFill>
                  <a:srgbClr val="334155"/>
                </a:solidFill>
                <a:latin typeface="Calibri"/>
              </a:rPr>
              <a:t>Problem statement &amp; objectives</a:t>
            </a:r>
          </a:p>
        </p:txBody>
      </p:sp>
      <p:sp>
        <p:nvSpPr>
          <p:cNvPr id="40" name="Rounded Rectangle 39"/>
          <p:cNvSpPr/>
          <p:nvPr/>
        </p:nvSpPr>
        <p:spPr>
          <a:xfrm>
            <a:off x="5016246" y="2318003"/>
            <a:ext cx="1144524" cy="224028"/>
          </a:xfrm>
          <a:prstGeom prst="roundRect">
            <a:avLst>
              <a:gd name="adj" fmla="val 30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2 wk</a:t>
            </a:r>
          </a:p>
        </p:txBody>
      </p:sp>
      <p:sp>
        <p:nvSpPr>
          <p:cNvPr id="41" name="TextBox 40"/>
          <p:cNvSpPr txBox="1"/>
          <p:nvPr/>
        </p:nvSpPr>
        <p:spPr>
          <a:xfrm>
            <a:off x="640080" y="2606040"/>
            <a:ext cx="3749040" cy="352044"/>
          </a:xfrm>
          <a:prstGeom prst="rect">
            <a:avLst/>
          </a:prstGeom>
          <a:noFill/>
        </p:spPr>
        <p:txBody>
          <a:bodyPr wrap="square" lIns="0" rIns="0" tIns="0" bIns="0" anchor="ctr">
            <a:spAutoFit/>
          </a:bodyPr>
          <a:lstStyle/>
          <a:p>
            <a:pPr algn="l"/>
            <a:r>
              <a:rPr sz="1200" b="1" i="0">
                <a:solidFill>
                  <a:srgbClr val="7C3AED"/>
                </a:solidFill>
                <a:latin typeface="Calibri"/>
              </a:rPr>
              <a:t>3. </a:t>
            </a:r>
            <a:r>
              <a:rPr sz="1200" b="0" i="0">
                <a:solidFill>
                  <a:srgbClr val="334155"/>
                </a:solidFill>
                <a:latin typeface="Calibri"/>
              </a:rPr>
              <a:t>Concept model &amp; system design</a:t>
            </a:r>
          </a:p>
        </p:txBody>
      </p:sp>
      <p:sp>
        <p:nvSpPr>
          <p:cNvPr id="42" name="Rounded Rectangle 41"/>
          <p:cNvSpPr/>
          <p:nvPr/>
        </p:nvSpPr>
        <p:spPr>
          <a:xfrm>
            <a:off x="5615940" y="2670048"/>
            <a:ext cx="1744218" cy="224028"/>
          </a:xfrm>
          <a:prstGeom prst="roundRect">
            <a:avLst>
              <a:gd name="adj" fmla="val 3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3 wk</a:t>
            </a:r>
          </a:p>
        </p:txBody>
      </p:sp>
      <p:sp>
        <p:nvSpPr>
          <p:cNvPr id="43" name="TextBox 42"/>
          <p:cNvSpPr txBox="1"/>
          <p:nvPr/>
        </p:nvSpPr>
        <p:spPr>
          <a:xfrm>
            <a:off x="640080" y="2958084"/>
            <a:ext cx="3749040" cy="352044"/>
          </a:xfrm>
          <a:prstGeom prst="rect">
            <a:avLst/>
          </a:prstGeom>
          <a:noFill/>
        </p:spPr>
        <p:txBody>
          <a:bodyPr wrap="square" lIns="0" rIns="0" tIns="0" bIns="0" anchor="ctr">
            <a:spAutoFit/>
          </a:bodyPr>
          <a:lstStyle/>
          <a:p>
            <a:pPr algn="l"/>
            <a:r>
              <a:rPr sz="1200" b="1" i="0">
                <a:solidFill>
                  <a:srgbClr val="7C3AED"/>
                </a:solidFill>
                <a:latin typeface="Calibri"/>
              </a:rPr>
              <a:t>4. </a:t>
            </a:r>
            <a:r>
              <a:rPr sz="1200" b="0" i="0">
                <a:solidFill>
                  <a:srgbClr val="334155"/>
                </a:solidFill>
                <a:latin typeface="Calibri"/>
              </a:rPr>
              <a:t>Component selection &amp; procurement</a:t>
            </a:r>
          </a:p>
        </p:txBody>
      </p:sp>
      <p:sp>
        <p:nvSpPr>
          <p:cNvPr id="44" name="Rounded Rectangle 43"/>
          <p:cNvSpPr/>
          <p:nvPr/>
        </p:nvSpPr>
        <p:spPr>
          <a:xfrm>
            <a:off x="6215634" y="3022092"/>
            <a:ext cx="1144524" cy="224028"/>
          </a:xfrm>
          <a:prstGeom prst="roundRect">
            <a:avLst>
              <a:gd name="adj" fmla="val 3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2 wk</a:t>
            </a:r>
          </a:p>
        </p:txBody>
      </p:sp>
      <p:sp>
        <p:nvSpPr>
          <p:cNvPr id="45" name="TextBox 44"/>
          <p:cNvSpPr txBox="1"/>
          <p:nvPr/>
        </p:nvSpPr>
        <p:spPr>
          <a:xfrm>
            <a:off x="640080" y="3310128"/>
            <a:ext cx="3749040" cy="352044"/>
          </a:xfrm>
          <a:prstGeom prst="rect">
            <a:avLst/>
          </a:prstGeom>
          <a:noFill/>
        </p:spPr>
        <p:txBody>
          <a:bodyPr wrap="square" lIns="0" rIns="0" tIns="0" bIns="0" anchor="ctr">
            <a:spAutoFit/>
          </a:bodyPr>
          <a:lstStyle/>
          <a:p>
            <a:pPr algn="l"/>
            <a:r>
              <a:rPr sz="1200" b="1" i="0">
                <a:solidFill>
                  <a:srgbClr val="7C3AED"/>
                </a:solidFill>
                <a:latin typeface="Calibri"/>
              </a:rPr>
              <a:t>5. </a:t>
            </a:r>
            <a:r>
              <a:rPr sz="1200" b="0" i="0">
                <a:solidFill>
                  <a:srgbClr val="334155"/>
                </a:solidFill>
                <a:latin typeface="Calibri"/>
              </a:rPr>
              <a:t>Circuit design &amp; wiring</a:t>
            </a:r>
          </a:p>
        </p:txBody>
      </p:sp>
      <p:sp>
        <p:nvSpPr>
          <p:cNvPr id="46" name="Rounded Rectangle 45"/>
          <p:cNvSpPr/>
          <p:nvPr/>
        </p:nvSpPr>
        <p:spPr>
          <a:xfrm>
            <a:off x="6815328" y="3374136"/>
            <a:ext cx="1144524" cy="224028"/>
          </a:xfrm>
          <a:prstGeom prst="roundRect">
            <a:avLst>
              <a:gd name="adj" fmla="val 3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2 wk</a:t>
            </a:r>
          </a:p>
        </p:txBody>
      </p:sp>
      <p:sp>
        <p:nvSpPr>
          <p:cNvPr id="47" name="TextBox 46"/>
          <p:cNvSpPr txBox="1"/>
          <p:nvPr/>
        </p:nvSpPr>
        <p:spPr>
          <a:xfrm>
            <a:off x="640080" y="3662172"/>
            <a:ext cx="3749040" cy="352044"/>
          </a:xfrm>
          <a:prstGeom prst="rect">
            <a:avLst/>
          </a:prstGeom>
          <a:noFill/>
        </p:spPr>
        <p:txBody>
          <a:bodyPr wrap="square" lIns="0" rIns="0" tIns="0" bIns="0" anchor="ctr">
            <a:spAutoFit/>
          </a:bodyPr>
          <a:lstStyle/>
          <a:p>
            <a:pPr algn="l"/>
            <a:r>
              <a:rPr sz="1200" b="1" i="0">
                <a:solidFill>
                  <a:srgbClr val="0284C7"/>
                </a:solidFill>
                <a:latin typeface="Calibri"/>
              </a:rPr>
              <a:t>6. </a:t>
            </a:r>
            <a:r>
              <a:rPr sz="1200" b="0" i="0">
                <a:solidFill>
                  <a:srgbClr val="334155"/>
                </a:solidFill>
                <a:latin typeface="Calibri"/>
              </a:rPr>
              <a:t>Reminder module: RTC, voice, button</a:t>
            </a:r>
          </a:p>
        </p:txBody>
      </p:sp>
      <p:sp>
        <p:nvSpPr>
          <p:cNvPr id="48" name="Rounded Rectangle 47"/>
          <p:cNvSpPr/>
          <p:nvPr/>
        </p:nvSpPr>
        <p:spPr>
          <a:xfrm>
            <a:off x="6815328" y="3726180"/>
            <a:ext cx="1744218" cy="224028"/>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3 wk</a:t>
            </a:r>
          </a:p>
        </p:txBody>
      </p:sp>
      <p:sp>
        <p:nvSpPr>
          <p:cNvPr id="49" name="TextBox 48"/>
          <p:cNvSpPr txBox="1"/>
          <p:nvPr/>
        </p:nvSpPr>
        <p:spPr>
          <a:xfrm>
            <a:off x="640080" y="4014216"/>
            <a:ext cx="3749040" cy="352044"/>
          </a:xfrm>
          <a:prstGeom prst="rect">
            <a:avLst/>
          </a:prstGeom>
          <a:noFill/>
        </p:spPr>
        <p:txBody>
          <a:bodyPr wrap="square" lIns="0" rIns="0" tIns="0" bIns="0" anchor="ctr">
            <a:spAutoFit/>
          </a:bodyPr>
          <a:lstStyle/>
          <a:p>
            <a:pPr algn="l"/>
            <a:r>
              <a:rPr sz="1200" b="1" i="0">
                <a:solidFill>
                  <a:srgbClr val="0284C7"/>
                </a:solidFill>
                <a:latin typeface="Calibri"/>
              </a:rPr>
              <a:t>7. </a:t>
            </a:r>
            <a:r>
              <a:rPr sz="1200" b="0" i="0">
                <a:solidFill>
                  <a:srgbClr val="334155"/>
                </a:solidFill>
                <a:latin typeface="Calibri"/>
              </a:rPr>
              <a:t>Emotional engagement: OLED face, persuasion</a:t>
            </a:r>
          </a:p>
        </p:txBody>
      </p:sp>
      <p:sp>
        <p:nvSpPr>
          <p:cNvPr id="50" name="Rounded Rectangle 49"/>
          <p:cNvSpPr/>
          <p:nvPr/>
        </p:nvSpPr>
        <p:spPr>
          <a:xfrm>
            <a:off x="7415021" y="4078224"/>
            <a:ext cx="1744218" cy="224028"/>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3 wk</a:t>
            </a:r>
          </a:p>
        </p:txBody>
      </p:sp>
      <p:sp>
        <p:nvSpPr>
          <p:cNvPr id="51" name="TextBox 50"/>
          <p:cNvSpPr txBox="1"/>
          <p:nvPr/>
        </p:nvSpPr>
        <p:spPr>
          <a:xfrm>
            <a:off x="640080" y="4366260"/>
            <a:ext cx="3749040" cy="352044"/>
          </a:xfrm>
          <a:prstGeom prst="rect">
            <a:avLst/>
          </a:prstGeom>
          <a:noFill/>
        </p:spPr>
        <p:txBody>
          <a:bodyPr wrap="square" lIns="0" rIns="0" tIns="0" bIns="0" anchor="ctr">
            <a:spAutoFit/>
          </a:bodyPr>
          <a:lstStyle/>
          <a:p>
            <a:pPr algn="l"/>
            <a:r>
              <a:rPr sz="1200" b="1" i="0">
                <a:solidFill>
                  <a:srgbClr val="0284C7"/>
                </a:solidFill>
                <a:latin typeface="Calibri"/>
              </a:rPr>
              <a:t>8. </a:t>
            </a:r>
            <a:r>
              <a:rPr sz="1200" b="0" i="0">
                <a:solidFill>
                  <a:srgbClr val="334155"/>
                </a:solidFill>
                <a:latin typeface="Calibri"/>
              </a:rPr>
              <a:t>Presence (PIR) &amp; gas-leak SMS alert</a:t>
            </a:r>
          </a:p>
        </p:txBody>
      </p:sp>
      <p:sp>
        <p:nvSpPr>
          <p:cNvPr id="52" name="Rounded Rectangle 51"/>
          <p:cNvSpPr/>
          <p:nvPr/>
        </p:nvSpPr>
        <p:spPr>
          <a:xfrm>
            <a:off x="8014715" y="4430268"/>
            <a:ext cx="1744218" cy="224028"/>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3 wk</a:t>
            </a:r>
          </a:p>
        </p:txBody>
      </p:sp>
      <p:sp>
        <p:nvSpPr>
          <p:cNvPr id="53" name="TextBox 52"/>
          <p:cNvSpPr txBox="1"/>
          <p:nvPr/>
        </p:nvSpPr>
        <p:spPr>
          <a:xfrm>
            <a:off x="640080" y="4718304"/>
            <a:ext cx="3749040" cy="352044"/>
          </a:xfrm>
          <a:prstGeom prst="rect">
            <a:avLst/>
          </a:prstGeom>
          <a:noFill/>
        </p:spPr>
        <p:txBody>
          <a:bodyPr wrap="square" lIns="0" rIns="0" tIns="0" bIns="0" anchor="ctr">
            <a:spAutoFit/>
          </a:bodyPr>
          <a:lstStyle/>
          <a:p>
            <a:pPr algn="l"/>
            <a:r>
              <a:rPr sz="1200" b="1" i="0">
                <a:solidFill>
                  <a:srgbClr val="0284C7"/>
                </a:solidFill>
                <a:latin typeface="Calibri"/>
              </a:rPr>
              <a:t>9. </a:t>
            </a:r>
            <a:r>
              <a:rPr sz="1200" b="0" i="0">
                <a:solidFill>
                  <a:srgbClr val="334155"/>
                </a:solidFill>
                <a:latin typeface="Calibri"/>
              </a:rPr>
              <a:t>Integration, SD logging &amp; enclosure</a:t>
            </a:r>
          </a:p>
        </p:txBody>
      </p:sp>
      <p:sp>
        <p:nvSpPr>
          <p:cNvPr id="54" name="Rounded Rectangle 53"/>
          <p:cNvSpPr/>
          <p:nvPr/>
        </p:nvSpPr>
        <p:spPr>
          <a:xfrm>
            <a:off x="8614410" y="4782312"/>
            <a:ext cx="1144524" cy="224028"/>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2 wk</a:t>
            </a:r>
          </a:p>
        </p:txBody>
      </p:sp>
      <p:sp>
        <p:nvSpPr>
          <p:cNvPr id="55" name="TextBox 54"/>
          <p:cNvSpPr txBox="1"/>
          <p:nvPr/>
        </p:nvSpPr>
        <p:spPr>
          <a:xfrm>
            <a:off x="640080" y="5070348"/>
            <a:ext cx="3749040" cy="352044"/>
          </a:xfrm>
          <a:prstGeom prst="rect">
            <a:avLst/>
          </a:prstGeom>
          <a:noFill/>
        </p:spPr>
        <p:txBody>
          <a:bodyPr wrap="square" lIns="0" rIns="0" tIns="0" bIns="0" anchor="ctr">
            <a:spAutoFit/>
          </a:bodyPr>
          <a:lstStyle/>
          <a:p>
            <a:pPr algn="l"/>
            <a:r>
              <a:rPr sz="1200" b="1" i="0">
                <a:solidFill>
                  <a:srgbClr val="DB2777"/>
                </a:solidFill>
                <a:latin typeface="Calibri"/>
              </a:rPr>
              <a:t>10. </a:t>
            </a:r>
            <a:r>
              <a:rPr sz="1200" b="0" i="0">
                <a:solidFill>
                  <a:srgbClr val="334155"/>
                </a:solidFill>
                <a:latin typeface="Calibri"/>
              </a:rPr>
              <a:t>Testing &amp; refinement</a:t>
            </a:r>
          </a:p>
        </p:txBody>
      </p:sp>
      <p:sp>
        <p:nvSpPr>
          <p:cNvPr id="56" name="Rounded Rectangle 55"/>
          <p:cNvSpPr/>
          <p:nvPr/>
        </p:nvSpPr>
        <p:spPr>
          <a:xfrm>
            <a:off x="7415021" y="5134356"/>
            <a:ext cx="2943606" cy="224028"/>
          </a:xfrm>
          <a:prstGeom prst="roundRect">
            <a:avLst>
              <a:gd name="adj" fmla="val 3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5 wk</a:t>
            </a:r>
          </a:p>
        </p:txBody>
      </p:sp>
      <p:sp>
        <p:nvSpPr>
          <p:cNvPr id="57" name="TextBox 56"/>
          <p:cNvSpPr txBox="1"/>
          <p:nvPr/>
        </p:nvSpPr>
        <p:spPr>
          <a:xfrm>
            <a:off x="640080" y="5422392"/>
            <a:ext cx="3749040" cy="352044"/>
          </a:xfrm>
          <a:prstGeom prst="rect">
            <a:avLst/>
          </a:prstGeom>
          <a:noFill/>
        </p:spPr>
        <p:txBody>
          <a:bodyPr wrap="square" lIns="0" rIns="0" tIns="0" bIns="0" anchor="ctr">
            <a:spAutoFit/>
          </a:bodyPr>
          <a:lstStyle/>
          <a:p>
            <a:pPr algn="l"/>
            <a:r>
              <a:rPr sz="1200" b="1" i="0">
                <a:solidFill>
                  <a:srgbClr val="DB2777"/>
                </a:solidFill>
                <a:latin typeface="Calibri"/>
              </a:rPr>
              <a:t>11. </a:t>
            </a:r>
            <a:r>
              <a:rPr sz="1200" b="0" i="0">
                <a:solidFill>
                  <a:srgbClr val="334155"/>
                </a:solidFill>
                <a:latin typeface="Calibri"/>
              </a:rPr>
              <a:t>Paper &amp; report</a:t>
            </a:r>
          </a:p>
        </p:txBody>
      </p:sp>
      <p:sp>
        <p:nvSpPr>
          <p:cNvPr id="58" name="Rounded Rectangle 57"/>
          <p:cNvSpPr/>
          <p:nvPr/>
        </p:nvSpPr>
        <p:spPr>
          <a:xfrm>
            <a:off x="10413492" y="5486400"/>
            <a:ext cx="1144524" cy="224028"/>
          </a:xfrm>
          <a:prstGeom prst="roundRect">
            <a:avLst>
              <a:gd name="adj" fmla="val 3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Calibri"/>
              </a:rPr>
              <a:t>2 wk</a:t>
            </a:r>
          </a:p>
        </p:txBody>
      </p:sp>
      <p:sp>
        <p:nvSpPr>
          <p:cNvPr id="59" name="TextBox 58"/>
          <p:cNvSpPr txBox="1"/>
          <p:nvPr/>
        </p:nvSpPr>
        <p:spPr>
          <a:xfrm>
            <a:off x="548640" y="5939028"/>
            <a:ext cx="1005840" cy="228600"/>
          </a:xfrm>
          <a:prstGeom prst="rect">
            <a:avLst/>
          </a:prstGeom>
          <a:noFill/>
        </p:spPr>
        <p:txBody>
          <a:bodyPr wrap="square" lIns="0" rIns="0" tIns="0" bIns="0" anchor="ctr">
            <a:spAutoFit/>
          </a:bodyPr>
          <a:lstStyle/>
          <a:p>
            <a:pPr algn="l"/>
            <a:r>
              <a:rPr sz="1200" b="1" i="0">
                <a:solidFill>
                  <a:srgbClr val="1E1B4B"/>
                </a:solidFill>
                <a:latin typeface="Calibri"/>
              </a:rPr>
              <a:t>Phases:</a:t>
            </a:r>
          </a:p>
        </p:txBody>
      </p:sp>
      <p:sp>
        <p:nvSpPr>
          <p:cNvPr id="60" name="Rounded Rectangle 59"/>
          <p:cNvSpPr/>
          <p:nvPr/>
        </p:nvSpPr>
        <p:spPr>
          <a:xfrm>
            <a:off x="1554480" y="5966460"/>
            <a:ext cx="365760" cy="173736"/>
          </a:xfrm>
          <a:prstGeom prst="roundRect">
            <a:avLst>
              <a:gd name="adj" fmla="val 30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11680" y="5939028"/>
            <a:ext cx="1463040" cy="228600"/>
          </a:xfrm>
          <a:prstGeom prst="rect">
            <a:avLst/>
          </a:prstGeom>
          <a:noFill/>
        </p:spPr>
        <p:txBody>
          <a:bodyPr wrap="square" lIns="0" rIns="0" tIns="0" bIns="0" anchor="ctr">
            <a:spAutoFit/>
          </a:bodyPr>
          <a:lstStyle/>
          <a:p>
            <a:pPr algn="l"/>
            <a:r>
              <a:rPr sz="1200" b="0" i="0">
                <a:solidFill>
                  <a:srgbClr val="334155"/>
                </a:solidFill>
                <a:latin typeface="Calibri"/>
              </a:rPr>
              <a:t>Plan</a:t>
            </a:r>
          </a:p>
        </p:txBody>
      </p:sp>
      <p:sp>
        <p:nvSpPr>
          <p:cNvPr id="62" name="Rounded Rectangle 61"/>
          <p:cNvSpPr/>
          <p:nvPr/>
        </p:nvSpPr>
        <p:spPr>
          <a:xfrm>
            <a:off x="3520440" y="5966460"/>
            <a:ext cx="365760" cy="173736"/>
          </a:xfrm>
          <a:prstGeom prst="roundRect">
            <a:avLst>
              <a:gd name="adj" fmla="val 3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77639" y="5939028"/>
            <a:ext cx="1463040" cy="228600"/>
          </a:xfrm>
          <a:prstGeom prst="rect">
            <a:avLst/>
          </a:prstGeom>
          <a:noFill/>
        </p:spPr>
        <p:txBody>
          <a:bodyPr wrap="square" lIns="0" rIns="0" tIns="0" bIns="0" anchor="ctr">
            <a:spAutoFit/>
          </a:bodyPr>
          <a:lstStyle/>
          <a:p>
            <a:pPr algn="l"/>
            <a:r>
              <a:rPr sz="1200" b="0" i="0">
                <a:solidFill>
                  <a:srgbClr val="334155"/>
                </a:solidFill>
                <a:latin typeface="Calibri"/>
              </a:rPr>
              <a:t>Design</a:t>
            </a:r>
          </a:p>
        </p:txBody>
      </p:sp>
      <p:sp>
        <p:nvSpPr>
          <p:cNvPr id="64" name="Rounded Rectangle 63"/>
          <p:cNvSpPr/>
          <p:nvPr/>
        </p:nvSpPr>
        <p:spPr>
          <a:xfrm>
            <a:off x="5486400" y="5966460"/>
            <a:ext cx="365760" cy="173736"/>
          </a:xfrm>
          <a:prstGeom prst="roundRect">
            <a:avLst>
              <a:gd name="adj" fmla="val 3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0" y="5939028"/>
            <a:ext cx="1463040" cy="228600"/>
          </a:xfrm>
          <a:prstGeom prst="rect">
            <a:avLst/>
          </a:prstGeom>
          <a:noFill/>
        </p:spPr>
        <p:txBody>
          <a:bodyPr wrap="square" lIns="0" rIns="0" tIns="0" bIns="0" anchor="ctr">
            <a:spAutoFit/>
          </a:bodyPr>
          <a:lstStyle/>
          <a:p>
            <a:pPr algn="l"/>
            <a:r>
              <a:rPr sz="1200" b="0" i="0">
                <a:solidFill>
                  <a:srgbClr val="334155"/>
                </a:solidFill>
                <a:latin typeface="Calibri"/>
              </a:rPr>
              <a:t>Build</a:t>
            </a:r>
          </a:p>
        </p:txBody>
      </p:sp>
      <p:sp>
        <p:nvSpPr>
          <p:cNvPr id="66" name="Rounded Rectangle 65"/>
          <p:cNvSpPr/>
          <p:nvPr/>
        </p:nvSpPr>
        <p:spPr>
          <a:xfrm>
            <a:off x="7452360" y="5966460"/>
            <a:ext cx="365760" cy="173736"/>
          </a:xfrm>
          <a:prstGeom prst="roundRect">
            <a:avLst>
              <a:gd name="adj" fmla="val 30000"/>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909560" y="5939028"/>
            <a:ext cx="1463040" cy="228600"/>
          </a:xfrm>
          <a:prstGeom prst="rect">
            <a:avLst/>
          </a:prstGeom>
          <a:noFill/>
        </p:spPr>
        <p:txBody>
          <a:bodyPr wrap="square" lIns="0" rIns="0" tIns="0" bIns="0" anchor="ctr">
            <a:spAutoFit/>
          </a:bodyPr>
          <a:lstStyle/>
          <a:p>
            <a:pPr algn="l"/>
            <a:r>
              <a:rPr sz="1200" b="0" i="0">
                <a:solidFill>
                  <a:srgbClr val="334155"/>
                </a:solidFill>
                <a:latin typeface="Calibri"/>
              </a:rPr>
              <a:t>Test &amp; Report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56032"/>
          </a:xfrm>
          <a:prstGeom prst="rect">
            <a:avLst/>
          </a:prstGeom>
          <a:noFill/>
        </p:spPr>
        <p:txBody>
          <a:bodyPr wrap="square" lIns="0" rIns="0" tIns="0" bIns="0" anchor="ctr">
            <a:spAutoFit/>
          </a:bodyPr>
          <a:lstStyle/>
          <a:p>
            <a:pPr algn="l"/>
            <a:r>
              <a:rPr sz="1200" b="1" i="0">
                <a:solidFill>
                  <a:srgbClr val="7C3AED"/>
                </a:solidFill>
                <a:latin typeface="Calibri"/>
              </a:rPr>
              <a:t>WRAPPING UP</a:t>
            </a:r>
          </a:p>
        </p:txBody>
      </p:sp>
      <p:sp>
        <p:nvSpPr>
          <p:cNvPr id="3" name="TextBox 2"/>
          <p:cNvSpPr txBox="1"/>
          <p:nvPr/>
        </p:nvSpPr>
        <p:spPr>
          <a:xfrm>
            <a:off x="548640" y="640080"/>
            <a:ext cx="10972800" cy="594360"/>
          </a:xfrm>
          <a:prstGeom prst="rect">
            <a:avLst/>
          </a:prstGeom>
          <a:noFill/>
        </p:spPr>
        <p:txBody>
          <a:bodyPr wrap="square" lIns="0" rIns="0" tIns="0" bIns="0" anchor="t">
            <a:spAutoFit/>
          </a:bodyPr>
          <a:lstStyle/>
          <a:p>
            <a:pPr algn="l"/>
            <a:r>
              <a:rPr sz="3000" b="1" i="0">
                <a:solidFill>
                  <a:srgbClr val="1E1B4B"/>
                </a:solidFill>
                <a:latin typeface="Arial"/>
              </a:rPr>
              <a:t>Conclusion</a:t>
            </a:r>
          </a:p>
        </p:txBody>
      </p:sp>
      <p:sp>
        <p:nvSpPr>
          <p:cNvPr id="4" name="Rectangle 3"/>
          <p:cNvSpPr/>
          <p:nvPr/>
        </p:nvSpPr>
        <p:spPr>
          <a:xfrm>
            <a:off x="548640" y="1261872"/>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3657600" cy="274320"/>
          </a:xfrm>
          <a:prstGeom prst="rect">
            <a:avLst/>
          </a:prstGeom>
          <a:noFill/>
        </p:spPr>
        <p:txBody>
          <a:bodyPr wrap="square" lIns="0" rIns="0" tIns="0" bIns="0" anchor="ctr">
            <a:spAutoFit/>
          </a:bodyPr>
          <a:lstStyle/>
          <a:p>
            <a:pPr algn="l"/>
            <a:r>
              <a:rPr sz="1100" b="0" i="0">
                <a:solidFill>
                  <a:srgbClr val="64748B"/>
                </a:solidFill>
                <a:latin typeface="Calibri"/>
              </a:rPr>
              <a:t>PicoBot  ·  Group 2</a:t>
            </a:r>
          </a:p>
        </p:txBody>
      </p:sp>
      <p:sp>
        <p:nvSpPr>
          <p:cNvPr id="6" name="TextBox 5"/>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11</a:t>
            </a:r>
          </a:p>
        </p:txBody>
      </p:sp>
      <p:sp>
        <p:nvSpPr>
          <p:cNvPr id="7" name="Oval 6"/>
          <p:cNvSpPr/>
          <p:nvPr/>
        </p:nvSpPr>
        <p:spPr>
          <a:xfrm>
            <a:off x="548640" y="1645920"/>
            <a:ext cx="420624" cy="42062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FFFFFF"/>
                </a:solidFill>
                <a:latin typeface="Calibri"/>
              </a:rPr>
              <a:t>✓</a:t>
            </a:r>
          </a:p>
        </p:txBody>
      </p:sp>
      <p:sp>
        <p:nvSpPr>
          <p:cNvPr id="8" name="TextBox 7"/>
          <p:cNvSpPr txBox="1"/>
          <p:nvPr/>
        </p:nvSpPr>
        <p:spPr>
          <a:xfrm>
            <a:off x="1170432" y="1600200"/>
            <a:ext cx="6309360" cy="822960"/>
          </a:xfrm>
          <a:prstGeom prst="rect">
            <a:avLst/>
          </a:prstGeom>
          <a:noFill/>
        </p:spPr>
        <p:txBody>
          <a:bodyPr wrap="square" lIns="0" rIns="0" tIns="0" bIns="0" anchor="t">
            <a:spAutoFit/>
          </a:bodyPr>
          <a:lstStyle/>
          <a:p>
            <a:pPr algn="l"/>
            <a:r>
              <a:rPr sz="1600" b="0" i="0">
                <a:solidFill>
                  <a:srgbClr val="334155"/>
                </a:solidFill>
                <a:latin typeface="Calibri"/>
              </a:rPr>
              <a:t>The Smart Medicine Companion Robot is a compact, intelligent and interactive solution for medicine management.</a:t>
            </a:r>
          </a:p>
        </p:txBody>
      </p:sp>
      <p:sp>
        <p:nvSpPr>
          <p:cNvPr id="9" name="Oval 8"/>
          <p:cNvSpPr/>
          <p:nvPr/>
        </p:nvSpPr>
        <p:spPr>
          <a:xfrm>
            <a:off x="548640" y="2542032"/>
            <a:ext cx="420624" cy="420624"/>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FFFFFF"/>
                </a:solidFill>
                <a:latin typeface="Calibri"/>
              </a:rPr>
              <a:t>✓</a:t>
            </a:r>
          </a:p>
        </p:txBody>
      </p:sp>
      <p:sp>
        <p:nvSpPr>
          <p:cNvPr id="10" name="TextBox 9"/>
          <p:cNvSpPr txBox="1"/>
          <p:nvPr/>
        </p:nvSpPr>
        <p:spPr>
          <a:xfrm>
            <a:off x="1170432" y="2496312"/>
            <a:ext cx="6309360" cy="822960"/>
          </a:xfrm>
          <a:prstGeom prst="rect">
            <a:avLst/>
          </a:prstGeom>
          <a:noFill/>
        </p:spPr>
        <p:txBody>
          <a:bodyPr wrap="square" lIns="0" rIns="0" tIns="0" bIns="0" anchor="t">
            <a:spAutoFit/>
          </a:bodyPr>
          <a:lstStyle/>
          <a:p>
            <a:pPr algn="l"/>
            <a:r>
              <a:rPr sz="1600" b="0" i="0">
                <a:solidFill>
                  <a:srgbClr val="334155"/>
                </a:solidFill>
                <a:latin typeface="Calibri"/>
              </a:rPr>
              <a:t>It improves medication adherence, ensures safety, and brings peace of mind to users and caregivers.</a:t>
            </a:r>
          </a:p>
        </p:txBody>
      </p:sp>
      <p:sp>
        <p:nvSpPr>
          <p:cNvPr id="11" name="Oval 10"/>
          <p:cNvSpPr/>
          <p:nvPr/>
        </p:nvSpPr>
        <p:spPr>
          <a:xfrm>
            <a:off x="548640" y="3438144"/>
            <a:ext cx="420624" cy="420624"/>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FFFFFF"/>
                </a:solidFill>
                <a:latin typeface="Calibri"/>
              </a:rPr>
              <a:t>✓</a:t>
            </a:r>
          </a:p>
        </p:txBody>
      </p:sp>
      <p:sp>
        <p:nvSpPr>
          <p:cNvPr id="12" name="TextBox 11"/>
          <p:cNvSpPr txBox="1"/>
          <p:nvPr/>
        </p:nvSpPr>
        <p:spPr>
          <a:xfrm>
            <a:off x="1170432" y="3392424"/>
            <a:ext cx="6309360" cy="822960"/>
          </a:xfrm>
          <a:prstGeom prst="rect">
            <a:avLst/>
          </a:prstGeom>
          <a:noFill/>
        </p:spPr>
        <p:txBody>
          <a:bodyPr wrap="square" lIns="0" rIns="0" tIns="0" bIns="0" anchor="t">
            <a:spAutoFit/>
          </a:bodyPr>
          <a:lstStyle/>
          <a:p>
            <a:pPr algn="l"/>
            <a:r>
              <a:rPr sz="1600" b="0" i="0">
                <a:solidFill>
                  <a:srgbClr val="334155"/>
                </a:solidFill>
                <a:latin typeface="Calibri"/>
              </a:rPr>
              <a:t>It combines robotics, IoT, voice interaction and emotional engagement in one platform.</a:t>
            </a:r>
          </a:p>
        </p:txBody>
      </p:sp>
      <p:sp>
        <p:nvSpPr>
          <p:cNvPr id="13" name="Oval 12"/>
          <p:cNvSpPr/>
          <p:nvPr/>
        </p:nvSpPr>
        <p:spPr>
          <a:xfrm>
            <a:off x="548640" y="4334255"/>
            <a:ext cx="420624" cy="420624"/>
          </a:xfrm>
          <a:prstGeom prst="ellipse">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FFFFFF"/>
                </a:solidFill>
                <a:latin typeface="Calibri"/>
              </a:rPr>
              <a:t>✓</a:t>
            </a:r>
          </a:p>
        </p:txBody>
      </p:sp>
      <p:sp>
        <p:nvSpPr>
          <p:cNvPr id="14" name="TextBox 13"/>
          <p:cNvSpPr txBox="1"/>
          <p:nvPr/>
        </p:nvSpPr>
        <p:spPr>
          <a:xfrm>
            <a:off x="1170432" y="4288536"/>
            <a:ext cx="6309360" cy="822960"/>
          </a:xfrm>
          <a:prstGeom prst="rect">
            <a:avLst/>
          </a:prstGeom>
          <a:noFill/>
        </p:spPr>
        <p:txBody>
          <a:bodyPr wrap="square" lIns="0" rIns="0" tIns="0" bIns="0" anchor="t">
            <a:spAutoFit/>
          </a:bodyPr>
          <a:lstStyle/>
          <a:p>
            <a:pPr algn="l"/>
            <a:r>
              <a:rPr sz="1600" b="0" i="0">
                <a:solidFill>
                  <a:srgbClr val="334155"/>
                </a:solidFill>
                <a:latin typeface="Calibri"/>
              </a:rPr>
              <a:t>This project has strong potential to make a real-world impact in healthcare.</a:t>
            </a:r>
          </a:p>
        </p:txBody>
      </p:sp>
      <p:sp>
        <p:nvSpPr>
          <p:cNvPr id="15" name="Rounded Rectangle 14"/>
          <p:cNvSpPr/>
          <p:nvPr/>
        </p:nvSpPr>
        <p:spPr>
          <a:xfrm>
            <a:off x="548640" y="5257800"/>
            <a:ext cx="6675120" cy="868680"/>
          </a:xfrm>
          <a:prstGeom prst="roundRect">
            <a:avLst>
              <a:gd name="adj" fmla="val 5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394960"/>
            <a:ext cx="64008" cy="59436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57800"/>
            <a:ext cx="6217920" cy="868680"/>
          </a:xfrm>
          <a:prstGeom prst="rect">
            <a:avLst/>
          </a:prstGeom>
          <a:noFill/>
        </p:spPr>
        <p:txBody>
          <a:bodyPr wrap="square" lIns="0" rIns="0" tIns="0" bIns="0" anchor="ctr">
            <a:spAutoFit/>
          </a:bodyPr>
          <a:lstStyle/>
          <a:p>
            <a:pPr algn="l"/>
            <a:r>
              <a:rPr sz="1900" b="1" i="1">
                <a:solidFill>
                  <a:srgbClr val="7C3AED"/>
                </a:solidFill>
                <a:latin typeface="Arial"/>
              </a:rPr>
              <a:t>“Technology with Care, Health Everywhere.”</a:t>
            </a:r>
          </a:p>
        </p:txBody>
      </p:sp>
      <p:sp>
        <p:nvSpPr>
          <p:cNvPr id="18" name="Rounded Rectangle 17"/>
          <p:cNvSpPr/>
          <p:nvPr/>
        </p:nvSpPr>
        <p:spPr>
          <a:xfrm>
            <a:off x="8444752" y="1572768"/>
            <a:ext cx="2514062" cy="4114800"/>
          </a:xfrm>
          <a:prstGeom prst="roundRect">
            <a:avLst>
              <a:gd name="adj" fmla="val 7000"/>
            </a:avLst>
          </a:prstGeom>
          <a:solidFill>
            <a:srgbClr val="2E2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vide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673352" y="1801368"/>
            <a:ext cx="2056862" cy="3657600"/>
          </a:xfrm>
          <a:prstGeom prst="rect">
            <a:avLst/>
          </a:prstGeom>
        </p:spPr>
      </p:pic>
      <p:sp>
        <p:nvSpPr>
          <p:cNvPr id="20" name="TextBox 19"/>
          <p:cNvSpPr txBox="1"/>
          <p:nvPr/>
        </p:nvSpPr>
        <p:spPr>
          <a:xfrm>
            <a:off x="7818120" y="5797296"/>
            <a:ext cx="3767328" cy="365760"/>
          </a:xfrm>
          <a:prstGeom prst="rect">
            <a:avLst/>
          </a:prstGeom>
          <a:noFill/>
        </p:spPr>
        <p:txBody>
          <a:bodyPr wrap="square" lIns="0" rIns="0" tIns="0" bIns="0" anchor="ctr">
            <a:spAutoFit/>
          </a:bodyPr>
          <a:lstStyle/>
          <a:p>
            <a:pPr algn="ctr"/>
            <a:r>
              <a:rPr sz="1800" b="1" i="0">
                <a:solidFill>
                  <a:srgbClr val="1E1B4B"/>
                </a:solidFill>
                <a:latin typeface="Arial"/>
              </a:rPr>
              <a:t>Project Demonstration</a:t>
            </a:r>
          </a:p>
        </p:txBody>
      </p:sp>
      <p:sp>
        <p:nvSpPr>
          <p:cNvPr id="21" name="TextBox 20"/>
          <p:cNvSpPr txBox="1"/>
          <p:nvPr/>
        </p:nvSpPr>
        <p:spPr>
          <a:xfrm>
            <a:off x="7818120" y="6144768"/>
            <a:ext cx="3767328" cy="256032"/>
          </a:xfrm>
          <a:prstGeom prst="rect">
            <a:avLst/>
          </a:prstGeom>
          <a:noFill/>
        </p:spPr>
        <p:txBody>
          <a:bodyPr wrap="square" lIns="0" rIns="0" tIns="0" bIns="0" anchor="ctr">
            <a:spAutoFit/>
          </a:bodyPr>
          <a:lstStyle/>
          <a:p>
            <a:pPr algn="ctr"/>
            <a:r>
              <a:rPr sz="1200" b="0" i="0">
                <a:solidFill>
                  <a:srgbClr val="475569"/>
                </a:solidFill>
                <a:latin typeface="Calibri"/>
              </a:rPr>
              <a:t>Click the video to play  ·  0:53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Oval 1"/>
          <p:cNvSpPr/>
          <p:nvPr/>
        </p:nvSpPr>
        <p:spPr>
          <a:xfrm>
            <a:off x="6492240" y="868680"/>
            <a:ext cx="5120640" cy="5120640"/>
          </a:xfrm>
          <a:prstGeom prst="ellipse">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217920" y="594360"/>
            <a:ext cx="5669280" cy="5669280"/>
          </a:xfrm>
          <a:prstGeom prst="ellipse">
            <a:avLst/>
          </a:prstGeom>
          <a:no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g_s1.png"/>
          <p:cNvPicPr>
            <a:picLocks noChangeAspect="1"/>
          </p:cNvPicPr>
          <p:nvPr/>
        </p:nvPicPr>
        <p:blipFill>
          <a:blip r:embed="rId2"/>
          <a:stretch>
            <a:fillRect/>
          </a:stretch>
        </p:blipFill>
        <p:spPr>
          <a:xfrm>
            <a:off x="6537960" y="1874519"/>
            <a:ext cx="5029200" cy="3755136"/>
          </a:xfrm>
          <a:prstGeom prst="rect">
            <a:avLst/>
          </a:prstGeom>
        </p:spPr>
      </p:pic>
      <p:sp>
        <p:nvSpPr>
          <p:cNvPr id="5" name="TextBox 4"/>
          <p:cNvSpPr txBox="1"/>
          <p:nvPr/>
        </p:nvSpPr>
        <p:spPr>
          <a:xfrm>
            <a:off x="685800" y="1828800"/>
            <a:ext cx="5669280" cy="914400"/>
          </a:xfrm>
          <a:prstGeom prst="rect">
            <a:avLst/>
          </a:prstGeom>
          <a:noFill/>
        </p:spPr>
        <p:txBody>
          <a:bodyPr wrap="square" lIns="0" rIns="0" tIns="0" bIns="0" anchor="t">
            <a:spAutoFit/>
          </a:bodyPr>
          <a:lstStyle/>
          <a:p>
            <a:pPr algn="l"/>
            <a:r>
              <a:rPr sz="5400" b="1" i="0">
                <a:solidFill>
                  <a:srgbClr val="1E1B4B"/>
                </a:solidFill>
                <a:latin typeface="Arial"/>
              </a:rPr>
              <a:t>Thank You</a:t>
            </a:r>
          </a:p>
        </p:txBody>
      </p:sp>
      <p:sp>
        <p:nvSpPr>
          <p:cNvPr id="6" name="TextBox 5"/>
          <p:cNvSpPr txBox="1"/>
          <p:nvPr/>
        </p:nvSpPr>
        <p:spPr>
          <a:xfrm>
            <a:off x="685800" y="2743200"/>
            <a:ext cx="5669280" cy="548640"/>
          </a:xfrm>
          <a:prstGeom prst="rect">
            <a:avLst/>
          </a:prstGeom>
          <a:noFill/>
        </p:spPr>
        <p:txBody>
          <a:bodyPr wrap="square" lIns="0" rIns="0" tIns="0" bIns="0" anchor="t">
            <a:spAutoFit/>
          </a:bodyPr>
          <a:lstStyle/>
          <a:p>
            <a:pPr algn="l"/>
            <a:r>
              <a:rPr sz="2800" b="1" i="0">
                <a:solidFill>
                  <a:srgbClr val="DB2777"/>
                </a:solidFill>
                <a:latin typeface="Arial"/>
              </a:rPr>
              <a:t>For Your Attention</a:t>
            </a:r>
          </a:p>
        </p:txBody>
      </p:sp>
      <p:sp>
        <p:nvSpPr>
          <p:cNvPr id="7" name="Rectangle 6"/>
          <p:cNvSpPr/>
          <p:nvPr/>
        </p:nvSpPr>
        <p:spPr>
          <a:xfrm>
            <a:off x="685800" y="3520440"/>
            <a:ext cx="822960" cy="5486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49039"/>
            <a:ext cx="5486400" cy="365760"/>
          </a:xfrm>
          <a:prstGeom prst="rect">
            <a:avLst/>
          </a:prstGeom>
          <a:noFill/>
        </p:spPr>
        <p:txBody>
          <a:bodyPr wrap="square" lIns="0" rIns="0" tIns="0" bIns="0" anchor="t">
            <a:spAutoFit/>
          </a:bodyPr>
          <a:lstStyle/>
          <a:p>
            <a:pPr algn="l"/>
            <a:r>
              <a:rPr sz="1800" b="0" i="1">
                <a:solidFill>
                  <a:srgbClr val="334155"/>
                </a:solidFill>
                <a:latin typeface="Calibri"/>
              </a:rPr>
              <a:t>Questions are welcome.</a:t>
            </a:r>
          </a:p>
        </p:txBody>
      </p:sp>
      <p:sp>
        <p:nvSpPr>
          <p:cNvPr id="9" name="TextBox 8"/>
          <p:cNvSpPr txBox="1"/>
          <p:nvPr/>
        </p:nvSpPr>
        <p:spPr>
          <a:xfrm>
            <a:off x="685800" y="5504688"/>
            <a:ext cx="5669280" cy="365760"/>
          </a:xfrm>
          <a:prstGeom prst="rect">
            <a:avLst/>
          </a:prstGeom>
          <a:noFill/>
        </p:spPr>
        <p:txBody>
          <a:bodyPr wrap="square" lIns="0" rIns="0" tIns="0" bIns="0" anchor="t">
            <a:spAutoFit/>
          </a:bodyPr>
          <a:lstStyle/>
          <a:p>
            <a:pPr algn="l"/>
            <a:r>
              <a:rPr sz="1600" b="1" i="0">
                <a:solidFill>
                  <a:srgbClr val="1E1B4B"/>
                </a:solidFill>
                <a:latin typeface="Calibri"/>
              </a:rPr>
              <a:t>Sultan Ruhul Kuddus Nayan</a:t>
            </a:r>
            <a:r>
              <a:rPr sz="1600" b="0" i="0">
                <a:solidFill>
                  <a:srgbClr val="334155"/>
                </a:solidFill>
                <a:latin typeface="Calibri"/>
              </a:rPr>
              <a:t>   ·   PicoBot, Group 2</a:t>
            </a:r>
          </a:p>
        </p:txBody>
      </p:sp>
      <p:sp>
        <p:nvSpPr>
          <p:cNvPr id="10" name="TextBox 9"/>
          <p:cNvSpPr txBox="1"/>
          <p:nvPr/>
        </p:nvSpPr>
        <p:spPr>
          <a:xfrm>
            <a:off x="10972800" y="6355080"/>
            <a:ext cx="685800" cy="274320"/>
          </a:xfrm>
          <a:prstGeom prst="rect">
            <a:avLst/>
          </a:prstGeom>
          <a:noFill/>
        </p:spPr>
        <p:txBody>
          <a:bodyPr wrap="square" lIns="0" rIns="0" tIns="0" bIns="0" anchor="ctr">
            <a:spAutoFit/>
          </a:bodyPr>
          <a:lstStyle/>
          <a:p>
            <a:pPr algn="r"/>
            <a:r>
              <a:rPr sz="1300" b="1" i="0">
                <a:solidFill>
                  <a:srgbClr val="47556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