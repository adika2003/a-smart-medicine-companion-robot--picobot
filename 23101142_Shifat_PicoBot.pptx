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9" r:id="rId3"/>
    <p:sldId id="288" r:id="rId4"/>
    <p:sldId id="289" r:id="rId5"/>
    <p:sldId id="291" r:id="rId6"/>
    <p:sldId id="293" r:id="rId7"/>
    <p:sldId id="294" r:id="rId8"/>
    <p:sldId id="295" r:id="rId9"/>
    <p:sldId id="296" r:id="rId16"/>
    <p:sldId id="297" r:id="rId17"/>
    <p:sldId id="27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F0B15"/>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5"/>
          <c:y val="0.07"/>
          <c:w val="0.5"/>
          <c:h val="0.5"/>
        </c:manualLayout>
      </c:layout>
      <c:pieChart>
        <c:varyColors val="1"/>
        <c:ser>
          <c:idx val="0"/>
          <c:order val="0"/>
          <c:tx>
            <c:strRef>
              <c:f>Sheet1!$B$1</c:f>
              <c:strCache>
                <c:ptCount val="1"/>
                <c:pt idx="0">
                  <c:v>Share of responses (%)</c:v>
                </c:pt>
              </c:strCache>
            </c:strRef>
          </c:tx>
          <c:dPt>
            <c:idx val="0"/>
            <c:bubble3D val="0"/>
            <c:spPr>
              <a:solidFill>
                <a:srgbClr val="0F766E"/>
              </a:solidFill>
              <a:ln w="19050">
                <a:solidFill>
                  <a:srgbClr val="FFFFFF"/>
                </a:solidFill>
              </a:ln>
            </c:spPr>
            <c:extLst>
              <c:ext xmlns:c16="http://schemas.microsoft.com/office/drawing/2014/chart" uri="{C3380CC4-5D6E-409C-BE32-E72D297353CC}">
                <c16:uniqueId val="{00000001-1B62-4BFA-9F5A-EF56E679EB2F}"/>
              </c:ext>
            </c:extLst>
          </c:dPt>
          <c:dPt>
            <c:idx val="1"/>
            <c:bubble3D val="0"/>
            <c:spPr>
              <a:solidFill>
                <a:srgbClr val="2DD4BF"/>
              </a:solidFill>
              <a:ln w="19050">
                <a:solidFill>
                  <a:srgbClr val="FFFFFF"/>
                </a:solidFill>
              </a:ln>
            </c:spPr>
            <c:extLst>
              <c:ext xmlns:c16="http://schemas.microsoft.com/office/drawing/2014/chart" uri="{C3380CC4-5D6E-409C-BE32-E72D297353CC}">
                <c16:uniqueId val="{00000003-1B62-4BFA-9F5A-EF56E679EB2F}"/>
              </c:ext>
            </c:extLst>
          </c:dPt>
          <c:dPt>
            <c:idx val="2"/>
            <c:bubble3D val="0"/>
            <c:spPr>
              <a:solidFill>
                <a:srgbClr val="F97316"/>
              </a:solidFill>
              <a:ln w="19050">
                <a:solidFill>
                  <a:srgbClr val="FFFFFF"/>
                </a:solidFill>
              </a:ln>
            </c:spPr>
            <c:extLst>
              <c:ext xmlns:c16="http://schemas.microsoft.com/office/drawing/2014/chart" uri="{C3380CC4-5D6E-409C-BE32-E72D297353CC}">
                <c16:uniqueId val="{00000005-1B62-4BFA-9F5A-EF56E679EB2F}"/>
              </c:ext>
            </c:extLst>
          </c:dPt>
          <c:dPt>
            <c:idx val="3"/>
            <c:bubble3D val="0"/>
            <c:spPr>
              <a:solidFill>
                <a:srgbClr val="475569"/>
              </a:solidFill>
              <a:ln w="19050">
                <a:solidFill>
                  <a:srgbClr val="FFFFFF"/>
                </a:solidFill>
              </a:ln>
            </c:spPr>
            <c:extLst>
              <c:ext xmlns:c16="http://schemas.microsoft.com/office/drawing/2014/chart" uri="{C3380CC4-5D6E-409C-BE32-E72D297353CC}">
                <c16:uniqueId val="{00000007-1B62-4BFA-9F5A-EF56E679EB2F}"/>
              </c:ext>
            </c:extLst>
          </c:dPt>
          <c:dLbls>
            <c:numFmt formatCode="0.0&quot;%&quot;" sourceLinked="0"/>
            <c:spPr>
              <a:noFill/>
              <a:ln>
                <a:noFill/>
              </a:ln>
            </c:spPr>
            <c:txPr>
              <a:bodyPr/>
              <a:lstStyle/>
              <a:p>
                <a:pPr>
                  <a:defRPr sz="1200" b="1">
                    <a:solidFill>
                      <a:srgbClr val="0F2A2E"/>
                    </a:solidFill>
                    <a:latin typeface="Calibri"/>
                  </a:defRPr>
                </a:pPr>
                <a:endParaRPr lang="en-US"/>
              </a:p>
            </c:txPr>
            <c:dLblPos val="outEnd"/>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40–49</c:v>
                </c:pt>
                <c:pt idx="1">
                  <c:v>50–59</c:v>
                </c:pt>
                <c:pt idx="2">
                  <c:v>60–69</c:v>
                </c:pt>
                <c:pt idx="3">
                  <c:v>70+</c:v>
                </c:pt>
              </c:strCache>
            </c:strRef>
          </c:cat>
          <c:val>
            <c:numRef>
              <c:f>Sheet1!$B$2:$B$5</c:f>
              <c:numCache>
                <c:formatCode>General</c:formatCode>
                <c:ptCount val="4"/>
                <c:pt idx="0">
                  <c:v>44.4</c:v>
                </c:pt>
                <c:pt idx="1">
                  <c:v>7.4</c:v>
                </c:pt>
                <c:pt idx="2">
                  <c:v>29.6</c:v>
                </c:pt>
                <c:pt idx="3">
                  <c:v>18.5</c:v>
                </c:pt>
              </c:numCache>
            </c:numRef>
          </c:val>
          <c:extLst>
            <c:ext xmlns:c16="http://schemas.microsoft.com/office/drawing/2014/chart" uri="{C3380CC4-5D6E-409C-BE32-E72D297353CC}">
              <c16:uniqueId val="{00000008-1B62-4BFA-9F5A-EF56E679EB2F}"/>
            </c:ext>
          </c:extLst>
        </c:ser>
        <c:dLbls>
          <c:showLegendKey val="0"/>
          <c:showVal val="0"/>
          <c:showCatName val="0"/>
          <c:showSerName val="0"/>
          <c:showPercent val="0"/>
          <c:showBubbleSize val="0"/>
          <c:showLeaderLines val="1"/>
        </c:dLbls>
        <c:firstSliceAng val="0"/>
      </c:pieChart>
      <c:spPr>
        <a:noFill/>
      </c:spPr>
    </c:plotArea>
    <c:legend>
      <c:legendPos val="b"/>
      <c:layout>
        <c:manualLayout>
          <c:xMode val="edge"/>
          <c:yMode val="edge"/>
          <c:x val="0.02"/>
          <c:y val="0.72"/>
          <c:w val="0.96"/>
          <c:h val="0.28"/>
        </c:manualLayout>
      </c:layout>
      <c:overlay val="0"/>
      <c:txPr>
        <a:bodyPr/>
        <a:lstStyle/>
        <a:p>
          <a:pPr>
            <a:defRPr sz="1200" b="0">
              <a:solidFill>
                <a:srgbClr val="334155"/>
              </a:solidFill>
              <a:latin typeface="Calibri"/>
            </a:defRPr>
          </a:pPr>
          <a:endParaRPr lang="en-US"/>
        </a:p>
      </c:txPr>
    </c:legend>
    <c:plotVisOnly val="1"/>
    <c:dispBlanksAs val="gap"/>
    <c:showDLblsOverMax val="1"/>
  </c:chart>
  <c:spPr>
    <a:noFill/>
    <a:ln>
      <a:noFill/>
    </a:ln>
  </c:spPr>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Responses</c:v>
                </c:pt>
              </c:strCache>
            </c:strRef>
          </c:tx>
          <c:spPr>
            <a:solidFill>
              <a:srgbClr val="9FD8D2"/>
            </a:solidFill>
          </c:spPr>
          <c:invertIfNegative val="0"/>
          <c:dPt>
            <c:idx val="3"/>
            <c:invertIfNegative val="0"/>
            <c:bubble3D val="0"/>
            <c:spPr>
              <a:solidFill>
                <a:srgbClr val="0F766E"/>
              </a:solidFill>
            </c:spPr>
            <c:extLst>
              <c:ext xmlns:c16="http://schemas.microsoft.com/office/drawing/2014/chart" uri="{C3380CC4-5D6E-409C-BE32-E72D297353CC}">
                <c16:uniqueId val="{00000001-7003-48BF-B658-8C7A74BEC677}"/>
              </c:ext>
            </c:extLst>
          </c:dPt>
          <c:dPt>
            <c:idx val="4"/>
            <c:invertIfNegative val="0"/>
            <c:bubble3D val="0"/>
            <c:spPr>
              <a:solidFill>
                <a:srgbClr val="0F766E"/>
              </a:solidFill>
            </c:spPr>
            <c:extLst>
              <c:ext xmlns:c16="http://schemas.microsoft.com/office/drawing/2014/chart" uri="{C3380CC4-5D6E-409C-BE32-E72D297353CC}">
                <c16:uniqueId val="{00000003-7003-48BF-B658-8C7A74BEC677}"/>
              </c:ext>
            </c:extLst>
          </c:dPt>
          <c:dLbls>
            <c:spPr>
              <a:noFill/>
              <a:ln>
                <a:noFill/>
              </a:ln>
            </c:spPr>
            <c:txPr>
              <a:bodyPr/>
              <a:lstStyle/>
              <a:p>
                <a:pPr>
                  <a:defRPr sz="1200" b="1">
                    <a:solidFill>
                      <a:srgbClr val="0F2A2E"/>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3</c:v>
                </c:pt>
                <c:pt idx="3">
                  <c:v>4</c:v>
                </c:pt>
                <c:pt idx="4">
                  <c:v>5</c:v>
                </c:pt>
              </c:strCache>
            </c:strRef>
          </c:cat>
          <c:val>
            <c:numRef>
              <c:f>Sheet1!$B$2:$B$6</c:f>
              <c:numCache>
                <c:formatCode>General</c:formatCode>
                <c:ptCount val="5"/>
                <c:pt idx="0">
                  <c:v>3</c:v>
                </c:pt>
                <c:pt idx="1">
                  <c:v>9</c:v>
                </c:pt>
                <c:pt idx="2">
                  <c:v>7</c:v>
                </c:pt>
                <c:pt idx="3">
                  <c:v>7</c:v>
                </c:pt>
                <c:pt idx="4">
                  <c:v>8</c:v>
                </c:pt>
              </c:numCache>
            </c:numRef>
          </c:val>
          <c:extLst>
            <c:ext xmlns:c16="http://schemas.microsoft.com/office/drawing/2014/chart" uri="{C3380CC4-5D6E-409C-BE32-E72D297353CC}">
              <c16:uniqueId val="{00000004-7003-48BF-B658-8C7A74BEC677}"/>
            </c:ext>
          </c:extLst>
        </c:ser>
        <c:dLbls>
          <c:showLegendKey val="0"/>
          <c:showVal val="0"/>
          <c:showCatName val="0"/>
          <c:showSerName val="0"/>
          <c:showPercent val="0"/>
          <c:showBubbleSize val="0"/>
        </c:dLbls>
        <c:gapWidth val="60"/>
        <c:axId val="111"/>
        <c:axId val="222"/>
      </c:barChart>
      <c:catAx>
        <c:axId val="111"/>
        <c:scaling>
          <c:orientation val="minMax"/>
        </c:scaling>
        <c:delete val="0"/>
        <c:axPos val="b"/>
        <c:numFmt formatCode="General" sourceLinked="0"/>
        <c:majorTickMark val="none"/>
        <c:minorTickMark val="none"/>
        <c:tickLblPos val="nextTo"/>
        <c:spPr>
          <a:ln w="9525">
            <a:solidFill>
              <a:srgbClr val="D5E3E4"/>
            </a:solidFill>
          </a:ln>
        </c:spPr>
        <c:txPr>
          <a:bodyPr/>
          <a:lstStyle/>
          <a:p>
            <a:pPr>
              <a:defRPr sz="1200" b="0">
                <a:solidFill>
                  <a:srgbClr val="334155"/>
                </a:solidFill>
                <a:latin typeface="Calibri"/>
              </a:defRPr>
            </a:pPr>
            <a:endParaRPr lang="en-US"/>
          </a:p>
        </c:txPr>
        <c:crossAx val="222"/>
        <c:crosses val="autoZero"/>
        <c:auto val="1"/>
        <c:lblAlgn val="ctr"/>
        <c:lblOffset val="100"/>
        <c:noMultiLvlLbl val="0"/>
      </c:catAx>
      <c:valAx>
        <c:axId val="222"/>
        <c:scaling>
          <c:orientation val="minMax"/>
          <c:min val="0"/>
        </c:scaling>
        <c:delete val="1"/>
        <c:axPos val="l"/>
        <c:numFmt formatCode="General" sourceLinked="0"/>
        <c:majorTickMark val="none"/>
        <c:minorTickMark val="none"/>
        <c:tickLblPos val="nextTo"/>
        <c:crossAx val="111"/>
        <c:crosses val="autoZero"/>
        <c:crossBetween val="between"/>
      </c:valAx>
      <c:spPr>
        <a:noFill/>
      </c:spPr>
    </c:plotArea>
    <c:plotVisOnly val="1"/>
    <c:dispBlanksAs val="gap"/>
    <c:showDLblsOverMax val="1"/>
  </c:chart>
  <c:spPr>
    <a:noFill/>
    <a:ln>
      <a:noFill/>
    </a:ln>
  </c:spPr>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5"/>
          <c:y val="0.07"/>
          <c:w val="0.5"/>
          <c:h val="0.5"/>
        </c:manualLayout>
      </c:layout>
      <c:pieChart>
        <c:varyColors val="1"/>
        <c:ser>
          <c:idx val="0"/>
          <c:order val="0"/>
          <c:tx>
            <c:strRef>
              <c:f>Sheet1!$B$1</c:f>
              <c:strCache>
                <c:ptCount val="1"/>
                <c:pt idx="0">
                  <c:v>Share of responses (%)</c:v>
                </c:pt>
              </c:strCache>
            </c:strRef>
          </c:tx>
          <c:dPt>
            <c:idx val="0"/>
            <c:bubble3D val="0"/>
            <c:spPr>
              <a:solidFill>
                <a:srgbClr val="0F766E"/>
              </a:solidFill>
              <a:ln w="19050">
                <a:solidFill>
                  <a:srgbClr val="FFFFFF"/>
                </a:solidFill>
              </a:ln>
            </c:spPr>
            <c:extLst>
              <c:ext xmlns:c16="http://schemas.microsoft.com/office/drawing/2014/chart" uri="{C3380CC4-5D6E-409C-BE32-E72D297353CC}">
                <c16:uniqueId val="{00000001-3BD7-4C04-B30B-19D8AD738D7B}"/>
              </c:ext>
            </c:extLst>
          </c:dPt>
          <c:dPt>
            <c:idx val="1"/>
            <c:bubble3D val="0"/>
            <c:spPr>
              <a:solidFill>
                <a:srgbClr val="2DD4BF"/>
              </a:solidFill>
              <a:ln w="19050">
                <a:solidFill>
                  <a:srgbClr val="FFFFFF"/>
                </a:solidFill>
              </a:ln>
            </c:spPr>
            <c:extLst>
              <c:ext xmlns:c16="http://schemas.microsoft.com/office/drawing/2014/chart" uri="{C3380CC4-5D6E-409C-BE32-E72D297353CC}">
                <c16:uniqueId val="{00000003-3BD7-4C04-B30B-19D8AD738D7B}"/>
              </c:ext>
            </c:extLst>
          </c:dPt>
          <c:dPt>
            <c:idx val="2"/>
            <c:bubble3D val="0"/>
            <c:spPr>
              <a:solidFill>
                <a:srgbClr val="F97316"/>
              </a:solidFill>
              <a:ln w="19050">
                <a:solidFill>
                  <a:srgbClr val="FFFFFF"/>
                </a:solidFill>
              </a:ln>
            </c:spPr>
            <c:extLst>
              <c:ext xmlns:c16="http://schemas.microsoft.com/office/drawing/2014/chart" uri="{C3380CC4-5D6E-409C-BE32-E72D297353CC}">
                <c16:uniqueId val="{00000005-3BD7-4C04-B30B-19D8AD738D7B}"/>
              </c:ext>
            </c:extLst>
          </c:dPt>
          <c:dPt>
            <c:idx val="3"/>
            <c:bubble3D val="0"/>
            <c:spPr>
              <a:solidFill>
                <a:srgbClr val="475569"/>
              </a:solidFill>
              <a:ln w="19050">
                <a:solidFill>
                  <a:srgbClr val="FFFFFF"/>
                </a:solidFill>
              </a:ln>
            </c:spPr>
            <c:extLst>
              <c:ext xmlns:c16="http://schemas.microsoft.com/office/drawing/2014/chart" uri="{C3380CC4-5D6E-409C-BE32-E72D297353CC}">
                <c16:uniqueId val="{00000007-3BD7-4C04-B30B-19D8AD738D7B}"/>
              </c:ext>
            </c:extLst>
          </c:dPt>
          <c:dLbls>
            <c:numFmt formatCode="0.0&quot;%&quot;" sourceLinked="0"/>
            <c:spPr>
              <a:noFill/>
              <a:ln>
                <a:noFill/>
              </a:ln>
            </c:spPr>
            <c:txPr>
              <a:bodyPr/>
              <a:lstStyle/>
              <a:p>
                <a:pPr>
                  <a:defRPr sz="1200" b="1">
                    <a:solidFill>
                      <a:srgbClr val="0F2A2E"/>
                    </a:solidFill>
                    <a:latin typeface="Calibri"/>
                  </a:defRPr>
                </a:pPr>
                <a:endParaRPr lang="en-US"/>
              </a:p>
            </c:txPr>
            <c:dLblPos val="outEnd"/>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Always accurate</c:v>
                </c:pt>
                <c:pt idx="1">
                  <c:v>Mostly accurate</c:v>
                </c:pt>
                <c:pt idx="2">
                  <c:v>Sometimes inaccurate</c:v>
                </c:pt>
                <c:pt idx="3">
                  <c:v>Frequently inaccurate</c:v>
                </c:pt>
              </c:strCache>
            </c:strRef>
          </c:cat>
          <c:val>
            <c:numRef>
              <c:f>Sheet1!$B$2:$B$5</c:f>
              <c:numCache>
                <c:formatCode>General</c:formatCode>
                <c:ptCount val="4"/>
                <c:pt idx="0">
                  <c:v>17.600000000000001</c:v>
                </c:pt>
                <c:pt idx="1">
                  <c:v>26.5</c:v>
                </c:pt>
                <c:pt idx="2">
                  <c:v>41.2</c:v>
                </c:pt>
                <c:pt idx="3">
                  <c:v>14.7</c:v>
                </c:pt>
              </c:numCache>
            </c:numRef>
          </c:val>
          <c:extLst>
            <c:ext xmlns:c16="http://schemas.microsoft.com/office/drawing/2014/chart" uri="{C3380CC4-5D6E-409C-BE32-E72D297353CC}">
              <c16:uniqueId val="{00000008-3BD7-4C04-B30B-19D8AD738D7B}"/>
            </c:ext>
          </c:extLst>
        </c:ser>
        <c:dLbls>
          <c:showLegendKey val="0"/>
          <c:showVal val="0"/>
          <c:showCatName val="0"/>
          <c:showSerName val="0"/>
          <c:showPercent val="0"/>
          <c:showBubbleSize val="0"/>
          <c:showLeaderLines val="1"/>
        </c:dLbls>
        <c:firstSliceAng val="0"/>
      </c:pieChart>
      <c:spPr>
        <a:noFill/>
      </c:spPr>
    </c:plotArea>
    <c:legend>
      <c:legendPos val="b"/>
      <c:layout>
        <c:manualLayout>
          <c:xMode val="edge"/>
          <c:yMode val="edge"/>
          <c:x val="0.02"/>
          <c:y val="0.72"/>
          <c:w val="0.96"/>
          <c:h val="0.28"/>
        </c:manualLayout>
      </c:layout>
      <c:overlay val="0"/>
      <c:txPr>
        <a:bodyPr/>
        <a:lstStyle/>
        <a:p>
          <a:pPr>
            <a:defRPr sz="1200" b="0">
              <a:solidFill>
                <a:srgbClr val="334155"/>
              </a:solidFill>
              <a:latin typeface="Calibri"/>
            </a:defRPr>
          </a:pPr>
          <a:endParaRPr lang="en-US"/>
        </a:p>
      </c:txPr>
    </c:legend>
    <c:plotVisOnly val="1"/>
    <c:dispBlanksAs val="gap"/>
    <c:showDLblsOverMax val="1"/>
  </c:chart>
  <c:spPr>
    <a:noFill/>
    <a:ln>
      <a:noFill/>
    </a:ln>
  </c:spPr>
  <c:txPr>
    <a:bodyPr/>
    <a:lstStyle/>
    <a:p>
      <a:pPr>
        <a:defRPr sz="12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5"/>
          <c:y val="0.07"/>
          <c:w val="0.5"/>
          <c:h val="0.5"/>
        </c:manualLayout>
      </c:layout>
      <c:pieChart>
        <c:varyColors val="1"/>
        <c:ser>
          <c:idx val="0"/>
          <c:order val="0"/>
          <c:tx>
            <c:strRef>
              <c:f>Sheet1!$B$1</c:f>
              <c:strCache>
                <c:ptCount val="1"/>
                <c:pt idx="0">
                  <c:v>Share of responses (%)</c:v>
                </c:pt>
              </c:strCache>
            </c:strRef>
          </c:tx>
          <c:dPt>
            <c:idx val="0"/>
            <c:bubble3D val="0"/>
            <c:spPr>
              <a:solidFill>
                <a:srgbClr val="0F766E"/>
              </a:solidFill>
              <a:ln w="19050">
                <a:solidFill>
                  <a:srgbClr val="FFFFFF"/>
                </a:solidFill>
              </a:ln>
            </c:spPr>
            <c:extLst>
              <c:ext xmlns:c16="http://schemas.microsoft.com/office/drawing/2014/chart" uri="{C3380CC4-5D6E-409C-BE32-E72D297353CC}">
                <c16:uniqueId val="{00000001-CCA0-4C72-B333-B4A339D242E0}"/>
              </c:ext>
            </c:extLst>
          </c:dPt>
          <c:dPt>
            <c:idx val="1"/>
            <c:bubble3D val="0"/>
            <c:spPr>
              <a:solidFill>
                <a:srgbClr val="2DD4BF"/>
              </a:solidFill>
              <a:ln w="19050">
                <a:solidFill>
                  <a:srgbClr val="FFFFFF"/>
                </a:solidFill>
              </a:ln>
            </c:spPr>
            <c:extLst>
              <c:ext xmlns:c16="http://schemas.microsoft.com/office/drawing/2014/chart" uri="{C3380CC4-5D6E-409C-BE32-E72D297353CC}">
                <c16:uniqueId val="{00000003-CCA0-4C72-B333-B4A339D242E0}"/>
              </c:ext>
            </c:extLst>
          </c:dPt>
          <c:dPt>
            <c:idx val="2"/>
            <c:bubble3D val="0"/>
            <c:spPr>
              <a:solidFill>
                <a:srgbClr val="F97316"/>
              </a:solidFill>
              <a:ln w="19050">
                <a:solidFill>
                  <a:srgbClr val="FFFFFF"/>
                </a:solidFill>
              </a:ln>
            </c:spPr>
            <c:extLst>
              <c:ext xmlns:c16="http://schemas.microsoft.com/office/drawing/2014/chart" uri="{C3380CC4-5D6E-409C-BE32-E72D297353CC}">
                <c16:uniqueId val="{00000005-CCA0-4C72-B333-B4A339D242E0}"/>
              </c:ext>
            </c:extLst>
          </c:dPt>
          <c:dPt>
            <c:idx val="3"/>
            <c:bubble3D val="0"/>
            <c:spPr>
              <a:solidFill>
                <a:srgbClr val="475569"/>
              </a:solidFill>
              <a:ln w="19050">
                <a:solidFill>
                  <a:srgbClr val="FFFFFF"/>
                </a:solidFill>
              </a:ln>
            </c:spPr>
            <c:extLst>
              <c:ext xmlns:c16="http://schemas.microsoft.com/office/drawing/2014/chart" uri="{C3380CC4-5D6E-409C-BE32-E72D297353CC}">
                <c16:uniqueId val="{00000007-CCA0-4C72-B333-B4A339D242E0}"/>
              </c:ext>
            </c:extLst>
          </c:dPt>
          <c:dLbls>
            <c:numFmt formatCode="0.0&quot;%&quot;" sourceLinked="0"/>
            <c:spPr>
              <a:noFill/>
              <a:ln>
                <a:noFill/>
              </a:ln>
            </c:spPr>
            <c:txPr>
              <a:bodyPr/>
              <a:lstStyle/>
              <a:p>
                <a:pPr>
                  <a:defRPr sz="1200" b="1">
                    <a:solidFill>
                      <a:srgbClr val="0F2A2E"/>
                    </a:solidFill>
                    <a:latin typeface="Calibri"/>
                  </a:defRPr>
                </a:pPr>
                <a:endParaRPr lang="en-US"/>
              </a:p>
            </c:txPr>
            <c:dLblPos val="outEnd"/>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Yes, significantly</c:v>
                </c:pt>
                <c:pt idx="1">
                  <c:v>Yes, slightly</c:v>
                </c:pt>
                <c:pt idx="2">
                  <c:v>No difference</c:v>
                </c:pt>
                <c:pt idx="3">
                  <c:v>No, took more effort</c:v>
                </c:pt>
              </c:strCache>
            </c:strRef>
          </c:cat>
          <c:val>
            <c:numRef>
              <c:f>Sheet1!$B$2:$B$5</c:f>
              <c:numCache>
                <c:formatCode>General</c:formatCode>
                <c:ptCount val="4"/>
                <c:pt idx="0">
                  <c:v>43.3</c:v>
                </c:pt>
                <c:pt idx="1">
                  <c:v>40</c:v>
                </c:pt>
                <c:pt idx="2">
                  <c:v>13.3</c:v>
                </c:pt>
                <c:pt idx="3">
                  <c:v>3.3</c:v>
                </c:pt>
              </c:numCache>
            </c:numRef>
          </c:val>
          <c:extLst>
            <c:ext xmlns:c16="http://schemas.microsoft.com/office/drawing/2014/chart" uri="{C3380CC4-5D6E-409C-BE32-E72D297353CC}">
              <c16:uniqueId val="{00000008-CCA0-4C72-B333-B4A339D242E0}"/>
            </c:ext>
          </c:extLst>
        </c:ser>
        <c:dLbls>
          <c:showLegendKey val="0"/>
          <c:showVal val="0"/>
          <c:showCatName val="0"/>
          <c:showSerName val="0"/>
          <c:showPercent val="0"/>
          <c:showBubbleSize val="0"/>
          <c:showLeaderLines val="1"/>
        </c:dLbls>
        <c:firstSliceAng val="0"/>
      </c:pieChart>
      <c:spPr>
        <a:noFill/>
      </c:spPr>
    </c:plotArea>
    <c:legend>
      <c:legendPos val="b"/>
      <c:layout>
        <c:manualLayout>
          <c:xMode val="edge"/>
          <c:yMode val="edge"/>
          <c:x val="0.02"/>
          <c:y val="0.72"/>
          <c:w val="0.96"/>
          <c:h val="0.28"/>
        </c:manualLayout>
      </c:layout>
      <c:overlay val="0"/>
      <c:txPr>
        <a:bodyPr/>
        <a:lstStyle/>
        <a:p>
          <a:pPr>
            <a:defRPr sz="1200" b="0">
              <a:solidFill>
                <a:srgbClr val="334155"/>
              </a:solidFill>
              <a:latin typeface="Calibri"/>
            </a:defRPr>
          </a:pPr>
          <a:endParaRPr lang="en-US"/>
        </a:p>
      </c:txPr>
    </c:legend>
    <c:plotVisOnly val="1"/>
    <c:dispBlanksAs val="gap"/>
    <c:showDLblsOverMax val="1"/>
  </c:chart>
  <c:spPr>
    <a:noFill/>
    <a:ln>
      <a:noFill/>
    </a:ln>
  </c:spPr>
  <c:txPr>
    <a:bodyPr/>
    <a:lstStyle/>
    <a:p>
      <a:pPr>
        <a:defRPr sz="12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Responses</c:v>
                </c:pt>
              </c:strCache>
            </c:strRef>
          </c:tx>
          <c:spPr>
            <a:solidFill>
              <a:srgbClr val="9FD8D2"/>
            </a:solidFill>
          </c:spPr>
          <c:invertIfNegative val="0"/>
          <c:dPt>
            <c:idx val="3"/>
            <c:invertIfNegative val="0"/>
            <c:bubble3D val="0"/>
            <c:spPr>
              <a:solidFill>
                <a:srgbClr val="0F766E"/>
              </a:solidFill>
            </c:spPr>
            <c:extLst>
              <c:ext xmlns:c16="http://schemas.microsoft.com/office/drawing/2014/chart" uri="{C3380CC4-5D6E-409C-BE32-E72D297353CC}">
                <c16:uniqueId val="{00000001-C46D-4C89-90F8-5B717A85FED9}"/>
              </c:ext>
            </c:extLst>
          </c:dPt>
          <c:dPt>
            <c:idx val="4"/>
            <c:invertIfNegative val="0"/>
            <c:bubble3D val="0"/>
            <c:spPr>
              <a:solidFill>
                <a:srgbClr val="0F766E"/>
              </a:solidFill>
            </c:spPr>
            <c:extLst>
              <c:ext xmlns:c16="http://schemas.microsoft.com/office/drawing/2014/chart" uri="{C3380CC4-5D6E-409C-BE32-E72D297353CC}">
                <c16:uniqueId val="{00000003-C46D-4C89-90F8-5B717A85FED9}"/>
              </c:ext>
            </c:extLst>
          </c:dPt>
          <c:dLbls>
            <c:spPr>
              <a:noFill/>
              <a:ln>
                <a:noFill/>
              </a:ln>
            </c:spPr>
            <c:txPr>
              <a:bodyPr/>
              <a:lstStyle/>
              <a:p>
                <a:pPr>
                  <a:defRPr sz="1200" b="1">
                    <a:solidFill>
                      <a:srgbClr val="0F2A2E"/>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3</c:v>
                </c:pt>
                <c:pt idx="3">
                  <c:v>4</c:v>
                </c:pt>
                <c:pt idx="4">
                  <c:v>5</c:v>
                </c:pt>
              </c:strCache>
            </c:strRef>
          </c:cat>
          <c:val>
            <c:numRef>
              <c:f>Sheet1!$B$2:$B$6</c:f>
              <c:numCache>
                <c:formatCode>General</c:formatCode>
                <c:ptCount val="5"/>
                <c:pt idx="0">
                  <c:v>4</c:v>
                </c:pt>
                <c:pt idx="1">
                  <c:v>3</c:v>
                </c:pt>
                <c:pt idx="2">
                  <c:v>4</c:v>
                </c:pt>
                <c:pt idx="3">
                  <c:v>12</c:v>
                </c:pt>
                <c:pt idx="4">
                  <c:v>11</c:v>
                </c:pt>
              </c:numCache>
            </c:numRef>
          </c:val>
          <c:extLst>
            <c:ext xmlns:c16="http://schemas.microsoft.com/office/drawing/2014/chart" uri="{C3380CC4-5D6E-409C-BE32-E72D297353CC}">
              <c16:uniqueId val="{00000004-C46D-4C89-90F8-5B717A85FED9}"/>
            </c:ext>
          </c:extLst>
        </c:ser>
        <c:dLbls>
          <c:showLegendKey val="0"/>
          <c:showVal val="0"/>
          <c:showCatName val="0"/>
          <c:showSerName val="0"/>
          <c:showPercent val="0"/>
          <c:showBubbleSize val="0"/>
        </c:dLbls>
        <c:gapWidth val="60"/>
        <c:axId val="111"/>
        <c:axId val="222"/>
      </c:barChart>
      <c:catAx>
        <c:axId val="111"/>
        <c:scaling>
          <c:orientation val="minMax"/>
        </c:scaling>
        <c:delete val="0"/>
        <c:axPos val="b"/>
        <c:numFmt formatCode="General" sourceLinked="0"/>
        <c:majorTickMark val="none"/>
        <c:minorTickMark val="none"/>
        <c:tickLblPos val="nextTo"/>
        <c:spPr>
          <a:ln w="9525">
            <a:solidFill>
              <a:srgbClr val="D5E3E4"/>
            </a:solidFill>
          </a:ln>
        </c:spPr>
        <c:txPr>
          <a:bodyPr/>
          <a:lstStyle/>
          <a:p>
            <a:pPr>
              <a:defRPr sz="1200" b="0">
                <a:solidFill>
                  <a:srgbClr val="334155"/>
                </a:solidFill>
                <a:latin typeface="Calibri"/>
              </a:defRPr>
            </a:pPr>
            <a:endParaRPr lang="en-US"/>
          </a:p>
        </c:txPr>
        <c:crossAx val="222"/>
        <c:crosses val="autoZero"/>
        <c:auto val="1"/>
        <c:lblAlgn val="ctr"/>
        <c:lblOffset val="100"/>
        <c:noMultiLvlLbl val="0"/>
      </c:catAx>
      <c:valAx>
        <c:axId val="222"/>
        <c:scaling>
          <c:orientation val="minMax"/>
          <c:min val="0"/>
        </c:scaling>
        <c:delete val="1"/>
        <c:axPos val="l"/>
        <c:numFmt formatCode="General" sourceLinked="0"/>
        <c:majorTickMark val="none"/>
        <c:minorTickMark val="none"/>
        <c:tickLblPos val="nextTo"/>
        <c:crossAx val="111"/>
        <c:crosses val="autoZero"/>
        <c:crossBetween val="between"/>
      </c:valAx>
      <c:spPr>
        <a:noFill/>
      </c:spPr>
    </c:plotArea>
    <c:plotVisOnly val="1"/>
    <c:dispBlanksAs val="gap"/>
    <c:showDLblsOverMax val="1"/>
  </c:chart>
  <c:spPr>
    <a:noFill/>
    <a:ln>
      <a:noFill/>
    </a:ln>
  </c:spPr>
  <c:txPr>
    <a:bodyPr/>
    <a:lstStyle/>
    <a:p>
      <a:pPr>
        <a:defRPr sz="12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25"/>
          <c:y val="0.07"/>
          <c:w val="0.5"/>
          <c:h val="0.5"/>
        </c:manualLayout>
      </c:layout>
      <c:pieChart>
        <c:varyColors val="1"/>
        <c:ser>
          <c:idx val="0"/>
          <c:order val="0"/>
          <c:tx>
            <c:strRef>
              <c:f>Sheet1!$B$1</c:f>
              <c:strCache>
                <c:ptCount val="1"/>
                <c:pt idx="0">
                  <c:v>Share of responses (%)</c:v>
                </c:pt>
              </c:strCache>
            </c:strRef>
          </c:tx>
          <c:dPt>
            <c:idx val="0"/>
            <c:bubble3D val="0"/>
            <c:spPr>
              <a:solidFill>
                <a:srgbClr val="0F766E"/>
              </a:solidFill>
              <a:ln w="19050">
                <a:solidFill>
                  <a:srgbClr val="FFFFFF"/>
                </a:solidFill>
              </a:ln>
            </c:spPr>
            <c:extLst>
              <c:ext xmlns:c16="http://schemas.microsoft.com/office/drawing/2014/chart" uri="{C3380CC4-5D6E-409C-BE32-E72D297353CC}">
                <c16:uniqueId val="{00000001-28AE-4C29-B020-1338FD95E247}"/>
              </c:ext>
            </c:extLst>
          </c:dPt>
          <c:dPt>
            <c:idx val="1"/>
            <c:bubble3D val="0"/>
            <c:spPr>
              <a:solidFill>
                <a:srgbClr val="2DD4BF"/>
              </a:solidFill>
              <a:ln w="19050">
                <a:solidFill>
                  <a:srgbClr val="FFFFFF"/>
                </a:solidFill>
              </a:ln>
            </c:spPr>
            <c:extLst>
              <c:ext xmlns:c16="http://schemas.microsoft.com/office/drawing/2014/chart" uri="{C3380CC4-5D6E-409C-BE32-E72D297353CC}">
                <c16:uniqueId val="{00000003-28AE-4C29-B020-1338FD95E247}"/>
              </c:ext>
            </c:extLst>
          </c:dPt>
          <c:dPt>
            <c:idx val="2"/>
            <c:bubble3D val="0"/>
            <c:spPr>
              <a:solidFill>
                <a:srgbClr val="F97316"/>
              </a:solidFill>
              <a:ln w="19050">
                <a:solidFill>
                  <a:srgbClr val="FFFFFF"/>
                </a:solidFill>
              </a:ln>
            </c:spPr>
            <c:extLst>
              <c:ext xmlns:c16="http://schemas.microsoft.com/office/drawing/2014/chart" uri="{C3380CC4-5D6E-409C-BE32-E72D297353CC}">
                <c16:uniqueId val="{00000005-28AE-4C29-B020-1338FD95E247}"/>
              </c:ext>
            </c:extLst>
          </c:dPt>
          <c:dPt>
            <c:idx val="3"/>
            <c:bubble3D val="0"/>
            <c:spPr>
              <a:solidFill>
                <a:srgbClr val="475569"/>
              </a:solidFill>
              <a:ln w="19050">
                <a:solidFill>
                  <a:srgbClr val="FFFFFF"/>
                </a:solidFill>
              </a:ln>
            </c:spPr>
            <c:extLst>
              <c:ext xmlns:c16="http://schemas.microsoft.com/office/drawing/2014/chart" uri="{C3380CC4-5D6E-409C-BE32-E72D297353CC}">
                <c16:uniqueId val="{00000007-28AE-4C29-B020-1338FD95E247}"/>
              </c:ext>
            </c:extLst>
          </c:dPt>
          <c:dLbls>
            <c:numFmt formatCode="0.0&quot;%&quot;" sourceLinked="0"/>
            <c:spPr>
              <a:noFill/>
              <a:ln>
                <a:noFill/>
              </a:ln>
            </c:spPr>
            <c:txPr>
              <a:bodyPr/>
              <a:lstStyle/>
              <a:p>
                <a:pPr>
                  <a:defRPr sz="1200" b="1">
                    <a:solidFill>
                      <a:srgbClr val="0F2A2E"/>
                    </a:solidFill>
                    <a:latin typeface="Calibri"/>
                  </a:defRPr>
                </a:pPr>
                <a:endParaRPr lang="en-US"/>
              </a:p>
            </c:txPr>
            <c:dLblPos val="outEnd"/>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Extremely beneficial</c:v>
                </c:pt>
                <c:pt idx="1">
                  <c:v>Moderately beneficial</c:v>
                </c:pt>
                <c:pt idx="2">
                  <c:v>Slightly beneficial</c:v>
                </c:pt>
                <c:pt idx="3">
                  <c:v>Not beneficial</c:v>
                </c:pt>
              </c:strCache>
            </c:strRef>
          </c:cat>
          <c:val>
            <c:numRef>
              <c:f>Sheet1!$B$2:$B$5</c:f>
              <c:numCache>
                <c:formatCode>General</c:formatCode>
                <c:ptCount val="4"/>
                <c:pt idx="0">
                  <c:v>35.299999999999997</c:v>
                </c:pt>
                <c:pt idx="1">
                  <c:v>32.4</c:v>
                </c:pt>
                <c:pt idx="2">
                  <c:v>20.6</c:v>
                </c:pt>
                <c:pt idx="3">
                  <c:v>11.8</c:v>
                </c:pt>
              </c:numCache>
            </c:numRef>
          </c:val>
          <c:extLst>
            <c:ext xmlns:c16="http://schemas.microsoft.com/office/drawing/2014/chart" uri="{C3380CC4-5D6E-409C-BE32-E72D297353CC}">
              <c16:uniqueId val="{00000008-28AE-4C29-B020-1338FD95E247}"/>
            </c:ext>
          </c:extLst>
        </c:ser>
        <c:dLbls>
          <c:showLegendKey val="0"/>
          <c:showVal val="0"/>
          <c:showCatName val="0"/>
          <c:showSerName val="0"/>
          <c:showPercent val="0"/>
          <c:showBubbleSize val="0"/>
          <c:showLeaderLines val="1"/>
        </c:dLbls>
        <c:firstSliceAng val="0"/>
      </c:pieChart>
      <c:spPr>
        <a:noFill/>
      </c:spPr>
    </c:plotArea>
    <c:legend>
      <c:legendPos val="b"/>
      <c:layout>
        <c:manualLayout>
          <c:xMode val="edge"/>
          <c:yMode val="edge"/>
          <c:x val="0.02"/>
          <c:y val="0.72"/>
          <c:w val="0.96"/>
          <c:h val="0.28"/>
        </c:manualLayout>
      </c:layout>
      <c:overlay val="0"/>
      <c:txPr>
        <a:bodyPr/>
        <a:lstStyle/>
        <a:p>
          <a:pPr>
            <a:defRPr sz="1200" b="0">
              <a:solidFill>
                <a:srgbClr val="334155"/>
              </a:solidFill>
              <a:latin typeface="Calibri"/>
            </a:defRPr>
          </a:pPr>
          <a:endParaRPr lang="en-US"/>
        </a:p>
      </c:txPr>
    </c:legend>
    <c:plotVisOnly val="1"/>
    <c:dispBlanksAs val="gap"/>
    <c:showDLblsOverMax val="1"/>
  </c:chart>
  <c:spPr>
    <a:noFill/>
    <a:ln>
      <a:noFill/>
    </a:ln>
  </c:spPr>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30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B40"/>
        </a:solidFill>
        <a:effectLst/>
      </p:bgPr>
    </p:bg>
    <p:spTree>
      <p:nvGrpSpPr>
        <p:cNvPr id="1" name=""/>
        <p:cNvGrpSpPr/>
        <p:nvPr/>
      </p:nvGrpSpPr>
      <p:grpSpPr>
        <a:xfrm>
          <a:off x="0" y="0"/>
          <a:ext cx="0" cy="0"/>
          <a:chOff x="0" y="0"/>
          <a:chExt cx="0" cy="0"/>
        </a:xfrm>
      </p:grpSpPr>
      <p:sp>
        <p:nvSpPr>
          <p:cNvPr id="101" name="Glow"/>
          <p:cNvSpPr/>
          <p:nvPr/>
        </p:nvSpPr>
        <p:spPr>
          <a:xfrm>
            <a:off x="6583680" y="822960"/>
            <a:ext cx="5303520" cy="5303520"/>
          </a:xfrm>
          <a:prstGeom prst="ellipse">
            <a:avLst/>
          </a:prstGeom>
          <a:solidFill>
            <a:srgbClr val="134E54"/>
          </a:solidFill>
          <a:ln>
            <a:noFill/>
          </a:ln>
        </p:spPr>
        <p:txBody>
          <a:bodyPr wrap="square" lIns="0" tIns="0" rIns="0" bIns="0" rtlCol="0" anchor="t">
            <a:normAutofit/>
          </a:bodyPr>
          <a:lstStyle/>
          <a:p>
            <a:endParaRPr lang="en-US"/>
          </a:p>
        </p:txBody>
      </p:sp>
      <p:pic>
        <p:nvPicPr>
          <p:cNvPr id="102" name="Robot Picture" descr="Smart Medicine Companion Robot"/>
          <p:cNvPicPr>
            <a:picLocks noChangeAspect="1"/>
          </p:cNvPicPr>
          <p:nvPr/>
        </p:nvPicPr>
        <p:blipFill>
          <a:blip r:embed="rId2">
            <a:extLst>
              <a:ext uri="{BEBA8EAE-BF5A-486C-A8C5-ECC9F3942E4B}">
                <a14:imgProps xmlns:a14="http://schemas.microsoft.com/office/drawing/2010/main">
                  <a14:imgLayer r:embed="rId3">
                    <a14:imgEffect>
                      <a14:backgroundRemoval t="0" b="100000" l="0" r="99750">
                        <a14:foregroundMark x1="10500" y1="29576" x2="12333" y2="71094"/>
                        <a14:foregroundMark x1="11167" y1="30134" x2="45750" y2="24442"/>
                        <a14:foregroundMark x1="52750" y1="24442" x2="75333" y2="20536"/>
                        <a14:foregroundMark x1="75333" y1="19866" x2="89167" y2="25000"/>
                        <a14:foregroundMark x1="90250" y1="26228" x2="87333" y2="65625"/>
                        <a14:foregroundMark x1="88917" y1="46205" x2="90250" y2="46205"/>
                        <a14:foregroundMark x1="89583" y1="46540" x2="88250" y2="64063"/>
                        <a14:foregroundMark x1="20250" y1="84933" x2="87333" y2="64955"/>
                        <a14:foregroundMark x1="69000" y1="24777" x2="71500" y2="23772"/>
                        <a14:foregroundMark x1="71083" y1="24777" x2="72917" y2="24777"/>
                      </a14:backgroundRemoval>
                    </a14:imgEffect>
                  </a14:imgLayer>
                </a14:imgProps>
              </a:ext>
            </a:extLst>
          </a:blip>
          <a:stretch>
            <a:fillRect/>
          </a:stretch>
        </p:blipFill>
        <p:spPr>
          <a:xfrm>
            <a:off x="6309360" y="1600200"/>
            <a:ext cx="5486400" cy="4096512"/>
          </a:xfrm>
          <a:prstGeom prst="rect">
            <a:avLst/>
          </a:prstGeom>
        </p:spPr>
      </p:pic>
      <p:sp>
        <p:nvSpPr>
          <p:cNvPr id="103" name="Kicker"/>
          <p:cNvSpPr txBox="1"/>
          <p:nvPr/>
        </p:nvSpPr>
        <p:spPr>
          <a:xfrm>
            <a:off x="685800" y="822960"/>
            <a:ext cx="5486400" cy="320040"/>
          </a:xfrm>
          <a:prstGeom prst="rect">
            <a:avLst/>
          </a:prstGeom>
          <a:noFill/>
          <a:ln>
            <a:noFill/>
          </a:ln>
        </p:spPr>
        <p:txBody>
          <a:bodyPr wrap="square" lIns="0" tIns="0" rIns="0" bIns="0" rtlCol="0" anchor="ctr">
            <a:normAutofit/>
          </a:bodyPr>
          <a:lstStyle/>
          <a:p>
            <a:pPr algn="l">
              <a:spcBef>
                <a:spcPts val="0"/>
              </a:spcBef>
              <a:spcAft>
                <a:spcPts val="0"/>
              </a:spcAft>
              <a:buNone/>
            </a:pPr>
            <a:r>
              <a:rPr lang="en-US" sz="1300" b="1" i="0" dirty="0">
                <a:solidFill>
                  <a:srgbClr val="2DD4BF"/>
                </a:solidFill>
                <a:latin typeface="Calibri"/>
                <a:cs typeface="Calibri"/>
              </a:rPr>
              <a:t>GROUP PROJECT  ·  ROBOTICS</a:t>
            </a:r>
          </a:p>
        </p:txBody>
      </p:sp>
      <p:sp>
        <p:nvSpPr>
          <p:cNvPr id="104" name="Title"/>
          <p:cNvSpPr txBox="1"/>
          <p:nvPr/>
        </p:nvSpPr>
        <p:spPr>
          <a:xfrm>
            <a:off x="685800" y="1234440"/>
            <a:ext cx="5943600" cy="1737360"/>
          </a:xfrm>
          <a:prstGeom prst="rect">
            <a:avLst/>
          </a:prstGeom>
          <a:noFill/>
          <a:ln>
            <a:noFill/>
          </a:ln>
        </p:spPr>
        <p:txBody>
          <a:bodyPr wrap="square" lIns="0" tIns="0" rIns="0" bIns="0" rtlCol="0" anchor="t">
            <a:normAutofit/>
          </a:bodyPr>
          <a:lstStyle/>
          <a:p>
            <a:pPr algn="l">
              <a:lnSpc>
                <a:spcPct val="90000"/>
              </a:lnSpc>
              <a:spcBef>
                <a:spcPts val="0"/>
              </a:spcBef>
              <a:spcAft>
                <a:spcPts val="0"/>
              </a:spcAft>
              <a:buNone/>
            </a:pPr>
            <a:r>
              <a:rPr lang="en-US" sz="4400" b="1" i="0" dirty="0">
                <a:solidFill>
                  <a:srgbClr val="FFFFFF"/>
                </a:solidFill>
                <a:latin typeface="Cambria"/>
                <a:cs typeface="Cambria"/>
              </a:rPr>
              <a:t>Smart Medicine</a:t>
            </a:r>
          </a:p>
          <a:p>
            <a:pPr algn="l">
              <a:lnSpc>
                <a:spcPct val="90000"/>
              </a:lnSpc>
              <a:spcBef>
                <a:spcPts val="0"/>
              </a:spcBef>
              <a:spcAft>
                <a:spcPts val="0"/>
              </a:spcAft>
              <a:buNone/>
            </a:pPr>
            <a:r>
              <a:rPr lang="en-US" sz="4400" b="1" i="0" dirty="0">
                <a:solidFill>
                  <a:srgbClr val="2DD4BF"/>
                </a:solidFill>
                <a:latin typeface="Cambria"/>
                <a:cs typeface="Cambria"/>
              </a:rPr>
              <a:t>Companion Robot</a:t>
            </a:r>
          </a:p>
        </p:txBody>
      </p:sp>
      <p:sp>
        <p:nvSpPr>
          <p:cNvPr id="105" name="Name"/>
          <p:cNvSpPr txBox="1"/>
          <p:nvPr/>
        </p:nvSpPr>
        <p:spPr>
          <a:xfrm>
            <a:off x="685800" y="3017520"/>
            <a:ext cx="5486400" cy="548640"/>
          </a:xfrm>
          <a:prstGeom prst="rect">
            <a:avLst/>
          </a:prstGeom>
          <a:noFill/>
          <a:ln>
            <a:noFill/>
          </a:ln>
        </p:spPr>
        <p:txBody>
          <a:bodyPr wrap="square" lIns="0" tIns="0" rIns="0" bIns="0" rtlCol="0" anchor="ctr">
            <a:normAutofit/>
          </a:bodyPr>
          <a:lstStyle/>
          <a:p>
            <a:pPr algn="l">
              <a:spcBef>
                <a:spcPts val="0"/>
              </a:spcBef>
              <a:spcAft>
                <a:spcPts val="0"/>
              </a:spcAft>
              <a:buNone/>
            </a:pPr>
            <a:r>
              <a:rPr lang="en-US" sz="3000" b="1" i="0" dirty="0">
                <a:solidFill>
                  <a:srgbClr val="FFFFFF"/>
                </a:solidFill>
                <a:latin typeface="Calibri"/>
                <a:cs typeface="Calibri"/>
              </a:rPr>
              <a:t>PicoBot</a:t>
            </a:r>
          </a:p>
        </p:txBody>
      </p:sp>
      <p:sp>
        <p:nvSpPr>
          <p:cNvPr id="106" name="Tagline"/>
          <p:cNvSpPr txBox="1"/>
          <p:nvPr/>
        </p:nvSpPr>
        <p:spPr>
          <a:xfrm>
            <a:off x="685800" y="3566160"/>
            <a:ext cx="5486400" cy="365760"/>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0" i="1" dirty="0">
                <a:solidFill>
                  <a:srgbClr val="B6DCD8"/>
                </a:solidFill>
                <a:latin typeface="Calibri"/>
                <a:cs typeface="Calibri"/>
              </a:rPr>
              <a:t>Your Smart Reminder, Your Health Partner</a:t>
            </a:r>
          </a:p>
        </p:txBody>
      </p:sp>
      <p:sp>
        <p:nvSpPr>
          <p:cNvPr id="107" name="Feature"/>
          <p:cNvSpPr/>
          <p:nvPr/>
        </p:nvSpPr>
        <p:spPr>
          <a:xfrm>
            <a:off x="685800" y="4206240"/>
            <a:ext cx="1888236" cy="347472"/>
          </a:xfrm>
          <a:prstGeom prst="roundRect">
            <a:avLst>
              <a:gd name="adj" fmla="val 50000"/>
            </a:avLst>
          </a:prstGeom>
          <a:solidFill>
            <a:srgbClr val="134E54"/>
          </a:solidFill>
          <a:ln w="12700">
            <a:solidFill>
              <a:srgbClr val="2B7A7A"/>
            </a:solidFill>
          </a:ln>
        </p:spPr>
        <p:txBody>
          <a:bodyPr wrap="square" lIns="0" tIns="0" rIns="0" bIns="0" rtlCol="0" anchor="ctr">
            <a:normAutofit/>
          </a:bodyPr>
          <a:lstStyle/>
          <a:p>
            <a:pPr algn="ctr">
              <a:spcBef>
                <a:spcPts val="0"/>
              </a:spcBef>
              <a:spcAft>
                <a:spcPts val="0"/>
              </a:spcAft>
              <a:buNone/>
            </a:pPr>
            <a:r>
              <a:rPr lang="en-US" sz="1200" b="1" i="0" dirty="0">
                <a:solidFill>
                  <a:srgbClr val="E6F4F2"/>
                </a:solidFill>
                <a:latin typeface="Calibri"/>
                <a:cs typeface="Calibri"/>
              </a:rPr>
              <a:t>Medicine Reminder</a:t>
            </a:r>
          </a:p>
        </p:txBody>
      </p:sp>
      <p:sp>
        <p:nvSpPr>
          <p:cNvPr id="108" name="Feature"/>
          <p:cNvSpPr/>
          <p:nvPr/>
        </p:nvSpPr>
        <p:spPr>
          <a:xfrm>
            <a:off x="2711196" y="4206240"/>
            <a:ext cx="1714500" cy="347472"/>
          </a:xfrm>
          <a:prstGeom prst="roundRect">
            <a:avLst>
              <a:gd name="adj" fmla="val 50000"/>
            </a:avLst>
          </a:prstGeom>
          <a:solidFill>
            <a:srgbClr val="134E54"/>
          </a:solidFill>
          <a:ln w="12700">
            <a:solidFill>
              <a:srgbClr val="2B7A7A"/>
            </a:solidFill>
          </a:ln>
        </p:spPr>
        <p:txBody>
          <a:bodyPr wrap="square" lIns="0" tIns="0" rIns="0" bIns="0" rtlCol="0" anchor="ctr">
            <a:normAutofit/>
          </a:bodyPr>
          <a:lstStyle/>
          <a:p>
            <a:pPr algn="ctr">
              <a:spcBef>
                <a:spcPts val="0"/>
              </a:spcBef>
              <a:spcAft>
                <a:spcPts val="0"/>
              </a:spcAft>
              <a:buNone/>
            </a:pPr>
            <a:r>
              <a:rPr lang="en-US" sz="1200" b="1" i="0" dirty="0">
                <a:solidFill>
                  <a:srgbClr val="E6F4F2"/>
                </a:solidFill>
                <a:latin typeface="Calibri"/>
                <a:cs typeface="Calibri"/>
              </a:rPr>
              <a:t>Voice Assistant</a:t>
            </a:r>
          </a:p>
        </p:txBody>
      </p:sp>
      <p:sp>
        <p:nvSpPr>
          <p:cNvPr id="109" name="Feature"/>
          <p:cNvSpPr/>
          <p:nvPr/>
        </p:nvSpPr>
        <p:spPr>
          <a:xfrm>
            <a:off x="4562856" y="4206240"/>
            <a:ext cx="1540764" cy="347472"/>
          </a:xfrm>
          <a:prstGeom prst="roundRect">
            <a:avLst>
              <a:gd name="adj" fmla="val 50000"/>
            </a:avLst>
          </a:prstGeom>
          <a:solidFill>
            <a:srgbClr val="134E54"/>
          </a:solidFill>
          <a:ln w="12700">
            <a:solidFill>
              <a:srgbClr val="2B7A7A"/>
            </a:solidFill>
          </a:ln>
        </p:spPr>
        <p:txBody>
          <a:bodyPr wrap="square" lIns="0" tIns="0" rIns="0" bIns="0" rtlCol="0" anchor="ctr">
            <a:normAutofit/>
          </a:bodyPr>
          <a:lstStyle/>
          <a:p>
            <a:pPr algn="ctr">
              <a:spcBef>
                <a:spcPts val="0"/>
              </a:spcBef>
              <a:spcAft>
                <a:spcPts val="0"/>
              </a:spcAft>
              <a:buNone/>
            </a:pPr>
            <a:r>
              <a:rPr lang="en-US" sz="1200" b="1" i="0" dirty="0">
                <a:solidFill>
                  <a:srgbClr val="E6F4F2"/>
                </a:solidFill>
                <a:latin typeface="Calibri"/>
                <a:cs typeface="Calibri"/>
              </a:rPr>
              <a:t>Face Reaction</a:t>
            </a:r>
          </a:p>
        </p:txBody>
      </p:sp>
      <p:sp>
        <p:nvSpPr>
          <p:cNvPr id="110" name="Feature"/>
          <p:cNvSpPr/>
          <p:nvPr/>
        </p:nvSpPr>
        <p:spPr>
          <a:xfrm>
            <a:off x="685800" y="4663440"/>
            <a:ext cx="1975104" cy="347472"/>
          </a:xfrm>
          <a:prstGeom prst="roundRect">
            <a:avLst>
              <a:gd name="adj" fmla="val 50000"/>
            </a:avLst>
          </a:prstGeom>
          <a:solidFill>
            <a:srgbClr val="134E54"/>
          </a:solidFill>
          <a:ln w="12700">
            <a:solidFill>
              <a:srgbClr val="2B7A7A"/>
            </a:solidFill>
          </a:ln>
        </p:spPr>
        <p:txBody>
          <a:bodyPr wrap="square" lIns="0" tIns="0" rIns="0" bIns="0" rtlCol="0" anchor="ctr">
            <a:normAutofit/>
          </a:bodyPr>
          <a:lstStyle/>
          <a:p>
            <a:pPr algn="ctr">
              <a:spcBef>
                <a:spcPts val="0"/>
              </a:spcBef>
              <a:spcAft>
                <a:spcPts val="0"/>
              </a:spcAft>
              <a:buNone/>
            </a:pPr>
            <a:r>
              <a:rPr lang="en-US" sz="1200" b="1" i="0" dirty="0">
                <a:solidFill>
                  <a:srgbClr val="E6F4F2"/>
                </a:solidFill>
                <a:latin typeface="Calibri"/>
                <a:cs typeface="Calibri"/>
              </a:rPr>
              <a:t>Movement Detection</a:t>
            </a:r>
          </a:p>
        </p:txBody>
      </p:sp>
      <p:sp>
        <p:nvSpPr>
          <p:cNvPr id="111" name="Feature"/>
          <p:cNvSpPr/>
          <p:nvPr/>
        </p:nvSpPr>
        <p:spPr>
          <a:xfrm>
            <a:off x="2798064" y="4663440"/>
            <a:ext cx="1540764" cy="347472"/>
          </a:xfrm>
          <a:prstGeom prst="roundRect">
            <a:avLst>
              <a:gd name="adj" fmla="val 50000"/>
            </a:avLst>
          </a:prstGeom>
          <a:solidFill>
            <a:srgbClr val="134E54"/>
          </a:solidFill>
          <a:ln w="12700">
            <a:solidFill>
              <a:srgbClr val="2B7A7A"/>
            </a:solidFill>
          </a:ln>
        </p:spPr>
        <p:txBody>
          <a:bodyPr wrap="square" lIns="0" tIns="0" rIns="0" bIns="0" rtlCol="0" anchor="ctr">
            <a:normAutofit/>
          </a:bodyPr>
          <a:lstStyle/>
          <a:p>
            <a:pPr algn="ctr">
              <a:spcBef>
                <a:spcPts val="0"/>
              </a:spcBef>
              <a:spcAft>
                <a:spcPts val="0"/>
              </a:spcAft>
              <a:buNone/>
            </a:pPr>
            <a:r>
              <a:rPr lang="en-US" sz="1200" b="1" i="0" dirty="0">
                <a:solidFill>
                  <a:srgbClr val="E6F4F2"/>
                </a:solidFill>
                <a:latin typeface="Calibri"/>
                <a:cs typeface="Calibri"/>
              </a:rPr>
              <a:t>Emergency SMS</a:t>
            </a:r>
          </a:p>
        </p:txBody>
      </p:sp>
      <p:sp>
        <p:nvSpPr>
          <p:cNvPr id="112" name="Presenter"/>
          <p:cNvSpPr txBox="1"/>
          <p:nvPr/>
        </p:nvSpPr>
        <p:spPr>
          <a:xfrm>
            <a:off x="685800" y="5669280"/>
            <a:ext cx="6400800" cy="411480"/>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0" i="0" dirty="0">
                <a:solidFill>
                  <a:srgbClr val="B6DCD8"/>
                </a:solidFill>
                <a:latin typeface="Calibri"/>
                <a:cs typeface="Calibri"/>
              </a:rPr>
              <a:t>Presented by:  </a:t>
            </a:r>
            <a:r>
              <a:rPr lang="en-US" sz="1800" b="1" i="0" dirty="0">
                <a:solidFill>
                  <a:srgbClr val="FFFFFF"/>
                </a:solidFill>
                <a:latin typeface="Calibri"/>
                <a:cs typeface="Calibri"/>
              </a:rPr>
              <a:t>Tashnimul Hasan Shifat</a:t>
            </a:r>
          </a:p>
        </p:txBody>
      </p:sp>
      <p:sp>
        <p:nvSpPr>
          <p:cNvPr id="113"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B6DCD8"/>
                </a:solidFill>
                <a:latin typeface="Calibri"/>
                <a:cs typeface="Calibri"/>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OVERVIEW</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Executive Summary</a:t>
            </a:r>
          </a:p>
        </p:txBody>
      </p:sp>
      <p:sp>
        <p:nvSpPr>
          <p:cNvPr id="103" name="Card"/>
          <p:cNvSpPr/>
          <p:nvPr/>
        </p:nvSpPr>
        <p:spPr>
          <a:xfrm>
            <a:off x="548640" y="1371600"/>
            <a:ext cx="3593592" cy="251460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Badge"/>
          <p:cNvSpPr/>
          <p:nvPr/>
        </p:nvSpPr>
        <p:spPr>
          <a:xfrm>
            <a:off x="804672" y="1572768"/>
            <a:ext cx="438912" cy="438912"/>
          </a:xfrm>
          <a:prstGeom prst="ellipse">
            <a:avLst/>
          </a:prstGeom>
          <a:solidFill>
            <a:srgbClr val="0F766E"/>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1</a:t>
            </a:r>
          </a:p>
        </p:txBody>
      </p:sp>
      <p:sp>
        <p:nvSpPr>
          <p:cNvPr id="105" name="Card Title"/>
          <p:cNvSpPr txBox="1"/>
          <p:nvPr/>
        </p:nvSpPr>
        <p:spPr>
          <a:xfrm>
            <a:off x="1371600" y="1572768"/>
            <a:ext cx="2651760" cy="438912"/>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1" i="0" dirty="0">
                <a:solidFill>
                  <a:srgbClr val="0F2A2E"/>
                </a:solidFill>
                <a:latin typeface="Cambria"/>
                <a:cs typeface="Cambria"/>
              </a:rPr>
              <a:t>Why We Built It</a:t>
            </a:r>
          </a:p>
        </p:txBody>
      </p:sp>
      <p:sp>
        <p:nvSpPr>
          <p:cNvPr id="106" name="Card Body"/>
          <p:cNvSpPr txBox="1"/>
          <p:nvPr/>
        </p:nvSpPr>
        <p:spPr>
          <a:xfrm>
            <a:off x="804672" y="2176272"/>
            <a:ext cx="3108960" cy="1645920"/>
          </a:xfrm>
          <a:prstGeom prst="rect">
            <a:avLst/>
          </a:prstGeom>
          <a:noFill/>
          <a:ln>
            <a:noFill/>
          </a:ln>
        </p:spPr>
        <p:txBody>
          <a:bodyPr wrap="square" lIns="0" tIns="0" rIns="0" bIns="0" rtlCol="0" anchor="t">
            <a:normAutofit/>
          </a:bodyPr>
          <a:lstStyle/>
          <a:p>
            <a:pPr algn="l">
              <a:lnSpc>
                <a:spcPct val="105000"/>
              </a:lnSpc>
              <a:spcBef>
                <a:spcPts val="0"/>
              </a:spcBef>
              <a:spcAft>
                <a:spcPts val="0"/>
              </a:spcAft>
              <a:buNone/>
            </a:pPr>
            <a:r>
              <a:rPr lang="en-US" sz="1400" b="0" i="0" dirty="0">
                <a:solidFill>
                  <a:srgbClr val="334155"/>
                </a:solidFill>
                <a:latin typeface="Calibri"/>
                <a:cs typeface="Calibri"/>
              </a:rPr>
              <a:t>Many elderly and chronically ill patients forget their medicine, and many skip it on purpose. Reminder apps only fight forgetting, and caregivers cannot always be present. We built PicoBot to close this gap.</a:t>
            </a:r>
          </a:p>
        </p:txBody>
      </p:sp>
      <p:sp>
        <p:nvSpPr>
          <p:cNvPr id="107" name="Card"/>
          <p:cNvSpPr/>
          <p:nvPr/>
        </p:nvSpPr>
        <p:spPr>
          <a:xfrm>
            <a:off x="4297680" y="1371600"/>
            <a:ext cx="3593592" cy="251460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8" name="Badge"/>
          <p:cNvSpPr/>
          <p:nvPr/>
        </p:nvSpPr>
        <p:spPr>
          <a:xfrm>
            <a:off x="4553712" y="1572768"/>
            <a:ext cx="438912" cy="438912"/>
          </a:xfrm>
          <a:prstGeom prst="ellipse">
            <a:avLst/>
          </a:prstGeom>
          <a:solidFill>
            <a:srgbClr val="0891B2"/>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2</a:t>
            </a:r>
          </a:p>
        </p:txBody>
      </p:sp>
      <p:sp>
        <p:nvSpPr>
          <p:cNvPr id="109" name="Card Title"/>
          <p:cNvSpPr txBox="1"/>
          <p:nvPr/>
        </p:nvSpPr>
        <p:spPr>
          <a:xfrm>
            <a:off x="5120640" y="1572768"/>
            <a:ext cx="2651760" cy="438912"/>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1" i="0" dirty="0">
                <a:solidFill>
                  <a:srgbClr val="0F2A2E"/>
                </a:solidFill>
                <a:latin typeface="Cambria"/>
                <a:cs typeface="Cambria"/>
              </a:rPr>
              <a:t>Our Goal</a:t>
            </a:r>
          </a:p>
        </p:txBody>
      </p:sp>
      <p:sp>
        <p:nvSpPr>
          <p:cNvPr id="110" name="Card Body"/>
          <p:cNvSpPr txBox="1"/>
          <p:nvPr/>
        </p:nvSpPr>
        <p:spPr>
          <a:xfrm>
            <a:off x="4553712" y="2176272"/>
            <a:ext cx="3108960" cy="1645920"/>
          </a:xfrm>
          <a:prstGeom prst="rect">
            <a:avLst/>
          </a:prstGeom>
          <a:noFill/>
          <a:ln>
            <a:noFill/>
          </a:ln>
        </p:spPr>
        <p:txBody>
          <a:bodyPr wrap="square" lIns="0" tIns="0" rIns="0" bIns="0" rtlCol="0" anchor="t">
            <a:normAutofit/>
          </a:bodyPr>
          <a:lstStyle/>
          <a:p>
            <a:pPr algn="l">
              <a:lnSpc>
                <a:spcPct val="105000"/>
              </a:lnSpc>
              <a:spcBef>
                <a:spcPts val="0"/>
              </a:spcBef>
              <a:spcAft>
                <a:spcPts val="0"/>
              </a:spcAft>
              <a:buNone/>
            </a:pPr>
            <a:r>
              <a:rPr lang="en-US" sz="1400" b="0" i="0" dirty="0">
                <a:solidFill>
                  <a:srgbClr val="334155"/>
                </a:solidFill>
                <a:latin typeface="Calibri"/>
                <a:cs typeface="Calibri"/>
              </a:rPr>
              <a:t>Raise medication adherence with a low-cost companion robot that tackles both forgetting and unwillingness, and keeps the user safe with an instant emergency SMS alert.</a:t>
            </a:r>
          </a:p>
        </p:txBody>
      </p:sp>
      <p:sp>
        <p:nvSpPr>
          <p:cNvPr id="111" name="Card"/>
          <p:cNvSpPr/>
          <p:nvPr/>
        </p:nvSpPr>
        <p:spPr>
          <a:xfrm>
            <a:off x="8046720" y="1371600"/>
            <a:ext cx="3593592" cy="251460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2" name="Badge"/>
          <p:cNvSpPr/>
          <p:nvPr/>
        </p:nvSpPr>
        <p:spPr>
          <a:xfrm>
            <a:off x="8302752" y="1572768"/>
            <a:ext cx="438912" cy="438912"/>
          </a:xfrm>
          <a:prstGeom prst="ellipse">
            <a:avLst/>
          </a:prstGeom>
          <a:solidFill>
            <a:srgbClr val="F97316"/>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3</a:t>
            </a:r>
          </a:p>
        </p:txBody>
      </p:sp>
      <p:sp>
        <p:nvSpPr>
          <p:cNvPr id="113" name="Card Title"/>
          <p:cNvSpPr txBox="1"/>
          <p:nvPr/>
        </p:nvSpPr>
        <p:spPr>
          <a:xfrm>
            <a:off x="8869680" y="1572768"/>
            <a:ext cx="2651760" cy="438912"/>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1" i="0" dirty="0">
                <a:solidFill>
                  <a:srgbClr val="0F2A2E"/>
                </a:solidFill>
                <a:latin typeface="Cambria"/>
                <a:cs typeface="Cambria"/>
              </a:rPr>
              <a:t>My Contribution</a:t>
            </a:r>
          </a:p>
        </p:txBody>
      </p:sp>
      <p:sp>
        <p:nvSpPr>
          <p:cNvPr id="114" name="Card Body"/>
          <p:cNvSpPr txBox="1"/>
          <p:nvPr/>
        </p:nvSpPr>
        <p:spPr>
          <a:xfrm>
            <a:off x="8302752" y="2176272"/>
            <a:ext cx="3108960" cy="1645920"/>
          </a:xfrm>
          <a:prstGeom prst="rect">
            <a:avLst/>
          </a:prstGeom>
          <a:noFill/>
          <a:ln>
            <a:noFill/>
          </a:ln>
        </p:spPr>
        <p:txBody>
          <a:bodyPr wrap="square" lIns="0" tIns="0" rIns="0" bIns="0" rtlCol="0" anchor="t">
            <a:normAutofit/>
          </a:bodyPr>
          <a:lstStyle/>
          <a:p>
            <a:pPr marL="228600" indent="-228600">
              <a:spcBef>
                <a:spcPts val="300"/>
              </a:spcBef>
              <a:buClr>
                <a:srgbClr val="0F766E"/>
              </a:buClr>
              <a:buFont typeface="Arial"/>
              <a:buChar char="•"/>
            </a:pPr>
            <a:r>
              <a:rPr lang="en-US" sz="1400" b="0" i="0" dirty="0">
                <a:solidFill>
                  <a:srgbClr val="334155"/>
                </a:solidFill>
                <a:latin typeface="Calibri"/>
                <a:cs typeface="Calibri"/>
              </a:rPr>
              <a:t>Pseudocode of the full robot logic</a:t>
            </a:r>
          </a:p>
          <a:p>
            <a:pPr marL="228600" indent="-228600">
              <a:spcBef>
                <a:spcPts val="300"/>
              </a:spcBef>
              <a:buClr>
                <a:srgbClr val="0F766E"/>
              </a:buClr>
              <a:buFont typeface="Arial"/>
              <a:buChar char="•"/>
            </a:pPr>
            <a:r>
              <a:rPr lang="en-US" sz="1400" b="0" i="0" dirty="0">
                <a:solidFill>
                  <a:srgbClr val="334155"/>
                </a:solidFill>
                <a:latin typeface="Calibri"/>
                <a:cs typeface="Calibri"/>
              </a:rPr>
              <a:t>Code snippet: Medicine Reminder logic</a:t>
            </a:r>
          </a:p>
          <a:p>
            <a:pPr marL="228600" indent="-228600">
              <a:spcBef>
                <a:spcPts val="300"/>
              </a:spcBef>
              <a:buClr>
                <a:srgbClr val="0F766E"/>
              </a:buClr>
              <a:buFont typeface="Arial"/>
              <a:buChar char="•"/>
            </a:pPr>
            <a:r>
              <a:rPr lang="en-US" sz="1400" b="0" i="0" dirty="0">
                <a:solidFill>
                  <a:srgbClr val="334155"/>
                </a:solidFill>
                <a:latin typeface="Calibri"/>
                <a:cs typeface="Calibri"/>
              </a:rPr>
              <a:t>Code snippet: Gas Alert logic</a:t>
            </a:r>
          </a:p>
          <a:p>
            <a:pPr marL="228600" indent="-228600">
              <a:spcBef>
                <a:spcPts val="300"/>
              </a:spcBef>
              <a:buClr>
                <a:srgbClr val="0F766E"/>
              </a:buClr>
              <a:buFont typeface="Arial"/>
              <a:buChar char="•"/>
            </a:pPr>
            <a:r>
              <a:rPr lang="en-US" sz="1400" b="0" i="0" dirty="0">
                <a:solidFill>
                  <a:srgbClr val="334155"/>
                </a:solidFill>
                <a:latin typeface="Calibri"/>
                <a:cs typeface="Calibri"/>
              </a:rPr>
              <a:t>Performance analysis from the user survey</a:t>
            </a:r>
          </a:p>
        </p:txBody>
      </p:sp>
      <p:sp>
        <p:nvSpPr>
          <p:cNvPr id="115" name="Stat Band"/>
          <p:cNvSpPr/>
          <p:nvPr/>
        </p:nvSpPr>
        <p:spPr>
          <a:xfrm>
            <a:off x="548640" y="4114800"/>
            <a:ext cx="11091672" cy="1965960"/>
          </a:xfrm>
          <a:prstGeom prst="roundRect">
            <a:avLst>
              <a:gd name="adj" fmla="val 6000"/>
            </a:avLst>
          </a:prstGeom>
          <a:solidFill>
            <a:srgbClr val="0B3B40"/>
          </a:solidFill>
          <a:ln>
            <a:noFill/>
          </a:ln>
        </p:spPr>
        <p:txBody>
          <a:bodyPr wrap="square" lIns="0" tIns="0" rIns="0" bIns="0" rtlCol="0" anchor="t">
            <a:normAutofit/>
          </a:bodyPr>
          <a:lstStyle/>
          <a:p>
            <a:endParaRPr lang="en-US"/>
          </a:p>
        </p:txBody>
      </p:sp>
      <p:sp>
        <p:nvSpPr>
          <p:cNvPr id="116" name="Stat"/>
          <p:cNvSpPr txBox="1"/>
          <p:nvPr/>
        </p:nvSpPr>
        <p:spPr>
          <a:xfrm>
            <a:off x="822960" y="4279392"/>
            <a:ext cx="2468880" cy="777240"/>
          </a:xfrm>
          <a:prstGeom prst="rect">
            <a:avLst/>
          </a:prstGeom>
          <a:noFill/>
          <a:ln>
            <a:noFill/>
          </a:ln>
        </p:spPr>
        <p:txBody>
          <a:bodyPr wrap="square" lIns="0" tIns="0" rIns="0" bIns="0" rtlCol="0" anchor="ctr">
            <a:normAutofit/>
          </a:bodyPr>
          <a:lstStyle/>
          <a:p>
            <a:pPr algn="l">
              <a:spcBef>
                <a:spcPts val="0"/>
              </a:spcBef>
              <a:spcAft>
                <a:spcPts val="0"/>
              </a:spcAft>
              <a:buNone/>
            </a:pPr>
            <a:r>
              <a:rPr lang="en-US" sz="3600" b="1" i="0" dirty="0">
                <a:solidFill>
                  <a:srgbClr val="2DD4BF"/>
                </a:solidFill>
                <a:latin typeface="Cambria"/>
                <a:cs typeface="Cambria"/>
              </a:rPr>
              <a:t>83.3%</a:t>
            </a:r>
          </a:p>
        </p:txBody>
      </p:sp>
      <p:sp>
        <p:nvSpPr>
          <p:cNvPr id="117" name="Stat Label"/>
          <p:cNvSpPr txBox="1"/>
          <p:nvPr/>
        </p:nvSpPr>
        <p:spPr>
          <a:xfrm>
            <a:off x="822960" y="5074920"/>
            <a:ext cx="233172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D1E7E5"/>
                </a:solidFill>
                <a:latin typeface="Calibri"/>
                <a:cs typeface="Calibri"/>
              </a:rPr>
              <a:t>said the robot saved time or effort vs. managing medicine manually</a:t>
            </a:r>
          </a:p>
        </p:txBody>
      </p:sp>
      <p:sp>
        <p:nvSpPr>
          <p:cNvPr id="118" name="Stat"/>
          <p:cNvSpPr txBox="1"/>
          <p:nvPr/>
        </p:nvSpPr>
        <p:spPr>
          <a:xfrm>
            <a:off x="3520440" y="4279392"/>
            <a:ext cx="2468880" cy="777240"/>
          </a:xfrm>
          <a:prstGeom prst="rect">
            <a:avLst/>
          </a:prstGeom>
          <a:noFill/>
          <a:ln>
            <a:noFill/>
          </a:ln>
        </p:spPr>
        <p:txBody>
          <a:bodyPr wrap="square" lIns="0" tIns="0" rIns="0" bIns="0" rtlCol="0" anchor="ctr">
            <a:normAutofit/>
          </a:bodyPr>
          <a:lstStyle/>
          <a:p>
            <a:pPr algn="l">
              <a:spcBef>
                <a:spcPts val="0"/>
              </a:spcBef>
              <a:spcAft>
                <a:spcPts val="0"/>
              </a:spcAft>
              <a:buNone/>
            </a:pPr>
            <a:r>
              <a:rPr lang="en-US" sz="3600" b="1" i="0" dirty="0">
                <a:solidFill>
                  <a:srgbClr val="2DD4BF"/>
                </a:solidFill>
                <a:latin typeface="Cambria"/>
                <a:cs typeface="Cambria"/>
              </a:rPr>
              <a:t>67.6%</a:t>
            </a:r>
          </a:p>
        </p:txBody>
      </p:sp>
      <p:sp>
        <p:nvSpPr>
          <p:cNvPr id="119" name="Stat Label"/>
          <p:cNvSpPr txBox="1"/>
          <p:nvPr/>
        </p:nvSpPr>
        <p:spPr>
          <a:xfrm>
            <a:off x="3520440" y="5074920"/>
            <a:ext cx="233172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D1E7E5"/>
                </a:solidFill>
                <a:latin typeface="Calibri"/>
                <a:cs typeface="Calibri"/>
              </a:rPr>
              <a:t>rate it moderately or extremely beneficial for elderly patients</a:t>
            </a:r>
          </a:p>
        </p:txBody>
      </p:sp>
      <p:sp>
        <p:nvSpPr>
          <p:cNvPr id="120" name="Stat"/>
          <p:cNvSpPr txBox="1"/>
          <p:nvPr/>
        </p:nvSpPr>
        <p:spPr>
          <a:xfrm>
            <a:off x="6217920" y="4279392"/>
            <a:ext cx="2468880" cy="777240"/>
          </a:xfrm>
          <a:prstGeom prst="rect">
            <a:avLst/>
          </a:prstGeom>
          <a:noFill/>
          <a:ln>
            <a:noFill/>
          </a:ln>
        </p:spPr>
        <p:txBody>
          <a:bodyPr wrap="square" lIns="0" tIns="0" rIns="0" bIns="0" rtlCol="0" anchor="ctr">
            <a:normAutofit/>
          </a:bodyPr>
          <a:lstStyle/>
          <a:p>
            <a:pPr algn="l">
              <a:spcBef>
                <a:spcPts val="0"/>
              </a:spcBef>
              <a:spcAft>
                <a:spcPts val="0"/>
              </a:spcAft>
              <a:buNone/>
            </a:pPr>
            <a:r>
              <a:rPr lang="en-US" sz="3600" b="1" i="0" dirty="0">
                <a:solidFill>
                  <a:srgbClr val="2DD4BF"/>
                </a:solidFill>
                <a:latin typeface="Cambria"/>
                <a:cs typeface="Cambria"/>
              </a:rPr>
              <a:t>3.7/5</a:t>
            </a:r>
          </a:p>
        </p:txBody>
      </p:sp>
      <p:sp>
        <p:nvSpPr>
          <p:cNvPr id="121" name="Stat Label"/>
          <p:cNvSpPr txBox="1"/>
          <p:nvPr/>
        </p:nvSpPr>
        <p:spPr>
          <a:xfrm>
            <a:off x="6217920" y="5074920"/>
            <a:ext cx="233172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D1E7E5"/>
                </a:solidFill>
                <a:latin typeface="Calibri"/>
                <a:cs typeface="Calibri"/>
              </a:rPr>
              <a:t>average rating for the robot's response speed</a:t>
            </a:r>
          </a:p>
        </p:txBody>
      </p:sp>
      <p:sp>
        <p:nvSpPr>
          <p:cNvPr id="122" name="Stat"/>
          <p:cNvSpPr txBox="1"/>
          <p:nvPr/>
        </p:nvSpPr>
        <p:spPr>
          <a:xfrm>
            <a:off x="8915400" y="4279392"/>
            <a:ext cx="2468880" cy="777240"/>
          </a:xfrm>
          <a:prstGeom prst="rect">
            <a:avLst/>
          </a:prstGeom>
          <a:noFill/>
          <a:ln>
            <a:noFill/>
          </a:ln>
        </p:spPr>
        <p:txBody>
          <a:bodyPr wrap="square" lIns="0" tIns="0" rIns="0" bIns="0" rtlCol="0" anchor="ctr">
            <a:normAutofit/>
          </a:bodyPr>
          <a:lstStyle/>
          <a:p>
            <a:pPr algn="l">
              <a:spcBef>
                <a:spcPts val="0"/>
              </a:spcBef>
              <a:spcAft>
                <a:spcPts val="0"/>
              </a:spcAft>
              <a:buNone/>
            </a:pPr>
            <a:r>
              <a:rPr lang="en-US" sz="3600" b="1" i="0" dirty="0">
                <a:solidFill>
                  <a:srgbClr val="2DD4BF"/>
                </a:solidFill>
                <a:latin typeface="Cambria"/>
                <a:cs typeface="Cambria"/>
              </a:rPr>
              <a:t>34</a:t>
            </a:r>
          </a:p>
        </p:txBody>
      </p:sp>
      <p:sp>
        <p:nvSpPr>
          <p:cNvPr id="123" name="Stat Label"/>
          <p:cNvSpPr txBox="1"/>
          <p:nvPr/>
        </p:nvSpPr>
        <p:spPr>
          <a:xfrm>
            <a:off x="8915400" y="5074920"/>
            <a:ext cx="233172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D1E7E5"/>
                </a:solidFill>
                <a:latin typeface="Calibri"/>
                <a:cs typeface="Calibri"/>
              </a:rPr>
              <a:t>people took part in the performance survey</a:t>
            </a:r>
          </a:p>
        </p:txBody>
      </p:sp>
      <p:sp>
        <p:nvSpPr>
          <p:cNvPr id="124"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WHAT I WORKED ON</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My Contribution</a:t>
            </a:r>
          </a:p>
        </p:txBody>
      </p:sp>
      <p:sp>
        <p:nvSpPr>
          <p:cNvPr id="103" name="Card"/>
          <p:cNvSpPr/>
          <p:nvPr/>
        </p:nvSpPr>
        <p:spPr>
          <a:xfrm>
            <a:off x="548640" y="1371600"/>
            <a:ext cx="6766560" cy="10058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Badge"/>
          <p:cNvSpPr/>
          <p:nvPr/>
        </p:nvSpPr>
        <p:spPr>
          <a:xfrm>
            <a:off x="749808" y="1645920"/>
            <a:ext cx="457200" cy="457200"/>
          </a:xfrm>
          <a:prstGeom prst="ellipse">
            <a:avLst/>
          </a:prstGeom>
          <a:solidFill>
            <a:srgbClr val="0F766E"/>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1</a:t>
            </a:r>
          </a:p>
        </p:txBody>
      </p:sp>
      <p:sp>
        <p:nvSpPr>
          <p:cNvPr id="105" name="Item Title"/>
          <p:cNvSpPr txBox="1"/>
          <p:nvPr/>
        </p:nvSpPr>
        <p:spPr>
          <a:xfrm>
            <a:off x="1371600" y="1371600"/>
            <a:ext cx="2194560" cy="1005840"/>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0F2A2E"/>
                </a:solidFill>
                <a:latin typeface="Cambria"/>
                <a:cs typeface="Cambria"/>
              </a:rPr>
              <a:t>Pseudocode</a:t>
            </a:r>
          </a:p>
        </p:txBody>
      </p:sp>
      <p:sp>
        <p:nvSpPr>
          <p:cNvPr id="106" name="Item Body"/>
          <p:cNvSpPr txBox="1"/>
          <p:nvPr/>
        </p:nvSpPr>
        <p:spPr>
          <a:xfrm>
            <a:off x="3566160" y="1371600"/>
            <a:ext cx="3611880" cy="1005840"/>
          </a:xfrm>
          <a:prstGeom prst="rect">
            <a:avLst/>
          </a:prstGeom>
          <a:noFill/>
          <a:ln>
            <a:noFill/>
          </a:ln>
        </p:spPr>
        <p:txBody>
          <a:bodyPr wrap="square" lIns="0" tIns="0" rIns="0" bIns="0" rtlCol="0" anchor="ctr">
            <a:normAutofit/>
          </a:bodyPr>
          <a:lstStyle/>
          <a:p>
            <a:pPr algn="l">
              <a:lnSpc>
                <a:spcPct val="100000"/>
              </a:lnSpc>
              <a:spcBef>
                <a:spcPts val="0"/>
              </a:spcBef>
              <a:spcAft>
                <a:spcPts val="0"/>
              </a:spcAft>
              <a:buNone/>
            </a:pPr>
            <a:r>
              <a:rPr lang="en-US" sz="1300" b="0" i="0" dirty="0">
                <a:solidFill>
                  <a:srgbClr val="334155"/>
                </a:solidFill>
                <a:latin typeface="Calibri"/>
                <a:cs typeface="Calibri"/>
              </a:rPr>
              <a:t>Step-by-step logic of the full robot loop: sensors, alarms, reminder and gas alert.</a:t>
            </a:r>
          </a:p>
        </p:txBody>
      </p:sp>
      <p:sp>
        <p:nvSpPr>
          <p:cNvPr id="107" name="Card"/>
          <p:cNvSpPr/>
          <p:nvPr/>
        </p:nvSpPr>
        <p:spPr>
          <a:xfrm>
            <a:off x="548640" y="2532888"/>
            <a:ext cx="6766560" cy="10058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8" name="Badge"/>
          <p:cNvSpPr/>
          <p:nvPr/>
        </p:nvSpPr>
        <p:spPr>
          <a:xfrm>
            <a:off x="749808" y="2807208"/>
            <a:ext cx="457200" cy="457200"/>
          </a:xfrm>
          <a:prstGeom prst="ellipse">
            <a:avLst/>
          </a:prstGeom>
          <a:solidFill>
            <a:srgbClr val="0891B2"/>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2</a:t>
            </a:r>
          </a:p>
        </p:txBody>
      </p:sp>
      <p:sp>
        <p:nvSpPr>
          <p:cNvPr id="109" name="Item Title"/>
          <p:cNvSpPr txBox="1"/>
          <p:nvPr/>
        </p:nvSpPr>
        <p:spPr>
          <a:xfrm>
            <a:off x="1371600" y="2532888"/>
            <a:ext cx="2194560" cy="1005840"/>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0F2A2E"/>
                </a:solidFill>
                <a:latin typeface="Cambria"/>
                <a:cs typeface="Cambria"/>
              </a:rPr>
              <a:t>Code Logic 1</a:t>
            </a:r>
          </a:p>
        </p:txBody>
      </p:sp>
      <p:sp>
        <p:nvSpPr>
          <p:cNvPr id="110" name="Item Body"/>
          <p:cNvSpPr txBox="1"/>
          <p:nvPr/>
        </p:nvSpPr>
        <p:spPr>
          <a:xfrm>
            <a:off x="3566160" y="2532888"/>
            <a:ext cx="3611880" cy="1005840"/>
          </a:xfrm>
          <a:prstGeom prst="rect">
            <a:avLst/>
          </a:prstGeom>
          <a:noFill/>
          <a:ln>
            <a:noFill/>
          </a:ln>
        </p:spPr>
        <p:txBody>
          <a:bodyPr wrap="square" lIns="0" tIns="0" rIns="0" bIns="0" rtlCol="0" anchor="ctr">
            <a:normAutofit/>
          </a:bodyPr>
          <a:lstStyle/>
          <a:p>
            <a:pPr algn="l">
              <a:lnSpc>
                <a:spcPct val="100000"/>
              </a:lnSpc>
              <a:spcBef>
                <a:spcPts val="0"/>
              </a:spcBef>
              <a:spcAft>
                <a:spcPts val="0"/>
              </a:spcAft>
              <a:buNone/>
            </a:pPr>
            <a:r>
              <a:rPr lang="en-US" sz="1300" b="0" i="0" dirty="0">
                <a:solidFill>
                  <a:srgbClr val="334155"/>
                </a:solidFill>
                <a:latin typeface="Calibri"/>
                <a:cs typeface="Calibri"/>
              </a:rPr>
              <a:t>Medicine reminder: the alarm fires once and repeats every 4 s until touched.</a:t>
            </a:r>
          </a:p>
        </p:txBody>
      </p:sp>
      <p:sp>
        <p:nvSpPr>
          <p:cNvPr id="111" name="Card"/>
          <p:cNvSpPr/>
          <p:nvPr/>
        </p:nvSpPr>
        <p:spPr>
          <a:xfrm>
            <a:off x="548640" y="3694176"/>
            <a:ext cx="6766560" cy="10058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2" name="Badge"/>
          <p:cNvSpPr/>
          <p:nvPr/>
        </p:nvSpPr>
        <p:spPr>
          <a:xfrm>
            <a:off x="749808" y="3968496"/>
            <a:ext cx="457200" cy="457200"/>
          </a:xfrm>
          <a:prstGeom prst="ellipse">
            <a:avLst/>
          </a:prstGeom>
          <a:solidFill>
            <a:srgbClr val="F97316"/>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3</a:t>
            </a:r>
          </a:p>
        </p:txBody>
      </p:sp>
      <p:sp>
        <p:nvSpPr>
          <p:cNvPr id="113" name="Item Title"/>
          <p:cNvSpPr txBox="1"/>
          <p:nvPr/>
        </p:nvSpPr>
        <p:spPr>
          <a:xfrm>
            <a:off x="1371600" y="3694176"/>
            <a:ext cx="2194560" cy="1005840"/>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0F2A2E"/>
                </a:solidFill>
                <a:latin typeface="Cambria"/>
                <a:cs typeface="Cambria"/>
              </a:rPr>
              <a:t>Code Logic 2</a:t>
            </a:r>
          </a:p>
        </p:txBody>
      </p:sp>
      <p:sp>
        <p:nvSpPr>
          <p:cNvPr id="114" name="Item Body"/>
          <p:cNvSpPr txBox="1"/>
          <p:nvPr/>
        </p:nvSpPr>
        <p:spPr>
          <a:xfrm>
            <a:off x="3566160" y="3694176"/>
            <a:ext cx="3611880" cy="1005840"/>
          </a:xfrm>
          <a:prstGeom prst="rect">
            <a:avLst/>
          </a:prstGeom>
          <a:noFill/>
          <a:ln>
            <a:noFill/>
          </a:ln>
        </p:spPr>
        <p:txBody>
          <a:bodyPr wrap="square" lIns="0" tIns="0" rIns="0" bIns="0" rtlCol="0" anchor="ctr">
            <a:normAutofit/>
          </a:bodyPr>
          <a:lstStyle/>
          <a:p>
            <a:pPr algn="l">
              <a:lnSpc>
                <a:spcPct val="100000"/>
              </a:lnSpc>
              <a:spcBef>
                <a:spcPts val="0"/>
              </a:spcBef>
              <a:spcAft>
                <a:spcPts val="0"/>
              </a:spcAft>
              <a:buNone/>
            </a:pPr>
            <a:r>
              <a:rPr lang="en-US" sz="1300" b="0" i="0" dirty="0">
                <a:solidFill>
                  <a:srgbClr val="334155"/>
                </a:solidFill>
                <a:latin typeface="Calibri"/>
                <a:cs typeface="Calibri"/>
              </a:rPr>
              <a:t>Gas alert: MQ-2 threshold, emergency SMS and call, 5-minute cooldown.</a:t>
            </a:r>
          </a:p>
        </p:txBody>
      </p:sp>
      <p:sp>
        <p:nvSpPr>
          <p:cNvPr id="115" name="Card"/>
          <p:cNvSpPr/>
          <p:nvPr/>
        </p:nvSpPr>
        <p:spPr>
          <a:xfrm>
            <a:off x="548640" y="4855464"/>
            <a:ext cx="6766560" cy="10058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6" name="Badge"/>
          <p:cNvSpPr/>
          <p:nvPr/>
        </p:nvSpPr>
        <p:spPr>
          <a:xfrm>
            <a:off x="749808" y="5129784"/>
            <a:ext cx="457200" cy="457200"/>
          </a:xfrm>
          <a:prstGeom prst="ellipse">
            <a:avLst/>
          </a:prstGeom>
          <a:solidFill>
            <a:srgbClr val="475569"/>
          </a:solidFill>
          <a:ln>
            <a:noFill/>
          </a:ln>
        </p:spPr>
        <p:txBody>
          <a:bodyPr wrap="square" lIns="0" tIns="0" rIns="0" bIns="0" rtlCol="0" anchor="ctr">
            <a:normAutofit/>
          </a:bodyPr>
          <a:lstStyle/>
          <a:p>
            <a:pPr algn="ctr">
              <a:spcBef>
                <a:spcPts val="0"/>
              </a:spcBef>
              <a:spcAft>
                <a:spcPts val="0"/>
              </a:spcAft>
              <a:buNone/>
            </a:pPr>
            <a:r>
              <a:rPr lang="en-US" sz="1400" b="1" i="0" dirty="0">
                <a:solidFill>
                  <a:srgbClr val="FFFFFF"/>
                </a:solidFill>
                <a:latin typeface="Calibri"/>
                <a:cs typeface="Calibri"/>
              </a:rPr>
              <a:t>4</a:t>
            </a:r>
          </a:p>
        </p:txBody>
      </p:sp>
      <p:sp>
        <p:nvSpPr>
          <p:cNvPr id="117" name="Item Title"/>
          <p:cNvSpPr txBox="1"/>
          <p:nvPr/>
        </p:nvSpPr>
        <p:spPr>
          <a:xfrm>
            <a:off x="1371600" y="4855464"/>
            <a:ext cx="2194560" cy="1005840"/>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0F2A2E"/>
                </a:solidFill>
                <a:latin typeface="Cambria"/>
                <a:cs typeface="Cambria"/>
              </a:rPr>
              <a:t>Performance Analysis</a:t>
            </a:r>
          </a:p>
        </p:txBody>
      </p:sp>
      <p:sp>
        <p:nvSpPr>
          <p:cNvPr id="118" name="Item Body"/>
          <p:cNvSpPr txBox="1"/>
          <p:nvPr/>
        </p:nvSpPr>
        <p:spPr>
          <a:xfrm>
            <a:off x="3566160" y="4855464"/>
            <a:ext cx="3611880" cy="1005840"/>
          </a:xfrm>
          <a:prstGeom prst="rect">
            <a:avLst/>
          </a:prstGeom>
          <a:noFill/>
          <a:ln>
            <a:noFill/>
          </a:ln>
        </p:spPr>
        <p:txBody>
          <a:bodyPr wrap="square" lIns="0" tIns="0" rIns="0" bIns="0" rtlCol="0" anchor="ctr">
            <a:normAutofit/>
          </a:bodyPr>
          <a:lstStyle/>
          <a:p>
            <a:pPr algn="l">
              <a:lnSpc>
                <a:spcPct val="100000"/>
              </a:lnSpc>
              <a:spcBef>
                <a:spcPts val="0"/>
              </a:spcBef>
              <a:spcAft>
                <a:spcPts val="0"/>
              </a:spcAft>
              <a:buNone/>
            </a:pPr>
            <a:r>
              <a:rPr lang="en-US" sz="1300" b="0" i="0" dirty="0">
                <a:solidFill>
                  <a:srgbClr val="334155"/>
                </a:solidFill>
                <a:latin typeface="Calibri"/>
                <a:cs typeface="Calibri"/>
              </a:rPr>
              <a:t>User survey on reminder, speed, time saved and overall benefit.</a:t>
            </a:r>
          </a:p>
        </p:txBody>
      </p:sp>
      <p:sp>
        <p:nvSpPr>
          <p:cNvPr id="119" name="Robot Panel"/>
          <p:cNvSpPr/>
          <p:nvPr/>
        </p:nvSpPr>
        <p:spPr>
          <a:xfrm>
            <a:off x="7589520" y="1371600"/>
            <a:ext cx="4050792" cy="4535424"/>
          </a:xfrm>
          <a:prstGeom prst="roundRect">
            <a:avLst>
              <a:gd name="adj" fmla="val 6000"/>
            </a:avLst>
          </a:prstGeom>
          <a:solidFill>
            <a:srgbClr val="0B3B40"/>
          </a:solidFill>
          <a:ln>
            <a:noFill/>
          </a:ln>
        </p:spPr>
        <p:txBody>
          <a:bodyPr wrap="square" lIns="0" tIns="0" rIns="0" bIns="0" rtlCol="0" anchor="t">
            <a:normAutofit/>
          </a:bodyPr>
          <a:lstStyle/>
          <a:p>
            <a:endParaRPr lang="en-US"/>
          </a:p>
        </p:txBody>
      </p:sp>
      <p:pic>
        <p:nvPicPr>
          <p:cNvPr id="120" name="Robot Picture" descr="Smart Medicine Companion Robot"/>
          <p:cNvPicPr>
            <a:picLocks noChangeAspect="1"/>
          </p:cNvPicPr>
          <p:nvPr/>
        </p:nvPicPr>
        <p:blipFill>
          <a:blip r:embed="rId2">
            <a:extLst>
              <a:ext uri="{BEBA8EAE-BF5A-486C-A8C5-ECC9F3942E4B}">
                <a14:imgProps xmlns:a14="http://schemas.microsoft.com/office/drawing/2010/main">
                  <a14:imgLayer r:embed="rId3">
                    <a14:imgEffect>
                      <a14:backgroundRemoval t="0" b="100000" l="0" r="99750">
                        <a14:foregroundMark x1="10500" y1="29576" x2="12333" y2="71094"/>
                        <a14:foregroundMark x1="11167" y1="30134" x2="45750" y2="24442"/>
                        <a14:foregroundMark x1="52750" y1="24442" x2="75333" y2="20536"/>
                        <a14:foregroundMark x1="75333" y1="19866" x2="89167" y2="25000"/>
                        <a14:foregroundMark x1="90250" y1="26228" x2="87333" y2="65625"/>
                        <a14:foregroundMark x1="88917" y1="46205" x2="90250" y2="46205"/>
                        <a14:foregroundMark x1="89583" y1="46540" x2="88250" y2="64063"/>
                        <a14:foregroundMark x1="20250" y1="84933" x2="87333" y2="64955"/>
                        <a14:foregroundMark x1="69000" y1="24777" x2="71500" y2="23772"/>
                        <a14:foregroundMark x1="71083" y1="24777" x2="72917" y2="24777"/>
                      </a14:backgroundRemoval>
                    </a14:imgEffect>
                  </a14:imgLayer>
                </a14:imgProps>
              </a:ext>
            </a:extLst>
          </a:blip>
          <a:stretch>
            <a:fillRect/>
          </a:stretch>
        </p:blipFill>
        <p:spPr>
          <a:xfrm>
            <a:off x="7726680" y="1600200"/>
            <a:ext cx="3749040" cy="2799283"/>
          </a:xfrm>
          <a:prstGeom prst="rect">
            <a:avLst/>
          </a:prstGeom>
        </p:spPr>
      </p:pic>
      <p:sp>
        <p:nvSpPr>
          <p:cNvPr id="121" name="Role"/>
          <p:cNvSpPr txBox="1"/>
          <p:nvPr/>
        </p:nvSpPr>
        <p:spPr>
          <a:xfrm>
            <a:off x="7863840" y="4526280"/>
            <a:ext cx="3520440" cy="1280160"/>
          </a:xfrm>
          <a:prstGeom prst="rect">
            <a:avLst/>
          </a:prstGeom>
          <a:noFill/>
          <a:ln>
            <a:noFill/>
          </a:ln>
        </p:spPr>
        <p:txBody>
          <a:bodyPr wrap="square" lIns="0" tIns="0" rIns="0" bIns="0" rtlCol="0" anchor="t">
            <a:normAutofit/>
          </a:bodyPr>
          <a:lstStyle/>
          <a:p>
            <a:pPr algn="l">
              <a:spcBef>
                <a:spcPts val="0"/>
              </a:spcBef>
              <a:spcAft>
                <a:spcPts val="300"/>
              </a:spcAft>
              <a:buNone/>
            </a:pPr>
            <a:r>
              <a:rPr lang="en-US" sz="1300" b="1" i="0" dirty="0">
                <a:solidFill>
                  <a:srgbClr val="2DD4BF"/>
                </a:solidFill>
                <a:latin typeface="Calibri"/>
                <a:cs typeface="Calibri"/>
              </a:rPr>
              <a:t>My role</a:t>
            </a:r>
          </a:p>
          <a:p>
            <a:pPr algn="l">
              <a:lnSpc>
                <a:spcPct val="105000"/>
              </a:lnSpc>
              <a:spcBef>
                <a:spcPts val="0"/>
              </a:spcBef>
              <a:spcAft>
                <a:spcPts val="0"/>
              </a:spcAft>
              <a:buNone/>
            </a:pPr>
            <a:r>
              <a:rPr lang="en-US" sz="1400" b="0" i="0" dirty="0">
                <a:solidFill>
                  <a:srgbClr val="FFFFFF"/>
                </a:solidFill>
                <a:latin typeface="Calibri"/>
                <a:cs typeface="Calibri"/>
              </a:rPr>
              <a:t>I wrote PicoBot's logic as clear pseudocode, explained its two core code modules, and measured how real users rated it.</a:t>
            </a:r>
          </a:p>
        </p:txBody>
      </p:sp>
      <p:sp>
        <p:nvSpPr>
          <p:cNvPr id="122"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ROBOT LOGIC IN SIMPLE STEPS</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Pseudocode</a:t>
            </a:r>
          </a:p>
        </p:txBody>
      </p:sp>
      <p:sp>
        <p:nvSpPr>
          <p:cNvPr id="103" name="Card"/>
          <p:cNvSpPr/>
          <p:nvPr/>
        </p:nvSpPr>
        <p:spPr>
          <a:xfrm>
            <a:off x="548640" y="1371600"/>
            <a:ext cx="7315200" cy="484632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Block Tint"/>
          <p:cNvSpPr/>
          <p:nvPr/>
        </p:nvSpPr>
        <p:spPr>
          <a:xfrm>
            <a:off x="713232" y="3163824"/>
            <a:ext cx="6995160" cy="1024128"/>
          </a:xfrm>
          <a:prstGeom prst="roundRect">
            <a:avLst>
              <a:gd name="adj" fmla="val 12000"/>
            </a:avLst>
          </a:prstGeom>
          <a:solidFill>
            <a:srgbClr val="FFF1F2"/>
          </a:solidFill>
          <a:ln>
            <a:noFill/>
          </a:ln>
        </p:spPr>
        <p:txBody>
          <a:bodyPr wrap="square" lIns="0" tIns="0" rIns="0" bIns="0" rtlCol="0" anchor="t">
            <a:normAutofit/>
          </a:bodyPr>
          <a:lstStyle/>
          <a:p>
            <a:endParaRPr lang="en-US"/>
          </a:p>
        </p:txBody>
      </p:sp>
      <p:sp>
        <p:nvSpPr>
          <p:cNvPr id="105" name="Block Tint"/>
          <p:cNvSpPr/>
          <p:nvPr/>
        </p:nvSpPr>
        <p:spPr>
          <a:xfrm>
            <a:off x="713232" y="4151376"/>
            <a:ext cx="6995160" cy="1353312"/>
          </a:xfrm>
          <a:prstGeom prst="roundRect">
            <a:avLst>
              <a:gd name="adj" fmla="val 12000"/>
            </a:avLst>
          </a:prstGeom>
          <a:solidFill>
            <a:srgbClr val="FFF7ED"/>
          </a:solidFill>
          <a:ln>
            <a:noFill/>
          </a:ln>
        </p:spPr>
        <p:txBody>
          <a:bodyPr wrap="square" lIns="0" tIns="0" rIns="0" bIns="0" rtlCol="0" anchor="t">
            <a:normAutofit/>
          </a:bodyPr>
          <a:lstStyle/>
          <a:p>
            <a:endParaRPr lang="en-US"/>
          </a:p>
        </p:txBody>
      </p:sp>
      <p:sp>
        <p:nvSpPr>
          <p:cNvPr id="106" name="Line No"/>
          <p:cNvSpPr txBox="1"/>
          <p:nvPr/>
        </p:nvSpPr>
        <p:spPr>
          <a:xfrm>
            <a:off x="777240" y="1536192"/>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1</a:t>
            </a:r>
          </a:p>
        </p:txBody>
      </p:sp>
      <p:sp>
        <p:nvSpPr>
          <p:cNvPr id="107" name="Line"/>
          <p:cNvSpPr txBox="1"/>
          <p:nvPr/>
        </p:nvSpPr>
        <p:spPr>
          <a:xfrm>
            <a:off x="1280160" y="1536192"/>
            <a:ext cx="6492240"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F766E"/>
                </a:solidFill>
                <a:latin typeface="Calibri"/>
                <a:cs typeface="Calibri"/>
              </a:rPr>
              <a:t>START</a:t>
            </a:r>
          </a:p>
        </p:txBody>
      </p:sp>
      <p:sp>
        <p:nvSpPr>
          <p:cNvPr id="108" name="Line No"/>
          <p:cNvSpPr txBox="1"/>
          <p:nvPr/>
        </p:nvSpPr>
        <p:spPr>
          <a:xfrm>
            <a:off x="777240" y="1865376"/>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2</a:t>
            </a:r>
          </a:p>
        </p:txBody>
      </p:sp>
      <p:sp>
        <p:nvSpPr>
          <p:cNvPr id="109" name="Line"/>
          <p:cNvSpPr txBox="1"/>
          <p:nvPr/>
        </p:nvSpPr>
        <p:spPr>
          <a:xfrm>
            <a:off x="1664208" y="1865376"/>
            <a:ext cx="6108192"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F766E"/>
                </a:solidFill>
                <a:latin typeface="Calibri"/>
                <a:cs typeface="Calibri"/>
              </a:rPr>
              <a:t>Turn ON</a:t>
            </a:r>
            <a:r>
              <a:rPr lang="en-US" sz="1500" b="0" i="0" dirty="0">
                <a:solidFill>
                  <a:srgbClr val="0F2A2E"/>
                </a:solidFill>
                <a:latin typeface="Calibri"/>
                <a:cs typeface="Calibri"/>
              </a:rPr>
              <a:t> the display, clock, sensors, speaker and SIM module</a:t>
            </a:r>
          </a:p>
        </p:txBody>
      </p:sp>
      <p:sp>
        <p:nvSpPr>
          <p:cNvPr id="110" name="Line No"/>
          <p:cNvSpPr txBox="1"/>
          <p:nvPr/>
        </p:nvSpPr>
        <p:spPr>
          <a:xfrm>
            <a:off x="777240" y="2194560"/>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3</a:t>
            </a:r>
          </a:p>
        </p:txBody>
      </p:sp>
      <p:sp>
        <p:nvSpPr>
          <p:cNvPr id="111" name="Line"/>
          <p:cNvSpPr txBox="1"/>
          <p:nvPr/>
        </p:nvSpPr>
        <p:spPr>
          <a:xfrm>
            <a:off x="1664208" y="2194560"/>
            <a:ext cx="6108192"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F766E"/>
                </a:solidFill>
                <a:latin typeface="Calibri"/>
                <a:cs typeface="Calibri"/>
              </a:rPr>
              <a:t>LOAD</a:t>
            </a:r>
            <a:r>
              <a:rPr lang="en-US" sz="1500" b="0" i="0" dirty="0">
                <a:solidFill>
                  <a:srgbClr val="0F2A2E"/>
                </a:solidFill>
                <a:latin typeface="Calibri"/>
                <a:cs typeface="Calibri"/>
              </a:rPr>
              <a:t> the 3 saved medicine times</a:t>
            </a:r>
          </a:p>
        </p:txBody>
      </p:sp>
      <p:sp>
        <p:nvSpPr>
          <p:cNvPr id="112" name="Line No"/>
          <p:cNvSpPr txBox="1"/>
          <p:nvPr/>
        </p:nvSpPr>
        <p:spPr>
          <a:xfrm>
            <a:off x="777240" y="2523744"/>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4</a:t>
            </a:r>
          </a:p>
        </p:txBody>
      </p:sp>
      <p:sp>
        <p:nvSpPr>
          <p:cNvPr id="113" name="Line"/>
          <p:cNvSpPr txBox="1"/>
          <p:nvPr/>
        </p:nvSpPr>
        <p:spPr>
          <a:xfrm>
            <a:off x="1280160" y="2523744"/>
            <a:ext cx="6492240"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F766E"/>
                </a:solidFill>
                <a:latin typeface="Calibri"/>
                <a:cs typeface="Calibri"/>
              </a:rPr>
              <a:t>REPEAT</a:t>
            </a:r>
            <a:r>
              <a:rPr lang="en-US" sz="1500" b="0" i="0" dirty="0">
                <a:solidFill>
                  <a:srgbClr val="0F2A2E"/>
                </a:solidFill>
                <a:latin typeface="Calibri"/>
                <a:cs typeface="Calibri"/>
              </a:rPr>
              <a:t> </a:t>
            </a:r>
            <a:r>
              <a:rPr lang="en-US" sz="1500" b="1" i="0" dirty="0">
                <a:solidFill>
                  <a:srgbClr val="0F766E"/>
                </a:solidFill>
                <a:latin typeface="Calibri"/>
                <a:cs typeface="Calibri"/>
              </a:rPr>
              <a:t>forever</a:t>
            </a:r>
            <a:r>
              <a:rPr lang="en-US" sz="1500" b="0" i="0" dirty="0">
                <a:solidFill>
                  <a:srgbClr val="0F2A2E"/>
                </a:solidFill>
                <a:latin typeface="Calibri"/>
                <a:cs typeface="Calibri"/>
              </a:rPr>
              <a:t>:</a:t>
            </a:r>
          </a:p>
        </p:txBody>
      </p:sp>
      <p:sp>
        <p:nvSpPr>
          <p:cNvPr id="114" name="Line No"/>
          <p:cNvSpPr txBox="1"/>
          <p:nvPr/>
        </p:nvSpPr>
        <p:spPr>
          <a:xfrm>
            <a:off x="777240" y="2852928"/>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5</a:t>
            </a:r>
          </a:p>
        </p:txBody>
      </p:sp>
      <p:sp>
        <p:nvSpPr>
          <p:cNvPr id="115" name="Line"/>
          <p:cNvSpPr txBox="1"/>
          <p:nvPr/>
        </p:nvSpPr>
        <p:spPr>
          <a:xfrm>
            <a:off x="1664208" y="2852928"/>
            <a:ext cx="6108192"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F766E"/>
                </a:solidFill>
                <a:latin typeface="Calibri"/>
                <a:cs typeface="Calibri"/>
              </a:rPr>
              <a:t>READ</a:t>
            </a:r>
            <a:r>
              <a:rPr lang="en-US" sz="1500" b="0" i="0" dirty="0">
                <a:solidFill>
                  <a:srgbClr val="0F2A2E"/>
                </a:solidFill>
                <a:latin typeface="Calibri"/>
                <a:cs typeface="Calibri"/>
              </a:rPr>
              <a:t> the time, motion and gas level</a:t>
            </a:r>
          </a:p>
        </p:txBody>
      </p:sp>
      <p:sp>
        <p:nvSpPr>
          <p:cNvPr id="116" name="Line No"/>
          <p:cNvSpPr txBox="1"/>
          <p:nvPr/>
        </p:nvSpPr>
        <p:spPr>
          <a:xfrm>
            <a:off x="777240" y="3182112"/>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6</a:t>
            </a:r>
          </a:p>
        </p:txBody>
      </p:sp>
      <p:sp>
        <p:nvSpPr>
          <p:cNvPr id="117" name="Line"/>
          <p:cNvSpPr txBox="1"/>
          <p:nvPr/>
        </p:nvSpPr>
        <p:spPr>
          <a:xfrm>
            <a:off x="1664208" y="3182112"/>
            <a:ext cx="6108192"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E11D48"/>
                </a:solidFill>
                <a:latin typeface="Calibri"/>
                <a:cs typeface="Calibri"/>
              </a:rPr>
              <a:t>IF</a:t>
            </a:r>
            <a:r>
              <a:rPr lang="en-US" sz="1500" b="0" i="0" dirty="0">
                <a:solidFill>
                  <a:srgbClr val="0F2A2E"/>
                </a:solidFill>
                <a:latin typeface="Calibri"/>
                <a:cs typeface="Calibri"/>
              </a:rPr>
              <a:t> gas level is too high </a:t>
            </a:r>
            <a:r>
              <a:rPr lang="en-US" sz="1500" b="1" i="0" dirty="0">
                <a:solidFill>
                  <a:srgbClr val="E11D48"/>
                </a:solidFill>
                <a:latin typeface="Calibri"/>
                <a:cs typeface="Calibri"/>
              </a:rPr>
              <a:t>THEN</a:t>
            </a:r>
          </a:p>
        </p:txBody>
      </p:sp>
      <p:sp>
        <p:nvSpPr>
          <p:cNvPr id="118" name="Line No"/>
          <p:cNvSpPr txBox="1"/>
          <p:nvPr/>
        </p:nvSpPr>
        <p:spPr>
          <a:xfrm>
            <a:off x="777240" y="3511296"/>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7</a:t>
            </a:r>
          </a:p>
        </p:txBody>
      </p:sp>
      <p:sp>
        <p:nvSpPr>
          <p:cNvPr id="119" name="Line"/>
          <p:cNvSpPr txBox="1"/>
          <p:nvPr/>
        </p:nvSpPr>
        <p:spPr>
          <a:xfrm>
            <a:off x="2048256" y="3511296"/>
            <a:ext cx="5724144"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E11D48"/>
                </a:solidFill>
                <a:latin typeface="Calibri"/>
                <a:cs typeface="Calibri"/>
              </a:rPr>
              <a:t>SHOW</a:t>
            </a:r>
            <a:r>
              <a:rPr lang="en-US" sz="1500" b="0" i="0" dirty="0">
                <a:solidFill>
                  <a:srgbClr val="0F2A2E"/>
                </a:solidFill>
                <a:latin typeface="Calibri"/>
                <a:cs typeface="Calibri"/>
              </a:rPr>
              <a:t> "GAS DETECTED!" and </a:t>
            </a:r>
            <a:r>
              <a:rPr lang="en-US" sz="1500" b="1" i="0" dirty="0">
                <a:solidFill>
                  <a:srgbClr val="E11D48"/>
                </a:solidFill>
                <a:latin typeface="Calibri"/>
                <a:cs typeface="Calibri"/>
              </a:rPr>
              <a:t>PLAY</a:t>
            </a:r>
            <a:r>
              <a:rPr lang="en-US" sz="1500" b="0" i="0" dirty="0">
                <a:solidFill>
                  <a:srgbClr val="0F2A2E"/>
                </a:solidFill>
                <a:latin typeface="Calibri"/>
                <a:cs typeface="Calibri"/>
              </a:rPr>
              <a:t> a warning voice</a:t>
            </a:r>
          </a:p>
        </p:txBody>
      </p:sp>
      <p:sp>
        <p:nvSpPr>
          <p:cNvPr id="120" name="Line No"/>
          <p:cNvSpPr txBox="1"/>
          <p:nvPr/>
        </p:nvSpPr>
        <p:spPr>
          <a:xfrm>
            <a:off x="777240" y="3840480"/>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8</a:t>
            </a:r>
          </a:p>
        </p:txBody>
      </p:sp>
      <p:sp>
        <p:nvSpPr>
          <p:cNvPr id="121" name="Line"/>
          <p:cNvSpPr txBox="1"/>
          <p:nvPr/>
        </p:nvSpPr>
        <p:spPr>
          <a:xfrm>
            <a:off x="2048256" y="3840480"/>
            <a:ext cx="5724144"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E11D48"/>
                </a:solidFill>
                <a:latin typeface="Calibri"/>
                <a:cs typeface="Calibri"/>
              </a:rPr>
              <a:t>SEND</a:t>
            </a:r>
            <a:r>
              <a:rPr lang="en-US" sz="1500" b="0" i="0" dirty="0">
                <a:solidFill>
                  <a:srgbClr val="0F2A2E"/>
                </a:solidFill>
                <a:latin typeface="Calibri"/>
                <a:cs typeface="Calibri"/>
              </a:rPr>
              <a:t> an SMS and </a:t>
            </a:r>
            <a:r>
              <a:rPr lang="en-US" sz="1500" b="1" i="0" dirty="0">
                <a:solidFill>
                  <a:srgbClr val="E11D48"/>
                </a:solidFill>
                <a:latin typeface="Calibri"/>
                <a:cs typeface="Calibri"/>
              </a:rPr>
              <a:t>CALL</a:t>
            </a:r>
            <a:r>
              <a:rPr lang="en-US" sz="1500" b="0" i="0" dirty="0">
                <a:solidFill>
                  <a:srgbClr val="0F2A2E"/>
                </a:solidFill>
                <a:latin typeface="Calibri"/>
                <a:cs typeface="Calibri"/>
              </a:rPr>
              <a:t> the caregiver</a:t>
            </a:r>
          </a:p>
        </p:txBody>
      </p:sp>
      <p:sp>
        <p:nvSpPr>
          <p:cNvPr id="122" name="Line No"/>
          <p:cNvSpPr txBox="1"/>
          <p:nvPr/>
        </p:nvSpPr>
        <p:spPr>
          <a:xfrm>
            <a:off x="777240" y="4169664"/>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9</a:t>
            </a:r>
          </a:p>
        </p:txBody>
      </p:sp>
      <p:sp>
        <p:nvSpPr>
          <p:cNvPr id="123" name="Line"/>
          <p:cNvSpPr txBox="1"/>
          <p:nvPr/>
        </p:nvSpPr>
        <p:spPr>
          <a:xfrm>
            <a:off x="1664208" y="4169664"/>
            <a:ext cx="6108192"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F97316"/>
                </a:solidFill>
                <a:latin typeface="Calibri"/>
                <a:cs typeface="Calibri"/>
              </a:rPr>
              <a:t>IF</a:t>
            </a:r>
            <a:r>
              <a:rPr lang="en-US" sz="1500" b="0" i="0" dirty="0">
                <a:solidFill>
                  <a:srgbClr val="0F2A2E"/>
                </a:solidFill>
                <a:latin typeface="Calibri"/>
                <a:cs typeface="Calibri"/>
              </a:rPr>
              <a:t> it is medicine time </a:t>
            </a:r>
            <a:r>
              <a:rPr lang="en-US" sz="1500" b="1" i="0" dirty="0">
                <a:solidFill>
                  <a:srgbClr val="F97316"/>
                </a:solidFill>
                <a:latin typeface="Calibri"/>
                <a:cs typeface="Calibri"/>
              </a:rPr>
              <a:t>THEN</a:t>
            </a:r>
          </a:p>
        </p:txBody>
      </p:sp>
      <p:sp>
        <p:nvSpPr>
          <p:cNvPr id="124" name="Line No"/>
          <p:cNvSpPr txBox="1"/>
          <p:nvPr/>
        </p:nvSpPr>
        <p:spPr>
          <a:xfrm>
            <a:off x="777240" y="4498848"/>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10</a:t>
            </a:r>
          </a:p>
        </p:txBody>
      </p:sp>
      <p:sp>
        <p:nvSpPr>
          <p:cNvPr id="125" name="Line"/>
          <p:cNvSpPr txBox="1"/>
          <p:nvPr/>
        </p:nvSpPr>
        <p:spPr>
          <a:xfrm>
            <a:off x="2048256" y="4498848"/>
            <a:ext cx="5724144"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F97316"/>
                </a:solidFill>
                <a:latin typeface="Calibri"/>
                <a:cs typeface="Calibri"/>
              </a:rPr>
              <a:t>SHOW</a:t>
            </a:r>
            <a:r>
              <a:rPr lang="en-US" sz="1500" b="0" i="0" dirty="0">
                <a:solidFill>
                  <a:srgbClr val="0F2A2E"/>
                </a:solidFill>
                <a:latin typeface="Calibri"/>
                <a:cs typeface="Calibri"/>
              </a:rPr>
              <a:t> a sad face and </a:t>
            </a:r>
            <a:r>
              <a:rPr lang="en-US" sz="1500" b="1" i="0" dirty="0">
                <a:solidFill>
                  <a:srgbClr val="F97316"/>
                </a:solidFill>
                <a:latin typeface="Calibri"/>
                <a:cs typeface="Calibri"/>
              </a:rPr>
              <a:t>SAY</a:t>
            </a:r>
            <a:r>
              <a:rPr lang="en-US" sz="1500" b="0" i="0" dirty="0">
                <a:solidFill>
                  <a:srgbClr val="0F2A2E"/>
                </a:solidFill>
                <a:latin typeface="Calibri"/>
                <a:cs typeface="Calibri"/>
              </a:rPr>
              <a:t> "Please take your medicine"</a:t>
            </a:r>
          </a:p>
        </p:txBody>
      </p:sp>
      <p:sp>
        <p:nvSpPr>
          <p:cNvPr id="126" name="Line No"/>
          <p:cNvSpPr txBox="1"/>
          <p:nvPr/>
        </p:nvSpPr>
        <p:spPr>
          <a:xfrm>
            <a:off x="777240" y="4828032"/>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11</a:t>
            </a:r>
          </a:p>
        </p:txBody>
      </p:sp>
      <p:sp>
        <p:nvSpPr>
          <p:cNvPr id="127" name="Line"/>
          <p:cNvSpPr txBox="1"/>
          <p:nvPr/>
        </p:nvSpPr>
        <p:spPr>
          <a:xfrm>
            <a:off x="2048256" y="4828032"/>
            <a:ext cx="5724144"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F97316"/>
                </a:solidFill>
                <a:latin typeface="Calibri"/>
                <a:cs typeface="Calibri"/>
              </a:rPr>
              <a:t>REPEAT</a:t>
            </a:r>
            <a:r>
              <a:rPr lang="en-US" sz="1500" b="0" i="0" dirty="0">
                <a:solidFill>
                  <a:srgbClr val="0F2A2E"/>
                </a:solidFill>
                <a:latin typeface="Calibri"/>
                <a:cs typeface="Calibri"/>
              </a:rPr>
              <a:t> every 4 seconds </a:t>
            </a:r>
            <a:r>
              <a:rPr lang="en-US" sz="1500" b="1" i="0" dirty="0">
                <a:solidFill>
                  <a:srgbClr val="F97316"/>
                </a:solidFill>
                <a:latin typeface="Calibri"/>
                <a:cs typeface="Calibri"/>
              </a:rPr>
              <a:t>UNTIL</a:t>
            </a:r>
            <a:r>
              <a:rPr lang="en-US" sz="1500" b="0" i="0" dirty="0">
                <a:solidFill>
                  <a:srgbClr val="0F2A2E"/>
                </a:solidFill>
                <a:latin typeface="Calibri"/>
                <a:cs typeface="Calibri"/>
              </a:rPr>
              <a:t> the user touches the sensor</a:t>
            </a:r>
          </a:p>
        </p:txBody>
      </p:sp>
      <p:sp>
        <p:nvSpPr>
          <p:cNvPr id="128" name="Line No"/>
          <p:cNvSpPr txBox="1"/>
          <p:nvPr/>
        </p:nvSpPr>
        <p:spPr>
          <a:xfrm>
            <a:off x="777240" y="5157216"/>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12</a:t>
            </a:r>
          </a:p>
        </p:txBody>
      </p:sp>
      <p:sp>
        <p:nvSpPr>
          <p:cNvPr id="129" name="Line"/>
          <p:cNvSpPr txBox="1"/>
          <p:nvPr/>
        </p:nvSpPr>
        <p:spPr>
          <a:xfrm>
            <a:off x="2048256" y="5157216"/>
            <a:ext cx="5724144"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F97316"/>
                </a:solidFill>
                <a:latin typeface="Calibri"/>
                <a:cs typeface="Calibri"/>
              </a:rPr>
              <a:t>SHOW</a:t>
            </a:r>
            <a:r>
              <a:rPr lang="en-US" sz="1500" b="0" i="0" dirty="0">
                <a:solidFill>
                  <a:srgbClr val="0F2A2E"/>
                </a:solidFill>
                <a:latin typeface="Calibri"/>
                <a:cs typeface="Calibri"/>
              </a:rPr>
              <a:t> a happy face and </a:t>
            </a:r>
            <a:r>
              <a:rPr lang="en-US" sz="1500" b="1" i="0" dirty="0">
                <a:solidFill>
                  <a:srgbClr val="F97316"/>
                </a:solidFill>
                <a:latin typeface="Calibri"/>
                <a:cs typeface="Calibri"/>
              </a:rPr>
              <a:t>SAY</a:t>
            </a:r>
            <a:r>
              <a:rPr lang="en-US" sz="1500" b="0" i="0" dirty="0">
                <a:solidFill>
                  <a:srgbClr val="0F2A2E"/>
                </a:solidFill>
                <a:latin typeface="Calibri"/>
                <a:cs typeface="Calibri"/>
              </a:rPr>
              <a:t> "Thank you"</a:t>
            </a:r>
          </a:p>
        </p:txBody>
      </p:sp>
      <p:sp>
        <p:nvSpPr>
          <p:cNvPr id="130" name="Line No"/>
          <p:cNvSpPr txBox="1"/>
          <p:nvPr/>
        </p:nvSpPr>
        <p:spPr>
          <a:xfrm>
            <a:off x="777240" y="5486400"/>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13</a:t>
            </a:r>
          </a:p>
        </p:txBody>
      </p:sp>
      <p:sp>
        <p:nvSpPr>
          <p:cNvPr id="131" name="Line"/>
          <p:cNvSpPr txBox="1"/>
          <p:nvPr/>
        </p:nvSpPr>
        <p:spPr>
          <a:xfrm>
            <a:off x="1664208" y="5486400"/>
            <a:ext cx="6108192"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891B2"/>
                </a:solidFill>
                <a:latin typeface="Calibri"/>
                <a:cs typeface="Calibri"/>
              </a:rPr>
              <a:t>SHOW</a:t>
            </a:r>
            <a:r>
              <a:rPr lang="en-US" sz="1500" b="0" i="0" dirty="0">
                <a:solidFill>
                  <a:srgbClr val="0F2A2E"/>
                </a:solidFill>
                <a:latin typeface="Calibri"/>
                <a:cs typeface="Calibri"/>
              </a:rPr>
              <a:t> the clock, date and medicine times</a:t>
            </a:r>
          </a:p>
        </p:txBody>
      </p:sp>
      <p:sp>
        <p:nvSpPr>
          <p:cNvPr id="132" name="Line No"/>
          <p:cNvSpPr txBox="1"/>
          <p:nvPr/>
        </p:nvSpPr>
        <p:spPr>
          <a:xfrm>
            <a:off x="777240" y="5815584"/>
            <a:ext cx="365760" cy="329184"/>
          </a:xfrm>
          <a:prstGeom prst="rect">
            <a:avLst/>
          </a:prstGeom>
          <a:noFill/>
          <a:ln>
            <a:noFill/>
          </a:ln>
        </p:spPr>
        <p:txBody>
          <a:bodyPr wrap="square" lIns="0" tIns="0" rIns="0" bIns="0" rtlCol="0" anchor="ctr">
            <a:normAutofit/>
          </a:bodyPr>
          <a:lstStyle/>
          <a:p>
            <a:pPr algn="r">
              <a:spcBef>
                <a:spcPts val="0"/>
              </a:spcBef>
              <a:spcAft>
                <a:spcPts val="0"/>
              </a:spcAft>
              <a:buNone/>
            </a:pPr>
            <a:r>
              <a:rPr lang="en-US" sz="1200" b="0" i="0" dirty="0">
                <a:solidFill>
                  <a:srgbClr val="94A3B8"/>
                </a:solidFill>
                <a:latin typeface="Calibri"/>
                <a:cs typeface="Calibri"/>
              </a:rPr>
              <a:t>14</a:t>
            </a:r>
          </a:p>
        </p:txBody>
      </p:sp>
      <p:sp>
        <p:nvSpPr>
          <p:cNvPr id="133" name="Line"/>
          <p:cNvSpPr txBox="1"/>
          <p:nvPr/>
        </p:nvSpPr>
        <p:spPr>
          <a:xfrm>
            <a:off x="1280160" y="5815584"/>
            <a:ext cx="6492240" cy="329184"/>
          </a:xfrm>
          <a:prstGeom prst="rect">
            <a:avLst/>
          </a:prstGeom>
          <a:noFill/>
          <a:ln>
            <a:noFill/>
          </a:ln>
        </p:spPr>
        <p:txBody>
          <a:bodyPr wrap="square" lIns="0" tIns="0" rIns="0" bIns="0" rtlCol="0" anchor="ctr">
            <a:normAutofit/>
          </a:bodyPr>
          <a:lstStyle/>
          <a:p>
            <a:pPr algn="l">
              <a:spcBef>
                <a:spcPts val="0"/>
              </a:spcBef>
              <a:spcAft>
                <a:spcPts val="0"/>
              </a:spcAft>
              <a:buNone/>
            </a:pPr>
            <a:r>
              <a:rPr lang="en-US" sz="1500" b="1" i="0" dirty="0">
                <a:solidFill>
                  <a:srgbClr val="0891B2"/>
                </a:solidFill>
                <a:latin typeface="Calibri"/>
                <a:cs typeface="Calibri"/>
              </a:rPr>
              <a:t>END REPEAT</a:t>
            </a:r>
          </a:p>
        </p:txBody>
      </p:sp>
      <p:sp>
        <p:nvSpPr>
          <p:cNvPr id="134" name="Card"/>
          <p:cNvSpPr/>
          <p:nvPr/>
        </p:nvSpPr>
        <p:spPr>
          <a:xfrm>
            <a:off x="8092440" y="1371600"/>
            <a:ext cx="3547872" cy="1106424"/>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35" name="Badge"/>
          <p:cNvSpPr/>
          <p:nvPr/>
        </p:nvSpPr>
        <p:spPr>
          <a:xfrm>
            <a:off x="8275320" y="1554480"/>
            <a:ext cx="384048" cy="384048"/>
          </a:xfrm>
          <a:prstGeom prst="ellipse">
            <a:avLst/>
          </a:prstGeom>
          <a:solidFill>
            <a:srgbClr val="0F766E"/>
          </a:solidFill>
          <a:ln>
            <a:noFill/>
          </a:ln>
        </p:spPr>
        <p:txBody>
          <a:bodyPr wrap="square" lIns="0" tIns="0" rIns="0" bIns="0" rtlCol="0" anchor="ctr">
            <a:normAutofit/>
          </a:bodyPr>
          <a:lstStyle/>
          <a:p>
            <a:pPr algn="ctr">
              <a:spcBef>
                <a:spcPts val="0"/>
              </a:spcBef>
              <a:spcAft>
                <a:spcPts val="0"/>
              </a:spcAft>
              <a:buNone/>
            </a:pPr>
            <a:r>
              <a:rPr lang="en-US" sz="1300" b="1" i="0" dirty="0">
                <a:solidFill>
                  <a:srgbClr val="FFFFFF"/>
                </a:solidFill>
                <a:latin typeface="Calibri"/>
                <a:cs typeface="Calibri"/>
              </a:rPr>
              <a:t>1</a:t>
            </a:r>
          </a:p>
        </p:txBody>
      </p:sp>
      <p:sp>
        <p:nvSpPr>
          <p:cNvPr id="136" name="Step Title"/>
          <p:cNvSpPr txBox="1"/>
          <p:nvPr/>
        </p:nvSpPr>
        <p:spPr>
          <a:xfrm>
            <a:off x="8778240" y="1508760"/>
            <a:ext cx="2743200" cy="475488"/>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0F766E"/>
                </a:solidFill>
                <a:latin typeface="Cambria"/>
                <a:cs typeface="Cambria"/>
              </a:rPr>
              <a:t>Setup</a:t>
            </a:r>
          </a:p>
        </p:txBody>
      </p:sp>
      <p:sp>
        <p:nvSpPr>
          <p:cNvPr id="137" name="Step Body"/>
          <p:cNvSpPr txBox="1"/>
          <p:nvPr/>
        </p:nvSpPr>
        <p:spPr>
          <a:xfrm>
            <a:off x="8275320" y="1993392"/>
            <a:ext cx="3246120" cy="45720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Starts all parts and loads the saved medicine times.</a:t>
            </a:r>
          </a:p>
        </p:txBody>
      </p:sp>
      <p:sp>
        <p:nvSpPr>
          <p:cNvPr id="138" name="Card"/>
          <p:cNvSpPr/>
          <p:nvPr/>
        </p:nvSpPr>
        <p:spPr>
          <a:xfrm>
            <a:off x="8092440" y="2624328"/>
            <a:ext cx="3547872" cy="1106424"/>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39" name="Badge"/>
          <p:cNvSpPr/>
          <p:nvPr/>
        </p:nvSpPr>
        <p:spPr>
          <a:xfrm>
            <a:off x="8275320" y="2807208"/>
            <a:ext cx="384048" cy="384048"/>
          </a:xfrm>
          <a:prstGeom prst="ellipse">
            <a:avLst/>
          </a:prstGeom>
          <a:solidFill>
            <a:srgbClr val="E11D48"/>
          </a:solidFill>
          <a:ln>
            <a:noFill/>
          </a:ln>
        </p:spPr>
        <p:txBody>
          <a:bodyPr wrap="square" lIns="0" tIns="0" rIns="0" bIns="0" rtlCol="0" anchor="ctr">
            <a:normAutofit/>
          </a:bodyPr>
          <a:lstStyle/>
          <a:p>
            <a:pPr algn="ctr">
              <a:spcBef>
                <a:spcPts val="0"/>
              </a:spcBef>
              <a:spcAft>
                <a:spcPts val="0"/>
              </a:spcAft>
              <a:buNone/>
            </a:pPr>
            <a:r>
              <a:rPr lang="en-US" sz="1300" b="1" i="0" dirty="0">
                <a:solidFill>
                  <a:srgbClr val="FFFFFF"/>
                </a:solidFill>
                <a:latin typeface="Calibri"/>
                <a:cs typeface="Calibri"/>
              </a:rPr>
              <a:t>2</a:t>
            </a:r>
          </a:p>
        </p:txBody>
      </p:sp>
      <p:sp>
        <p:nvSpPr>
          <p:cNvPr id="140" name="Step Title"/>
          <p:cNvSpPr txBox="1"/>
          <p:nvPr/>
        </p:nvSpPr>
        <p:spPr>
          <a:xfrm>
            <a:off x="8778240" y="2761488"/>
            <a:ext cx="2743200" cy="475488"/>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E11D48"/>
                </a:solidFill>
                <a:latin typeface="Cambria"/>
                <a:cs typeface="Cambria"/>
              </a:rPr>
              <a:t>Gas safety</a:t>
            </a:r>
          </a:p>
        </p:txBody>
      </p:sp>
      <p:sp>
        <p:nvSpPr>
          <p:cNvPr id="141" name="Step Body"/>
          <p:cNvSpPr txBox="1"/>
          <p:nvPr/>
        </p:nvSpPr>
        <p:spPr>
          <a:xfrm>
            <a:off x="8275320" y="3246120"/>
            <a:ext cx="3246120" cy="45720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If gas is above the safe level, it warns and alerts the caregiver.</a:t>
            </a:r>
          </a:p>
        </p:txBody>
      </p:sp>
      <p:sp>
        <p:nvSpPr>
          <p:cNvPr id="142" name="Card"/>
          <p:cNvSpPr/>
          <p:nvPr/>
        </p:nvSpPr>
        <p:spPr>
          <a:xfrm>
            <a:off x="8092440" y="3877056"/>
            <a:ext cx="3547872" cy="1106424"/>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43" name="Badge"/>
          <p:cNvSpPr/>
          <p:nvPr/>
        </p:nvSpPr>
        <p:spPr>
          <a:xfrm>
            <a:off x="8275320" y="4059936"/>
            <a:ext cx="384048" cy="384048"/>
          </a:xfrm>
          <a:prstGeom prst="ellipse">
            <a:avLst/>
          </a:prstGeom>
          <a:solidFill>
            <a:srgbClr val="F97316"/>
          </a:solidFill>
          <a:ln>
            <a:noFill/>
          </a:ln>
        </p:spPr>
        <p:txBody>
          <a:bodyPr wrap="square" lIns="0" tIns="0" rIns="0" bIns="0" rtlCol="0" anchor="ctr">
            <a:normAutofit/>
          </a:bodyPr>
          <a:lstStyle/>
          <a:p>
            <a:pPr algn="ctr">
              <a:spcBef>
                <a:spcPts val="0"/>
              </a:spcBef>
              <a:spcAft>
                <a:spcPts val="0"/>
              </a:spcAft>
              <a:buNone/>
            </a:pPr>
            <a:r>
              <a:rPr lang="en-US" sz="1300" b="1" i="0" dirty="0">
                <a:solidFill>
                  <a:srgbClr val="FFFFFF"/>
                </a:solidFill>
                <a:latin typeface="Calibri"/>
                <a:cs typeface="Calibri"/>
              </a:rPr>
              <a:t>3</a:t>
            </a:r>
          </a:p>
        </p:txBody>
      </p:sp>
      <p:sp>
        <p:nvSpPr>
          <p:cNvPr id="144" name="Step Title"/>
          <p:cNvSpPr txBox="1"/>
          <p:nvPr/>
        </p:nvSpPr>
        <p:spPr>
          <a:xfrm>
            <a:off x="8778240" y="4014216"/>
            <a:ext cx="2743200" cy="475488"/>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F97316"/>
                </a:solidFill>
                <a:latin typeface="Cambria"/>
                <a:cs typeface="Cambria"/>
              </a:rPr>
              <a:t>Medicine reminder</a:t>
            </a:r>
          </a:p>
        </p:txBody>
      </p:sp>
      <p:sp>
        <p:nvSpPr>
          <p:cNvPr id="145" name="Step Body"/>
          <p:cNvSpPr txBox="1"/>
          <p:nvPr/>
        </p:nvSpPr>
        <p:spPr>
          <a:xfrm>
            <a:off x="8275320" y="4498848"/>
            <a:ext cx="3246120" cy="45720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At medicine time it keeps reminding until the user touches it.</a:t>
            </a:r>
          </a:p>
        </p:txBody>
      </p:sp>
      <p:sp>
        <p:nvSpPr>
          <p:cNvPr id="146" name="Card"/>
          <p:cNvSpPr/>
          <p:nvPr/>
        </p:nvSpPr>
        <p:spPr>
          <a:xfrm>
            <a:off x="8092440" y="5129784"/>
            <a:ext cx="3547872" cy="1106424"/>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47" name="Badge"/>
          <p:cNvSpPr/>
          <p:nvPr/>
        </p:nvSpPr>
        <p:spPr>
          <a:xfrm>
            <a:off x="8275320" y="5312664"/>
            <a:ext cx="384048" cy="384048"/>
          </a:xfrm>
          <a:prstGeom prst="ellipse">
            <a:avLst/>
          </a:prstGeom>
          <a:solidFill>
            <a:srgbClr val="0891B2"/>
          </a:solidFill>
          <a:ln>
            <a:noFill/>
          </a:ln>
        </p:spPr>
        <p:txBody>
          <a:bodyPr wrap="square" lIns="0" tIns="0" rIns="0" bIns="0" rtlCol="0" anchor="ctr">
            <a:normAutofit/>
          </a:bodyPr>
          <a:lstStyle/>
          <a:p>
            <a:pPr algn="ctr">
              <a:spcBef>
                <a:spcPts val="0"/>
              </a:spcBef>
              <a:spcAft>
                <a:spcPts val="0"/>
              </a:spcAft>
              <a:buNone/>
            </a:pPr>
            <a:r>
              <a:rPr lang="en-US" sz="1300" b="1" i="0" dirty="0">
                <a:solidFill>
                  <a:srgbClr val="FFFFFF"/>
                </a:solidFill>
                <a:latin typeface="Calibri"/>
                <a:cs typeface="Calibri"/>
              </a:rPr>
              <a:t>4</a:t>
            </a:r>
          </a:p>
        </p:txBody>
      </p:sp>
      <p:sp>
        <p:nvSpPr>
          <p:cNvPr id="148" name="Step Title"/>
          <p:cNvSpPr txBox="1"/>
          <p:nvPr/>
        </p:nvSpPr>
        <p:spPr>
          <a:xfrm>
            <a:off x="8778240" y="5266944"/>
            <a:ext cx="2743200" cy="475488"/>
          </a:xfrm>
          <a:prstGeom prst="rect">
            <a:avLst/>
          </a:prstGeom>
          <a:noFill/>
          <a:ln>
            <a:noFill/>
          </a:ln>
        </p:spPr>
        <p:txBody>
          <a:bodyPr wrap="square" lIns="0" tIns="0" rIns="0" bIns="0" rtlCol="0" anchor="ctr">
            <a:normAutofit/>
          </a:bodyPr>
          <a:lstStyle/>
          <a:p>
            <a:pPr algn="l">
              <a:spcBef>
                <a:spcPts val="0"/>
              </a:spcBef>
              <a:spcAft>
                <a:spcPts val="0"/>
              </a:spcAft>
              <a:buNone/>
            </a:pPr>
            <a:r>
              <a:rPr lang="en-US" sz="1600" b="1" i="0" dirty="0">
                <a:solidFill>
                  <a:srgbClr val="0891B2"/>
                </a:solidFill>
                <a:latin typeface="Cambria"/>
                <a:cs typeface="Cambria"/>
              </a:rPr>
              <a:t>Clock screen</a:t>
            </a:r>
          </a:p>
        </p:txBody>
      </p:sp>
      <p:sp>
        <p:nvSpPr>
          <p:cNvPr id="149" name="Step Body"/>
          <p:cNvSpPr txBox="1"/>
          <p:nvPr/>
        </p:nvSpPr>
        <p:spPr>
          <a:xfrm>
            <a:off x="8275320" y="5751576"/>
            <a:ext cx="3246120" cy="45720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Otherwise it shows the time, then checks everything again.</a:t>
            </a:r>
          </a:p>
        </p:txBody>
      </p:sp>
      <p:sp>
        <p:nvSpPr>
          <p:cNvPr id="150"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FROM PICOBOT.INO</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Code Snippets: 2 Core Logics</a:t>
            </a:r>
          </a:p>
        </p:txBody>
      </p:sp>
      <p:sp>
        <p:nvSpPr>
          <p:cNvPr id="103" name="Code Card"/>
          <p:cNvSpPr/>
          <p:nvPr/>
        </p:nvSpPr>
        <p:spPr>
          <a:xfrm>
            <a:off x="548640" y="1371600"/>
            <a:ext cx="5458968" cy="4160520"/>
          </a:xfrm>
          <a:prstGeom prst="roundRect">
            <a:avLst>
              <a:gd name="adj" fmla="val 4000"/>
            </a:avLst>
          </a:prstGeom>
          <a:solidFill>
            <a:srgbClr val="0B3B40"/>
          </a:solidFill>
          <a:ln>
            <a:no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Tag"/>
          <p:cNvSpPr/>
          <p:nvPr/>
        </p:nvSpPr>
        <p:spPr>
          <a:xfrm>
            <a:off x="822960" y="1572768"/>
            <a:ext cx="960120" cy="310896"/>
          </a:xfrm>
          <a:prstGeom prst="roundRect">
            <a:avLst>
              <a:gd name="adj" fmla="val 50000"/>
            </a:avLst>
          </a:prstGeom>
          <a:solidFill>
            <a:srgbClr val="F97316"/>
          </a:solidFill>
          <a:ln>
            <a:noFill/>
          </a:ln>
        </p:spPr>
        <p:txBody>
          <a:bodyPr wrap="square" lIns="0" tIns="0" rIns="0" bIns="0" rtlCol="0" anchor="ctr">
            <a:normAutofit/>
          </a:bodyPr>
          <a:lstStyle/>
          <a:p>
            <a:pPr algn="ctr">
              <a:spcBef>
                <a:spcPts val="0"/>
              </a:spcBef>
              <a:spcAft>
                <a:spcPts val="0"/>
              </a:spcAft>
              <a:buNone/>
            </a:pPr>
            <a:r>
              <a:rPr lang="en-US" sz="1150" b="1" i="0" dirty="0">
                <a:solidFill>
                  <a:srgbClr val="FFFFFF"/>
                </a:solidFill>
                <a:latin typeface="Calibri"/>
                <a:cs typeface="Calibri"/>
              </a:rPr>
              <a:t>Logic 1</a:t>
            </a:r>
          </a:p>
        </p:txBody>
      </p:sp>
      <p:sp>
        <p:nvSpPr>
          <p:cNvPr id="105" name="Logic Title"/>
          <p:cNvSpPr txBox="1"/>
          <p:nvPr/>
        </p:nvSpPr>
        <p:spPr>
          <a:xfrm>
            <a:off x="1920240" y="1536192"/>
            <a:ext cx="3904488" cy="384048"/>
          </a:xfrm>
          <a:prstGeom prst="rect">
            <a:avLst/>
          </a:prstGeom>
          <a:noFill/>
          <a:ln>
            <a:noFill/>
          </a:ln>
        </p:spPr>
        <p:txBody>
          <a:bodyPr wrap="square" lIns="0" tIns="0" rIns="0" bIns="0" rtlCol="0" anchor="ctr">
            <a:normAutofit/>
          </a:bodyPr>
          <a:lstStyle/>
          <a:p>
            <a:pPr algn="l">
              <a:spcBef>
                <a:spcPts val="0"/>
              </a:spcBef>
              <a:spcAft>
                <a:spcPts val="0"/>
              </a:spcAft>
              <a:buNone/>
            </a:pPr>
            <a:r>
              <a:rPr lang="en-US" sz="1700" b="1" i="0" dirty="0">
                <a:solidFill>
                  <a:srgbClr val="FFFFFF"/>
                </a:solidFill>
                <a:latin typeface="Cambria"/>
                <a:cs typeface="Cambria"/>
              </a:rPr>
              <a:t>Medicine Reminder</a:t>
            </a:r>
          </a:p>
        </p:txBody>
      </p:sp>
      <p:sp>
        <p:nvSpPr>
          <p:cNvPr id="106" name="Code"/>
          <p:cNvSpPr txBox="1"/>
          <p:nvPr/>
        </p:nvSpPr>
        <p:spPr>
          <a:xfrm>
            <a:off x="822960" y="2103120"/>
            <a:ext cx="5001768" cy="33375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50" b="0" i="1" dirty="0">
                <a:solidFill>
                  <a:srgbClr val="7DD3C8"/>
                </a:solidFill>
                <a:latin typeface="Courier New"/>
                <a:cs typeface="Courier New"/>
              </a:rPr>
              <a:t>// alarm time reached -&gt; start reminder</a:t>
            </a:r>
          </a:p>
          <a:p>
            <a:pPr algn="l">
              <a:lnSpc>
                <a:spcPct val="100000"/>
              </a:lnSpc>
              <a:spcBef>
                <a:spcPts val="0"/>
              </a:spcBef>
              <a:spcAft>
                <a:spcPts val="0"/>
              </a:spcAft>
              <a:buNone/>
            </a:pPr>
            <a:r>
              <a:rPr lang="en-US" sz="1350" b="0" i="0" dirty="0">
                <a:solidFill>
                  <a:srgbClr val="E2F3F1"/>
                </a:solidFill>
                <a:latin typeface="Courier New"/>
                <a:cs typeface="Courier New"/>
              </a:rPr>
              <a:t>if (now.hour == alarmHour[i] &amp;&amp;</a:t>
            </a:r>
          </a:p>
          <a:p>
            <a:pPr algn="l">
              <a:lnSpc>
                <a:spcPct val="100000"/>
              </a:lnSpc>
              <a:spcBef>
                <a:spcPts val="0"/>
              </a:spcBef>
              <a:spcAft>
                <a:spcPts val="0"/>
              </a:spcAft>
              <a:buNone/>
            </a:pPr>
            <a:r>
              <a:rPr lang="en-US" sz="1350" b="0" i="0" dirty="0">
                <a:solidFill>
                  <a:srgbClr val="E2F3F1"/>
                </a:solidFill>
                <a:latin typeface="Courier New"/>
                <a:cs typeface="Courier New"/>
              </a:rPr>
              <a:t>    now.min  == alarmMin[i]) {</a:t>
            </a:r>
          </a:p>
          <a:p>
            <a:pPr algn="l">
              <a:lnSpc>
                <a:spcPct val="100000"/>
              </a:lnSpc>
              <a:spcBef>
                <a:spcPts val="0"/>
              </a:spcBef>
              <a:spcAft>
                <a:spcPts val="0"/>
              </a:spcAft>
              <a:buNone/>
            </a:pPr>
            <a:r>
              <a:rPr lang="en-US" sz="1350" b="0" i="0" dirty="0">
                <a:solidFill>
                  <a:srgbClr val="E2F3F1"/>
                </a:solidFill>
                <a:latin typeface="Courier New"/>
                <a:cs typeface="Courier New"/>
              </a:rPr>
              <a:t>  screen = SCR_RINGING;      </a:t>
            </a:r>
            <a:r>
              <a:rPr lang="en-US" sz="1350" b="0" i="1" dirty="0">
                <a:solidFill>
                  <a:srgbClr val="7DD3C8"/>
                </a:solidFill>
                <a:latin typeface="Courier New"/>
                <a:cs typeface="Courier New"/>
              </a:rPr>
              <a:t>// alert face</a:t>
            </a:r>
          </a:p>
          <a:p>
            <a:pPr algn="l">
              <a:lnSpc>
                <a:spcPct val="100000"/>
              </a:lnSpc>
              <a:spcBef>
                <a:spcPts val="0"/>
              </a:spcBef>
              <a:spcAft>
                <a:spcPts val="0"/>
              </a:spcAft>
              <a:buNone/>
            </a:pPr>
            <a:r>
              <a:rPr lang="en-US" sz="1350" b="0" i="0" dirty="0">
                <a:solidFill>
                  <a:srgbClr val="E2F3F1"/>
                </a:solidFill>
                <a:latin typeface="Courier New"/>
                <a:cs typeface="Courier New"/>
              </a:rPr>
              <a:t>}</a:t>
            </a:r>
          </a:p>
          <a:p>
            <a:pPr algn="l">
              <a:lnSpc>
                <a:spcPct val="100000"/>
              </a:lnSpc>
              <a:spcBef>
                <a:spcPts val="0"/>
              </a:spcBef>
              <a:spcAft>
                <a:spcPts val="0"/>
              </a:spcAft>
              <a:buNone/>
            </a:pPr>
            <a:r>
              <a:rPr lang="en-US" sz="1350" b="0" i="0" dirty="0">
                <a:solidFill>
                  <a:srgbClr val="E2F3F1"/>
                </a:solidFill>
                <a:latin typeface="Courier New"/>
                <a:cs typeface="Courier New"/>
              </a:rPr>
              <a:t> </a:t>
            </a:r>
          </a:p>
          <a:p>
            <a:pPr algn="l">
              <a:lnSpc>
                <a:spcPct val="100000"/>
              </a:lnSpc>
              <a:spcBef>
                <a:spcPts val="0"/>
              </a:spcBef>
              <a:spcAft>
                <a:spcPts val="0"/>
              </a:spcAft>
              <a:buNone/>
            </a:pPr>
            <a:r>
              <a:rPr lang="en-US" sz="1350" b="0" i="0" dirty="0">
                <a:solidFill>
                  <a:srgbClr val="E2F3F1"/>
                </a:solidFill>
                <a:latin typeface="Courier New"/>
                <a:cs typeface="Courier New"/>
              </a:rPr>
              <a:t>case SCR_RINGING:</a:t>
            </a:r>
          </a:p>
          <a:p>
            <a:pPr algn="l">
              <a:lnSpc>
                <a:spcPct val="100000"/>
              </a:lnSpc>
              <a:spcBef>
                <a:spcPts val="0"/>
              </a:spcBef>
              <a:spcAft>
                <a:spcPts val="0"/>
              </a:spcAft>
              <a:buNone/>
            </a:pPr>
            <a:r>
              <a:rPr lang="en-US" sz="1350" b="0" i="0" dirty="0">
                <a:solidFill>
                  <a:srgbClr val="E2F3F1"/>
                </a:solidFill>
                <a:latin typeface="Courier New"/>
                <a:cs typeface="Courier New"/>
              </a:rPr>
              <a:t>  if (digitalRead(PIN_TOUCH) == HIGH) {</a:t>
            </a:r>
          </a:p>
          <a:p>
            <a:pPr algn="l">
              <a:lnSpc>
                <a:spcPct val="100000"/>
              </a:lnSpc>
              <a:spcBef>
                <a:spcPts val="0"/>
              </a:spcBef>
              <a:spcAft>
                <a:spcPts val="0"/>
              </a:spcAft>
              <a:buNone/>
            </a:pPr>
            <a:r>
              <a:rPr lang="en-US" sz="1350" b="0" i="0" dirty="0">
                <a:solidFill>
                  <a:srgbClr val="E2F3F1"/>
                </a:solidFill>
                <a:latin typeface="Courier New"/>
                <a:cs typeface="Courier New"/>
              </a:rPr>
              <a:t>    screen = SCR_HAPPY;      </a:t>
            </a:r>
            <a:r>
              <a:rPr lang="en-US" sz="1350" b="0" i="1" dirty="0">
                <a:solidFill>
                  <a:srgbClr val="7DD3C8"/>
                </a:solidFill>
                <a:latin typeface="Courier New"/>
                <a:cs typeface="Courier New"/>
              </a:rPr>
              <a:t>// "thank you"</a:t>
            </a:r>
          </a:p>
          <a:p>
            <a:pPr algn="l">
              <a:lnSpc>
                <a:spcPct val="100000"/>
              </a:lnSpc>
              <a:spcBef>
                <a:spcPts val="0"/>
              </a:spcBef>
              <a:spcAft>
                <a:spcPts val="0"/>
              </a:spcAft>
              <a:buNone/>
            </a:pPr>
            <a:r>
              <a:rPr lang="en-US" sz="1350" b="0" i="0" dirty="0">
                <a:solidFill>
                  <a:srgbClr val="E2F3F1"/>
                </a:solidFill>
                <a:latin typeface="Courier New"/>
                <a:cs typeface="Courier New"/>
              </a:rPr>
              <a:t>  } else if (ms &gt;= nextReminderAt) {</a:t>
            </a:r>
          </a:p>
          <a:p>
            <a:pPr algn="l">
              <a:lnSpc>
                <a:spcPct val="100000"/>
              </a:lnSpc>
              <a:spcBef>
                <a:spcPts val="0"/>
              </a:spcBef>
              <a:spcAft>
                <a:spcPts val="0"/>
              </a:spcAft>
              <a:buNone/>
            </a:pPr>
            <a:r>
              <a:rPr lang="en-US" sz="1350" b="0" i="0" dirty="0">
                <a:solidFill>
                  <a:srgbClr val="E2F3F1"/>
                </a:solidFill>
                <a:latin typeface="Courier New"/>
                <a:cs typeface="Courier New"/>
              </a:rPr>
              <a:t>    playBuf(clipBuf, clipLen); </a:t>
            </a:r>
            <a:r>
              <a:rPr lang="en-US" sz="1350" b="0" i="1" dirty="0">
                <a:solidFill>
                  <a:srgbClr val="7DD3C8"/>
                </a:solidFill>
                <a:latin typeface="Courier New"/>
                <a:cs typeface="Courier New"/>
              </a:rPr>
              <a:t>// reminder</a:t>
            </a:r>
          </a:p>
          <a:p>
            <a:pPr algn="l">
              <a:lnSpc>
                <a:spcPct val="100000"/>
              </a:lnSpc>
              <a:spcBef>
                <a:spcPts val="0"/>
              </a:spcBef>
              <a:spcAft>
                <a:spcPts val="0"/>
              </a:spcAft>
              <a:buNone/>
            </a:pPr>
            <a:r>
              <a:rPr lang="en-US" sz="1350" b="0" i="0" dirty="0">
                <a:solidFill>
                  <a:srgbClr val="E2F3F1"/>
                </a:solidFill>
                <a:latin typeface="Courier New"/>
                <a:cs typeface="Courier New"/>
              </a:rPr>
              <a:t>    nextReminderAt = millis() + 4000;</a:t>
            </a:r>
          </a:p>
          <a:p>
            <a:pPr algn="l">
              <a:lnSpc>
                <a:spcPct val="100000"/>
              </a:lnSpc>
              <a:spcBef>
                <a:spcPts val="0"/>
              </a:spcBef>
              <a:spcAft>
                <a:spcPts val="0"/>
              </a:spcAft>
              <a:buNone/>
            </a:pPr>
            <a:r>
              <a:rPr lang="en-US" sz="1350" b="0" i="0" dirty="0">
                <a:solidFill>
                  <a:srgbClr val="E2F3F1"/>
                </a:solidFill>
                <a:latin typeface="Courier New"/>
                <a:cs typeface="Courier New"/>
              </a:rPr>
              <a:t>  }</a:t>
            </a:r>
          </a:p>
        </p:txBody>
      </p:sp>
      <p:sp>
        <p:nvSpPr>
          <p:cNvPr id="107" name="Card"/>
          <p:cNvSpPr/>
          <p:nvPr/>
        </p:nvSpPr>
        <p:spPr>
          <a:xfrm>
            <a:off x="548640" y="5669280"/>
            <a:ext cx="5458968" cy="566928"/>
          </a:xfrm>
          <a:prstGeom prst="roundRect">
            <a:avLst>
              <a:gd name="adj" fmla="val 6000"/>
            </a:avLst>
          </a:prstGeom>
          <a:solidFill>
            <a:srgbClr val="E6F4F2"/>
          </a:solidFill>
          <a:ln w="12700">
            <a:solidFill>
              <a:srgbClr val="BFE3DF"/>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8" name="Caption"/>
          <p:cNvSpPr txBox="1"/>
          <p:nvPr/>
        </p:nvSpPr>
        <p:spPr>
          <a:xfrm>
            <a:off x="822960" y="5669280"/>
            <a:ext cx="5001768" cy="566928"/>
          </a:xfrm>
          <a:prstGeom prst="rect">
            <a:avLst/>
          </a:prstGeom>
          <a:noFill/>
          <a:ln>
            <a:noFill/>
          </a:ln>
        </p:spPr>
        <p:txBody>
          <a:bodyPr wrap="square" lIns="0" tIns="0" rIns="0" bIns="0" rtlCol="0" anchor="ctr">
            <a:normAutofit/>
          </a:bodyPr>
          <a:lstStyle/>
          <a:p>
            <a:pPr algn="l">
              <a:spcBef>
                <a:spcPts val="0"/>
              </a:spcBef>
              <a:spcAft>
                <a:spcPts val="0"/>
              </a:spcAft>
              <a:buNone/>
            </a:pPr>
            <a:r>
              <a:rPr lang="en-US" sz="1350" b="0" i="0" dirty="0">
                <a:solidFill>
                  <a:srgbClr val="0F2A2E"/>
                </a:solidFill>
                <a:latin typeface="Calibri"/>
                <a:cs typeface="Calibri"/>
              </a:rPr>
              <a:t>Repeats the voice reminder every 4 s until the user touches the sensor.</a:t>
            </a:r>
          </a:p>
        </p:txBody>
      </p:sp>
      <p:sp>
        <p:nvSpPr>
          <p:cNvPr id="109" name="Code Card"/>
          <p:cNvSpPr/>
          <p:nvPr/>
        </p:nvSpPr>
        <p:spPr>
          <a:xfrm>
            <a:off x="6181344" y="1371600"/>
            <a:ext cx="5458968" cy="4160520"/>
          </a:xfrm>
          <a:prstGeom prst="roundRect">
            <a:avLst>
              <a:gd name="adj" fmla="val 4000"/>
            </a:avLst>
          </a:prstGeom>
          <a:solidFill>
            <a:srgbClr val="0B3B40"/>
          </a:solidFill>
          <a:ln>
            <a:no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0" name="Tag"/>
          <p:cNvSpPr/>
          <p:nvPr/>
        </p:nvSpPr>
        <p:spPr>
          <a:xfrm>
            <a:off x="6455664" y="1572768"/>
            <a:ext cx="960120" cy="310896"/>
          </a:xfrm>
          <a:prstGeom prst="roundRect">
            <a:avLst>
              <a:gd name="adj" fmla="val 50000"/>
            </a:avLst>
          </a:prstGeom>
          <a:solidFill>
            <a:srgbClr val="E11D48"/>
          </a:solidFill>
          <a:ln>
            <a:noFill/>
          </a:ln>
        </p:spPr>
        <p:txBody>
          <a:bodyPr wrap="square" lIns="0" tIns="0" rIns="0" bIns="0" rtlCol="0" anchor="ctr">
            <a:normAutofit/>
          </a:bodyPr>
          <a:lstStyle/>
          <a:p>
            <a:pPr algn="ctr">
              <a:spcBef>
                <a:spcPts val="0"/>
              </a:spcBef>
              <a:spcAft>
                <a:spcPts val="0"/>
              </a:spcAft>
              <a:buNone/>
            </a:pPr>
            <a:r>
              <a:rPr lang="en-US" sz="1150" b="1" i="0" dirty="0">
                <a:solidFill>
                  <a:srgbClr val="FFFFFF"/>
                </a:solidFill>
                <a:latin typeface="Calibri"/>
                <a:cs typeface="Calibri"/>
              </a:rPr>
              <a:t>Logic 2</a:t>
            </a:r>
          </a:p>
        </p:txBody>
      </p:sp>
      <p:sp>
        <p:nvSpPr>
          <p:cNvPr id="111" name="Logic Title"/>
          <p:cNvSpPr txBox="1"/>
          <p:nvPr/>
        </p:nvSpPr>
        <p:spPr>
          <a:xfrm>
            <a:off x="7552944" y="1536192"/>
            <a:ext cx="3904488" cy="384048"/>
          </a:xfrm>
          <a:prstGeom prst="rect">
            <a:avLst/>
          </a:prstGeom>
          <a:noFill/>
          <a:ln>
            <a:noFill/>
          </a:ln>
        </p:spPr>
        <p:txBody>
          <a:bodyPr wrap="square" lIns="0" tIns="0" rIns="0" bIns="0" rtlCol="0" anchor="ctr">
            <a:normAutofit/>
          </a:bodyPr>
          <a:lstStyle/>
          <a:p>
            <a:pPr algn="l">
              <a:spcBef>
                <a:spcPts val="0"/>
              </a:spcBef>
              <a:spcAft>
                <a:spcPts val="0"/>
              </a:spcAft>
              <a:buNone/>
            </a:pPr>
            <a:r>
              <a:rPr lang="en-US" sz="1700" b="1" i="0" dirty="0">
                <a:solidFill>
                  <a:srgbClr val="FFFFFF"/>
                </a:solidFill>
                <a:latin typeface="Cambria"/>
                <a:cs typeface="Cambria"/>
              </a:rPr>
              <a:t>Gas Detection &amp; Alert</a:t>
            </a:r>
          </a:p>
        </p:txBody>
      </p:sp>
      <p:sp>
        <p:nvSpPr>
          <p:cNvPr id="112" name="Code"/>
          <p:cNvSpPr txBox="1"/>
          <p:nvPr/>
        </p:nvSpPr>
        <p:spPr>
          <a:xfrm>
            <a:off x="6455664" y="2103120"/>
            <a:ext cx="5001768" cy="33375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50" b="0" i="0" dirty="0">
                <a:solidFill>
                  <a:srgbClr val="E2F3F1"/>
                </a:solidFill>
                <a:latin typeface="Courier New"/>
                <a:cs typeface="Courier New"/>
              </a:rPr>
              <a:t>int gasRaw = analogRead(PIN_MQ2);</a:t>
            </a:r>
          </a:p>
          <a:p>
            <a:pPr algn="l">
              <a:lnSpc>
                <a:spcPct val="100000"/>
              </a:lnSpc>
              <a:spcBef>
                <a:spcPts val="0"/>
              </a:spcBef>
              <a:spcAft>
                <a:spcPts val="0"/>
              </a:spcAft>
              <a:buNone/>
            </a:pPr>
            <a:r>
              <a:rPr lang="en-US" sz="1350" b="0" i="0" dirty="0">
                <a:solidFill>
                  <a:srgbClr val="E2F3F1"/>
                </a:solidFill>
                <a:latin typeface="Courier New"/>
                <a:cs typeface="Courier New"/>
              </a:rPr>
              <a:t> </a:t>
            </a:r>
          </a:p>
          <a:p>
            <a:pPr algn="l">
              <a:lnSpc>
                <a:spcPct val="100000"/>
              </a:lnSpc>
              <a:spcBef>
                <a:spcPts val="0"/>
              </a:spcBef>
              <a:spcAft>
                <a:spcPts val="0"/>
              </a:spcAft>
              <a:buNone/>
            </a:pPr>
            <a:r>
              <a:rPr lang="en-US" sz="1350" b="0" i="0" dirty="0">
                <a:solidFill>
                  <a:srgbClr val="E2F3F1"/>
                </a:solidFill>
                <a:latin typeface="Courier New"/>
                <a:cs typeface="Courier New"/>
              </a:rPr>
              <a:t>if (gasRaw &gt; GAS_THRESHOLD) {   </a:t>
            </a:r>
            <a:r>
              <a:rPr lang="en-US" sz="1350" b="0" i="1" dirty="0">
                <a:solidFill>
                  <a:srgbClr val="7DD3C8"/>
                </a:solidFill>
                <a:latin typeface="Courier New"/>
                <a:cs typeface="Courier New"/>
              </a:rPr>
              <a:t>// &gt; 800</a:t>
            </a:r>
          </a:p>
          <a:p>
            <a:pPr algn="l">
              <a:lnSpc>
                <a:spcPct val="100000"/>
              </a:lnSpc>
              <a:spcBef>
                <a:spcPts val="0"/>
              </a:spcBef>
              <a:spcAft>
                <a:spcPts val="0"/>
              </a:spcAft>
              <a:buNone/>
            </a:pPr>
            <a:r>
              <a:rPr lang="en-US" sz="1350" b="0" i="0" dirty="0">
                <a:solidFill>
                  <a:srgbClr val="E2F3F1"/>
                </a:solidFill>
                <a:latin typeface="Courier New"/>
                <a:cs typeface="Courier New"/>
              </a:rPr>
              <a:t>  gasWarning = true;</a:t>
            </a:r>
          </a:p>
          <a:p>
            <a:pPr algn="l">
              <a:lnSpc>
                <a:spcPct val="100000"/>
              </a:lnSpc>
              <a:spcBef>
                <a:spcPts val="0"/>
              </a:spcBef>
              <a:spcAft>
                <a:spcPts val="0"/>
              </a:spcAft>
              <a:buNone/>
            </a:pPr>
            <a:r>
              <a:rPr lang="en-US" sz="1350" b="0" i="0" dirty="0">
                <a:solidFill>
                  <a:srgbClr val="E2F3F1"/>
                </a:solidFill>
                <a:latin typeface="Courier New"/>
                <a:cs typeface="Courier New"/>
              </a:rPr>
              <a:t>  screen = SCR_GAS_WARNING;     </a:t>
            </a:r>
            <a:r>
              <a:rPr lang="en-US" sz="1350" b="0" i="1" dirty="0">
                <a:solidFill>
                  <a:srgbClr val="7DD3C8"/>
                </a:solidFill>
                <a:latin typeface="Courier New"/>
                <a:cs typeface="Courier New"/>
              </a:rPr>
              <a:t>// alert</a:t>
            </a:r>
          </a:p>
          <a:p>
            <a:pPr algn="l">
              <a:lnSpc>
                <a:spcPct val="100000"/>
              </a:lnSpc>
              <a:spcBef>
                <a:spcPts val="0"/>
              </a:spcBef>
              <a:spcAft>
                <a:spcPts val="0"/>
              </a:spcAft>
              <a:buNone/>
            </a:pPr>
            <a:r>
              <a:rPr lang="en-US" sz="1350" b="0" i="0" dirty="0">
                <a:solidFill>
                  <a:srgbClr val="E2F3F1"/>
                </a:solidFill>
                <a:latin typeface="Courier New"/>
                <a:cs typeface="Courier New"/>
              </a:rPr>
              <a:t>  if (millis() - lastEmergencyAt</a:t>
            </a:r>
          </a:p>
          <a:p>
            <a:pPr algn="l">
              <a:lnSpc>
                <a:spcPct val="100000"/>
              </a:lnSpc>
              <a:spcBef>
                <a:spcPts val="0"/>
              </a:spcBef>
              <a:spcAft>
                <a:spcPts val="0"/>
              </a:spcAft>
              <a:buNone/>
            </a:pPr>
            <a:r>
              <a:rPr lang="en-US" sz="1350" b="0" i="0" dirty="0">
                <a:solidFill>
                  <a:srgbClr val="E2F3F1"/>
                </a:solidFill>
                <a:latin typeface="Courier New"/>
                <a:cs typeface="Courier New"/>
              </a:rPr>
              <a:t>        &gt;= GAS_CALL_COOLDOWN_MS) {</a:t>
            </a:r>
          </a:p>
          <a:p>
            <a:pPr algn="l">
              <a:lnSpc>
                <a:spcPct val="100000"/>
              </a:lnSpc>
              <a:spcBef>
                <a:spcPts val="0"/>
              </a:spcBef>
              <a:spcAft>
                <a:spcPts val="0"/>
              </a:spcAft>
              <a:buNone/>
            </a:pPr>
            <a:r>
              <a:rPr lang="en-US" sz="1350" b="0" i="0" dirty="0">
                <a:solidFill>
                  <a:srgbClr val="E2F3F1"/>
                </a:solidFill>
                <a:latin typeface="Courier New"/>
                <a:cs typeface="Courier New"/>
              </a:rPr>
              <a:t>    sendEmergencySMS();         </a:t>
            </a:r>
            <a:r>
              <a:rPr lang="en-US" sz="1350" b="0" i="1" dirty="0">
                <a:solidFill>
                  <a:srgbClr val="7DD3C8"/>
                </a:solidFill>
                <a:latin typeface="Courier New"/>
                <a:cs typeface="Courier New"/>
              </a:rPr>
              <a:t>// caregiver</a:t>
            </a:r>
          </a:p>
          <a:p>
            <a:pPr algn="l">
              <a:lnSpc>
                <a:spcPct val="100000"/>
              </a:lnSpc>
              <a:spcBef>
                <a:spcPts val="0"/>
              </a:spcBef>
              <a:spcAft>
                <a:spcPts val="0"/>
              </a:spcAft>
              <a:buNone/>
            </a:pPr>
            <a:r>
              <a:rPr lang="en-US" sz="1350" b="0" i="0" dirty="0">
                <a:solidFill>
                  <a:srgbClr val="E2F3F1"/>
                </a:solidFill>
                <a:latin typeface="Courier New"/>
                <a:cs typeface="Courier New"/>
              </a:rPr>
              <a:t>    placeEmergencyCall();</a:t>
            </a:r>
          </a:p>
          <a:p>
            <a:pPr algn="l">
              <a:lnSpc>
                <a:spcPct val="100000"/>
              </a:lnSpc>
              <a:spcBef>
                <a:spcPts val="0"/>
              </a:spcBef>
              <a:spcAft>
                <a:spcPts val="0"/>
              </a:spcAft>
              <a:buNone/>
            </a:pPr>
            <a:r>
              <a:rPr lang="en-US" sz="1350" b="0" i="0" dirty="0">
                <a:solidFill>
                  <a:srgbClr val="E2F3F1"/>
                </a:solidFill>
                <a:latin typeface="Courier New"/>
                <a:cs typeface="Courier New"/>
              </a:rPr>
              <a:t>    lastEmergencyAt = millis(); </a:t>
            </a:r>
            <a:r>
              <a:rPr lang="en-US" sz="1350" b="0" i="1" dirty="0">
                <a:solidFill>
                  <a:srgbClr val="7DD3C8"/>
                </a:solidFill>
                <a:latin typeface="Courier New"/>
                <a:cs typeface="Courier New"/>
              </a:rPr>
              <a:t>// 5 min</a:t>
            </a:r>
          </a:p>
          <a:p>
            <a:pPr algn="l">
              <a:lnSpc>
                <a:spcPct val="100000"/>
              </a:lnSpc>
              <a:spcBef>
                <a:spcPts val="0"/>
              </a:spcBef>
              <a:spcAft>
                <a:spcPts val="0"/>
              </a:spcAft>
              <a:buNone/>
            </a:pPr>
            <a:r>
              <a:rPr lang="en-US" sz="1350" b="0" i="0" dirty="0">
                <a:solidFill>
                  <a:srgbClr val="E2F3F1"/>
                </a:solidFill>
                <a:latin typeface="Courier New"/>
                <a:cs typeface="Courier New"/>
              </a:rPr>
              <a:t>  }</a:t>
            </a:r>
          </a:p>
          <a:p>
            <a:pPr algn="l">
              <a:lnSpc>
                <a:spcPct val="100000"/>
              </a:lnSpc>
              <a:spcBef>
                <a:spcPts val="0"/>
              </a:spcBef>
              <a:spcAft>
                <a:spcPts val="0"/>
              </a:spcAft>
              <a:buNone/>
            </a:pPr>
            <a:r>
              <a:rPr lang="en-US" sz="1350" b="0" i="0" dirty="0">
                <a:solidFill>
                  <a:srgbClr val="E2F3F1"/>
                </a:solidFill>
                <a:latin typeface="Courier New"/>
                <a:cs typeface="Courier New"/>
              </a:rPr>
              <a:t>}</a:t>
            </a:r>
          </a:p>
        </p:txBody>
      </p:sp>
      <p:sp>
        <p:nvSpPr>
          <p:cNvPr id="113" name="Card"/>
          <p:cNvSpPr/>
          <p:nvPr/>
        </p:nvSpPr>
        <p:spPr>
          <a:xfrm>
            <a:off x="6181344" y="5669280"/>
            <a:ext cx="5458968" cy="566928"/>
          </a:xfrm>
          <a:prstGeom prst="roundRect">
            <a:avLst>
              <a:gd name="adj" fmla="val 6000"/>
            </a:avLst>
          </a:prstGeom>
          <a:solidFill>
            <a:srgbClr val="E6F4F2"/>
          </a:solidFill>
          <a:ln w="12700">
            <a:solidFill>
              <a:srgbClr val="BFE3DF"/>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4" name="Caption"/>
          <p:cNvSpPr txBox="1"/>
          <p:nvPr/>
        </p:nvSpPr>
        <p:spPr>
          <a:xfrm>
            <a:off x="6455664" y="5669280"/>
            <a:ext cx="5001768" cy="566928"/>
          </a:xfrm>
          <a:prstGeom prst="rect">
            <a:avLst/>
          </a:prstGeom>
          <a:noFill/>
          <a:ln>
            <a:noFill/>
          </a:ln>
        </p:spPr>
        <p:txBody>
          <a:bodyPr wrap="square" lIns="0" tIns="0" rIns="0" bIns="0" rtlCol="0" anchor="ctr">
            <a:normAutofit/>
          </a:bodyPr>
          <a:lstStyle/>
          <a:p>
            <a:pPr algn="l">
              <a:spcBef>
                <a:spcPts val="0"/>
              </a:spcBef>
              <a:spcAft>
                <a:spcPts val="0"/>
              </a:spcAft>
              <a:buNone/>
            </a:pPr>
            <a:r>
              <a:rPr lang="en-US" sz="1350" b="0" i="0" dirty="0">
                <a:solidFill>
                  <a:srgbClr val="0F2A2E"/>
                </a:solidFill>
                <a:latin typeface="Calibri"/>
                <a:cs typeface="Calibri"/>
              </a:rPr>
              <a:t>Gas above 800 shows an alert and texts + calls the caregiver.</a:t>
            </a:r>
          </a:p>
        </p:txBody>
      </p:sp>
      <p:sp>
        <p:nvSpPr>
          <p:cNvPr id="115"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USER SURVEY · PART 1 OF 2</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Performance Analysis</a:t>
            </a:r>
          </a:p>
        </p:txBody>
      </p:sp>
      <p:sp>
        <p:nvSpPr>
          <p:cNvPr id="103" name="Card"/>
          <p:cNvSpPr/>
          <p:nvPr/>
        </p:nvSpPr>
        <p:spPr>
          <a:xfrm>
            <a:off x="548640" y="1371600"/>
            <a:ext cx="5431536" cy="484632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Q label"/>
          <p:cNvSpPr txBox="1"/>
          <p:nvPr/>
        </p:nvSpPr>
        <p:spPr>
          <a:xfrm>
            <a:off x="777240" y="1508760"/>
            <a:ext cx="4974336"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150" b="1" i="0" dirty="0">
                <a:solidFill>
                  <a:srgbClr val="0F766E"/>
                </a:solidFill>
                <a:latin typeface="Calibri"/>
                <a:cs typeface="Calibri"/>
              </a:rPr>
              <a:t>Q1 · RESPONDENTS</a:t>
            </a:r>
          </a:p>
        </p:txBody>
      </p:sp>
      <p:sp>
        <p:nvSpPr>
          <p:cNvPr id="105" name="Question"/>
          <p:cNvSpPr txBox="1"/>
          <p:nvPr/>
        </p:nvSpPr>
        <p:spPr>
          <a:xfrm>
            <a:off x="777240" y="1810512"/>
            <a:ext cx="4974336" cy="77724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500" b="1" i="0" dirty="0">
                <a:solidFill>
                  <a:srgbClr val="0F2A2E"/>
                </a:solidFill>
                <a:latin typeface="Calibri"/>
                <a:cs typeface="Calibri"/>
              </a:rPr>
              <a:t>What is your age group?</a:t>
            </a:r>
          </a:p>
        </p:txBody>
      </p:sp>
      <p:graphicFrame>
        <p:nvGraphicFramePr>
          <p:cNvPr id="106" name="Chart 106"/>
          <p:cNvGraphicFramePr>
            <a:graphicFrameLocks noGrp="1"/>
          </p:cNvGraphicFramePr>
          <p:nvPr/>
        </p:nvGraphicFramePr>
        <p:xfrm>
          <a:off x="658368" y="2606040"/>
          <a:ext cx="5212080" cy="3108960"/>
        </p:xfrm>
        <a:graphic>
          <a:graphicData uri="http://schemas.openxmlformats.org/drawingml/2006/chart">
            <c:chart xmlns:c="http://schemas.openxmlformats.org/drawingml/2006/chart" xmlns:r="http://schemas.openxmlformats.org/officeDocument/2006/relationships" r:id="rId2"/>
          </a:graphicData>
        </a:graphic>
      </p:graphicFrame>
      <p:sp>
        <p:nvSpPr>
          <p:cNvPr id="107" name="Responses"/>
          <p:cNvSpPr txBox="1"/>
          <p:nvPr/>
        </p:nvSpPr>
        <p:spPr>
          <a:xfrm>
            <a:off x="777240" y="5760720"/>
            <a:ext cx="4974336" cy="32004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1200" b="0" i="0" dirty="0">
                <a:solidFill>
                  <a:srgbClr val="64748B"/>
                </a:solidFill>
                <a:latin typeface="Calibri"/>
                <a:cs typeface="Calibri"/>
              </a:rPr>
              <a:t>27 responses</a:t>
            </a:r>
          </a:p>
        </p:txBody>
      </p:sp>
      <p:sp>
        <p:nvSpPr>
          <p:cNvPr id="108" name="Card"/>
          <p:cNvSpPr/>
          <p:nvPr/>
        </p:nvSpPr>
        <p:spPr>
          <a:xfrm>
            <a:off x="6208776" y="1371600"/>
            <a:ext cx="5431536" cy="484632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9" name="Q label"/>
          <p:cNvSpPr txBox="1"/>
          <p:nvPr/>
        </p:nvSpPr>
        <p:spPr>
          <a:xfrm>
            <a:off x="6437376" y="1508760"/>
            <a:ext cx="4974336"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150" b="1" i="0" dirty="0">
                <a:solidFill>
                  <a:srgbClr val="0F766E"/>
                </a:solidFill>
                <a:latin typeface="Calibri"/>
                <a:cs typeface="Calibri"/>
              </a:rPr>
              <a:t>Q2 · REMINDER</a:t>
            </a:r>
          </a:p>
        </p:txBody>
      </p:sp>
      <p:sp>
        <p:nvSpPr>
          <p:cNvPr id="110" name="Question"/>
          <p:cNvSpPr txBox="1"/>
          <p:nvPr/>
        </p:nvSpPr>
        <p:spPr>
          <a:xfrm>
            <a:off x="6437376" y="1810512"/>
            <a:ext cx="4974336" cy="77724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500" b="1" i="0" dirty="0">
                <a:solidFill>
                  <a:srgbClr val="0F2A2E"/>
                </a:solidFill>
                <a:latin typeface="Calibri"/>
                <a:cs typeface="Calibri"/>
              </a:rPr>
              <a:t>How effective was the robot in reminding you to take medicine on time?</a:t>
            </a:r>
          </a:p>
        </p:txBody>
      </p:sp>
      <p:graphicFrame>
        <p:nvGraphicFramePr>
          <p:cNvPr id="111" name="Chart 111"/>
          <p:cNvGraphicFramePr>
            <a:graphicFrameLocks noGrp="1"/>
          </p:cNvGraphicFramePr>
          <p:nvPr/>
        </p:nvGraphicFramePr>
        <p:xfrm>
          <a:off x="6318504" y="2606040"/>
          <a:ext cx="52120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12" name="Responses"/>
          <p:cNvSpPr txBox="1"/>
          <p:nvPr/>
        </p:nvSpPr>
        <p:spPr>
          <a:xfrm>
            <a:off x="6437376" y="5760720"/>
            <a:ext cx="4974336" cy="32004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1200" b="0" i="0" dirty="0">
                <a:solidFill>
                  <a:srgbClr val="64748B"/>
                </a:solidFill>
                <a:latin typeface="Calibri"/>
                <a:cs typeface="Calibri"/>
              </a:rPr>
              <a:t>34 responses · 1 = lowest, 5 = highest</a:t>
            </a:r>
          </a:p>
        </p:txBody>
      </p:sp>
      <p:sp>
        <p:nvSpPr>
          <p:cNvPr id="118"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USER SURVEY · PART 2 OF 2</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Performance Analysis</a:t>
            </a:r>
          </a:p>
        </p:txBody>
      </p:sp>
      <p:sp>
        <p:nvSpPr>
          <p:cNvPr id="103" name="Card"/>
          <p:cNvSpPr/>
          <p:nvPr/>
        </p:nvSpPr>
        <p:spPr>
          <a:xfrm>
            <a:off x="548640" y="1371600"/>
            <a:ext cx="3547872" cy="484632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Q label"/>
          <p:cNvSpPr txBox="1"/>
          <p:nvPr/>
        </p:nvSpPr>
        <p:spPr>
          <a:xfrm>
            <a:off x="777240" y="1508760"/>
            <a:ext cx="310896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150" b="1" i="0" dirty="0">
                <a:solidFill>
                  <a:srgbClr val="0F766E"/>
                </a:solidFill>
                <a:latin typeface="Calibri"/>
                <a:cs typeface="Calibri"/>
              </a:rPr>
              <a:t>Q3 · TIME &amp; EFFORT</a:t>
            </a:r>
          </a:p>
        </p:txBody>
      </p:sp>
      <p:sp>
        <p:nvSpPr>
          <p:cNvPr id="105" name="Question"/>
          <p:cNvSpPr txBox="1"/>
          <p:nvPr/>
        </p:nvSpPr>
        <p:spPr>
          <a:xfrm>
            <a:off x="777240" y="1810512"/>
            <a:ext cx="3108960" cy="77724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500" b="1" i="0" dirty="0">
                <a:solidFill>
                  <a:srgbClr val="0F2A2E"/>
                </a:solidFill>
                <a:latin typeface="Calibri"/>
                <a:cs typeface="Calibri"/>
              </a:rPr>
              <a:t>Did the robot save you time or effort vs. managing medicine manually?</a:t>
            </a:r>
          </a:p>
        </p:txBody>
      </p:sp>
      <p:graphicFrame>
        <p:nvGraphicFramePr>
          <p:cNvPr id="106" name="Chart 106"/>
          <p:cNvGraphicFramePr>
            <a:graphicFrameLocks noGrp="1"/>
          </p:cNvGraphicFramePr>
          <p:nvPr/>
        </p:nvGraphicFramePr>
        <p:xfrm>
          <a:off x="658368" y="2606040"/>
          <a:ext cx="3328416" cy="3108960"/>
        </p:xfrm>
        <a:graphic>
          <a:graphicData uri="http://schemas.openxmlformats.org/drawingml/2006/chart">
            <c:chart xmlns:c="http://schemas.openxmlformats.org/drawingml/2006/chart" xmlns:r="http://schemas.openxmlformats.org/officeDocument/2006/relationships" r:id="rId2"/>
          </a:graphicData>
        </a:graphic>
      </p:graphicFrame>
      <p:sp>
        <p:nvSpPr>
          <p:cNvPr id="107" name="Responses"/>
          <p:cNvSpPr txBox="1"/>
          <p:nvPr/>
        </p:nvSpPr>
        <p:spPr>
          <a:xfrm>
            <a:off x="777240" y="5760720"/>
            <a:ext cx="3108960" cy="32004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1200" b="0" i="0" dirty="0">
                <a:solidFill>
                  <a:srgbClr val="64748B"/>
                </a:solidFill>
                <a:latin typeface="Calibri"/>
                <a:cs typeface="Calibri"/>
              </a:rPr>
              <a:t>30 responses</a:t>
            </a:r>
          </a:p>
        </p:txBody>
      </p:sp>
      <p:sp>
        <p:nvSpPr>
          <p:cNvPr id="108" name="Card"/>
          <p:cNvSpPr/>
          <p:nvPr/>
        </p:nvSpPr>
        <p:spPr>
          <a:xfrm>
            <a:off x="4320540" y="1371600"/>
            <a:ext cx="3547872" cy="484632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9" name="Q label"/>
          <p:cNvSpPr txBox="1"/>
          <p:nvPr/>
        </p:nvSpPr>
        <p:spPr>
          <a:xfrm>
            <a:off x="4549140" y="1508760"/>
            <a:ext cx="310896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150" b="1" i="0" dirty="0">
                <a:solidFill>
                  <a:srgbClr val="0F766E"/>
                </a:solidFill>
                <a:latin typeface="Calibri"/>
                <a:cs typeface="Calibri"/>
              </a:rPr>
              <a:t>Q4 · RESPONSE SPEED</a:t>
            </a:r>
          </a:p>
        </p:txBody>
      </p:sp>
      <p:sp>
        <p:nvSpPr>
          <p:cNvPr id="110" name="Question"/>
          <p:cNvSpPr txBox="1"/>
          <p:nvPr/>
        </p:nvSpPr>
        <p:spPr>
          <a:xfrm>
            <a:off x="4549140" y="1810512"/>
            <a:ext cx="3108960" cy="77724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500" b="1" i="0" dirty="0">
                <a:solidFill>
                  <a:srgbClr val="0F2A2E"/>
                </a:solidFill>
                <a:latin typeface="Calibri"/>
                <a:cs typeface="Calibri"/>
              </a:rPr>
              <a:t>How would you rate the robot's response speed when you interacted with it?</a:t>
            </a:r>
          </a:p>
        </p:txBody>
      </p:sp>
      <p:graphicFrame>
        <p:nvGraphicFramePr>
          <p:cNvPr id="111" name="Chart 111"/>
          <p:cNvGraphicFramePr>
            <a:graphicFrameLocks noGrp="1"/>
          </p:cNvGraphicFramePr>
          <p:nvPr/>
        </p:nvGraphicFramePr>
        <p:xfrm>
          <a:off x="4430268" y="2606040"/>
          <a:ext cx="3328416"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12" name="Responses"/>
          <p:cNvSpPr txBox="1"/>
          <p:nvPr/>
        </p:nvSpPr>
        <p:spPr>
          <a:xfrm>
            <a:off x="4549140" y="5760720"/>
            <a:ext cx="3108960" cy="32004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1200" b="0" i="0" dirty="0">
                <a:solidFill>
                  <a:srgbClr val="64748B"/>
                </a:solidFill>
                <a:latin typeface="Calibri"/>
                <a:cs typeface="Calibri"/>
              </a:rPr>
              <a:t>34 responses · 1 = lowest, 5 = highest</a:t>
            </a:r>
          </a:p>
        </p:txBody>
      </p:sp>
      <p:sp>
        <p:nvSpPr>
          <p:cNvPr id="113" name="Card"/>
          <p:cNvSpPr/>
          <p:nvPr/>
        </p:nvSpPr>
        <p:spPr>
          <a:xfrm>
            <a:off x="8092440" y="1371600"/>
            <a:ext cx="3547872" cy="484632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4" name="Q label"/>
          <p:cNvSpPr txBox="1"/>
          <p:nvPr/>
        </p:nvSpPr>
        <p:spPr>
          <a:xfrm>
            <a:off x="8321040" y="1508760"/>
            <a:ext cx="310896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150" b="1" i="0" dirty="0">
                <a:solidFill>
                  <a:srgbClr val="0F766E"/>
                </a:solidFill>
                <a:latin typeface="Calibri"/>
                <a:cs typeface="Calibri"/>
              </a:rPr>
              <a:t>Q5 · OVERALL BENEFIT</a:t>
            </a:r>
          </a:p>
        </p:txBody>
      </p:sp>
      <p:sp>
        <p:nvSpPr>
          <p:cNvPr id="115" name="Question"/>
          <p:cNvSpPr txBox="1"/>
          <p:nvPr/>
        </p:nvSpPr>
        <p:spPr>
          <a:xfrm>
            <a:off x="8321040" y="1810512"/>
            <a:ext cx="3108960" cy="77724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500" b="1" i="0" dirty="0">
                <a:solidFill>
                  <a:srgbClr val="0F2A2E"/>
                </a:solidFill>
                <a:latin typeface="Calibri"/>
                <a:cs typeface="Calibri"/>
              </a:rPr>
              <a:t>How beneficial is this robot for elderly patients who forget medicine?</a:t>
            </a:r>
          </a:p>
        </p:txBody>
      </p:sp>
      <p:graphicFrame>
        <p:nvGraphicFramePr>
          <p:cNvPr id="116" name="Chart 116"/>
          <p:cNvGraphicFramePr>
            <a:graphicFrameLocks noGrp="1"/>
          </p:cNvGraphicFramePr>
          <p:nvPr/>
        </p:nvGraphicFramePr>
        <p:xfrm>
          <a:off x="8202168" y="2606040"/>
          <a:ext cx="3328416"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17" name="Responses"/>
          <p:cNvSpPr txBox="1"/>
          <p:nvPr/>
        </p:nvSpPr>
        <p:spPr>
          <a:xfrm>
            <a:off x="8321040" y="5760720"/>
            <a:ext cx="3108960" cy="320040"/>
          </a:xfrm>
          <a:prstGeom prst="rect">
            <a:avLst/>
          </a:prstGeom>
          <a:noFill/>
          <a:ln>
            <a:noFill/>
          </a:ln>
        </p:spPr>
        <p:txBody>
          <a:bodyPr wrap="square" lIns="0" tIns="0" rIns="0" bIns="0" rtlCol="0" anchor="ctr">
            <a:normAutofit/>
          </a:bodyPr>
          <a:lstStyle/>
          <a:p>
            <a:pPr algn="ctr">
              <a:spcBef>
                <a:spcPts val="0"/>
              </a:spcBef>
              <a:spcAft>
                <a:spcPts val="0"/>
              </a:spcAft>
              <a:buNone/>
            </a:pPr>
            <a:r>
              <a:rPr lang="en-US" sz="1200" b="0" i="0" dirty="0">
                <a:solidFill>
                  <a:srgbClr val="64748B"/>
                </a:solidFill>
                <a:latin typeface="Calibri"/>
                <a:cs typeface="Calibri"/>
              </a:rPr>
              <a:t>34 responses</a:t>
            </a:r>
          </a:p>
        </p:txBody>
      </p:sp>
      <p:sp>
        <p:nvSpPr>
          <p:cNvPr id="118"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7F7"/>
        </a:solidFill>
        <a:effectLst/>
      </p:bgPr>
    </p:bg>
    <p:spTree>
      <p:nvGrpSpPr>
        <p:cNvPr id="1" name=""/>
        <p:cNvGrpSpPr/>
        <p:nvPr/>
      </p:nvGrpSpPr>
      <p:grpSpPr>
        <a:xfrm>
          <a:off x="0" y="0"/>
          <a:ext cx="0" cy="0"/>
          <a:chOff x="0" y="0"/>
          <a:chExt cx="0" cy="0"/>
        </a:xfrm>
      </p:grpSpPr>
      <p:sp>
        <p:nvSpPr>
          <p:cNvPr id="101" name="Kicker"/>
          <p:cNvSpPr txBox="1"/>
          <p:nvPr/>
        </p:nvSpPr>
        <p:spPr>
          <a:xfrm>
            <a:off x="548640" y="292608"/>
            <a:ext cx="8229600" cy="274320"/>
          </a:xfrm>
          <a:prstGeom prst="rect">
            <a:avLst/>
          </a:prstGeom>
          <a:noFill/>
          <a:ln>
            <a:noFill/>
          </a:ln>
        </p:spPr>
        <p:txBody>
          <a:bodyPr wrap="square" lIns="0" tIns="0" rIns="0" bIns="0" rtlCol="0" anchor="ctr">
            <a:normAutofit/>
          </a:bodyPr>
          <a:lstStyle/>
          <a:p>
            <a:pPr algn="l">
              <a:spcBef>
                <a:spcPts val="0"/>
              </a:spcBef>
              <a:spcAft>
                <a:spcPts val="0"/>
              </a:spcAft>
              <a:buNone/>
            </a:pPr>
            <a:r>
              <a:rPr lang="en-US" sz="1200" b="1" i="0" dirty="0">
                <a:solidFill>
                  <a:srgbClr val="0F766E"/>
                </a:solidFill>
                <a:latin typeface="Calibri"/>
                <a:cs typeface="Calibri"/>
              </a:rPr>
              <a:t>PERFORMANCE ANALYSIS</a:t>
            </a:r>
          </a:p>
        </p:txBody>
      </p:sp>
      <p:sp>
        <p:nvSpPr>
          <p:cNvPr id="102" name="Title"/>
          <p:cNvSpPr txBox="1"/>
          <p:nvPr/>
        </p:nvSpPr>
        <p:spPr>
          <a:xfrm>
            <a:off x="548640" y="548640"/>
            <a:ext cx="11064240" cy="64008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2A2E"/>
                </a:solidFill>
                <a:latin typeface="Cambria"/>
                <a:cs typeface="Cambria"/>
              </a:rPr>
              <a:t>Key Findings</a:t>
            </a:r>
          </a:p>
        </p:txBody>
      </p:sp>
      <p:sp>
        <p:nvSpPr>
          <p:cNvPr id="103" name="Card"/>
          <p:cNvSpPr/>
          <p:nvPr/>
        </p:nvSpPr>
        <p:spPr>
          <a:xfrm>
            <a:off x="548640" y="1371600"/>
            <a:ext cx="2633472" cy="16916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4" name="Stat"/>
          <p:cNvSpPr txBox="1"/>
          <p:nvPr/>
        </p:nvSpPr>
        <p:spPr>
          <a:xfrm>
            <a:off x="777240" y="1444752"/>
            <a:ext cx="2194560" cy="73152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766E"/>
                </a:solidFill>
                <a:latin typeface="Cambria"/>
                <a:cs typeface="Cambria"/>
              </a:rPr>
              <a:t>83.3%</a:t>
            </a:r>
          </a:p>
        </p:txBody>
      </p:sp>
      <p:sp>
        <p:nvSpPr>
          <p:cNvPr id="105" name="Stat Label"/>
          <p:cNvSpPr txBox="1"/>
          <p:nvPr/>
        </p:nvSpPr>
        <p:spPr>
          <a:xfrm>
            <a:off x="777240" y="2194560"/>
            <a:ext cx="224028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saved time or effort compared to manual medicine schedules</a:t>
            </a:r>
          </a:p>
        </p:txBody>
      </p:sp>
      <p:sp>
        <p:nvSpPr>
          <p:cNvPr id="106" name="Card"/>
          <p:cNvSpPr/>
          <p:nvPr/>
        </p:nvSpPr>
        <p:spPr>
          <a:xfrm>
            <a:off x="3367735" y="1371600"/>
            <a:ext cx="2633472" cy="16916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07" name="Stat"/>
          <p:cNvSpPr txBox="1"/>
          <p:nvPr/>
        </p:nvSpPr>
        <p:spPr>
          <a:xfrm>
            <a:off x="3596335" y="1444752"/>
            <a:ext cx="2194560" cy="73152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891B2"/>
                </a:solidFill>
                <a:latin typeface="Cambria"/>
                <a:cs typeface="Cambria"/>
              </a:rPr>
              <a:t>67.6%</a:t>
            </a:r>
          </a:p>
        </p:txBody>
      </p:sp>
      <p:sp>
        <p:nvSpPr>
          <p:cNvPr id="108" name="Stat Label"/>
          <p:cNvSpPr txBox="1"/>
          <p:nvPr/>
        </p:nvSpPr>
        <p:spPr>
          <a:xfrm>
            <a:off x="3596335" y="2194560"/>
            <a:ext cx="224028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rated response speed 4 or 5 out of 5 (average 3.7)</a:t>
            </a:r>
          </a:p>
        </p:txBody>
      </p:sp>
      <p:sp>
        <p:nvSpPr>
          <p:cNvPr id="109" name="Card"/>
          <p:cNvSpPr/>
          <p:nvPr/>
        </p:nvSpPr>
        <p:spPr>
          <a:xfrm>
            <a:off x="6186830" y="1371600"/>
            <a:ext cx="2633472" cy="16916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0" name="Stat"/>
          <p:cNvSpPr txBox="1"/>
          <p:nvPr/>
        </p:nvSpPr>
        <p:spPr>
          <a:xfrm>
            <a:off x="6415430" y="1444752"/>
            <a:ext cx="2194560" cy="73152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0F766E"/>
                </a:solidFill>
                <a:latin typeface="Cambria"/>
                <a:cs typeface="Cambria"/>
              </a:rPr>
              <a:t>67.6%</a:t>
            </a:r>
          </a:p>
        </p:txBody>
      </p:sp>
      <p:sp>
        <p:nvSpPr>
          <p:cNvPr id="111" name="Stat Label"/>
          <p:cNvSpPr txBox="1"/>
          <p:nvPr/>
        </p:nvSpPr>
        <p:spPr>
          <a:xfrm>
            <a:off x="6415430" y="2194560"/>
            <a:ext cx="224028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find it moderately or extremely beneficial for elderly users</a:t>
            </a:r>
          </a:p>
        </p:txBody>
      </p:sp>
      <p:sp>
        <p:nvSpPr>
          <p:cNvPr id="112" name="Card"/>
          <p:cNvSpPr/>
          <p:nvPr/>
        </p:nvSpPr>
        <p:spPr>
          <a:xfrm>
            <a:off x="9005926" y="1371600"/>
            <a:ext cx="2633472" cy="1691640"/>
          </a:xfrm>
          <a:prstGeom prst="roundRect">
            <a:avLst>
              <a:gd name="adj" fmla="val 6000"/>
            </a:avLst>
          </a:prstGeom>
          <a:solidFill>
            <a:srgbClr val="FFFFFF"/>
          </a:solidFill>
          <a:ln w="12700">
            <a:solidFill>
              <a:srgbClr val="D5E3E4"/>
            </a:solidFill>
          </a:ln>
          <a:effectLst>
            <a:outerShdw blurRad="63500" dist="19050" dir="5400000" algn="t" rotWithShape="0">
              <a:srgbClr val="0B3B40">
                <a:alpha val="12000"/>
              </a:srgbClr>
            </a:outerShdw>
          </a:effectLst>
        </p:spPr>
        <p:txBody>
          <a:bodyPr wrap="square" lIns="0" tIns="0" rIns="0" bIns="0" rtlCol="0" anchor="t">
            <a:normAutofit/>
          </a:bodyPr>
          <a:lstStyle/>
          <a:p>
            <a:endParaRPr lang="en-US"/>
          </a:p>
        </p:txBody>
      </p:sp>
      <p:sp>
        <p:nvSpPr>
          <p:cNvPr id="113" name="Stat"/>
          <p:cNvSpPr txBox="1"/>
          <p:nvPr/>
        </p:nvSpPr>
        <p:spPr>
          <a:xfrm>
            <a:off x="9234526" y="1444752"/>
            <a:ext cx="2194560" cy="731520"/>
          </a:xfrm>
          <a:prstGeom prst="rect">
            <a:avLst/>
          </a:prstGeom>
          <a:noFill/>
          <a:ln>
            <a:noFill/>
          </a:ln>
        </p:spPr>
        <p:txBody>
          <a:bodyPr wrap="square" lIns="0" tIns="0" rIns="0" bIns="0" rtlCol="0" anchor="ctr">
            <a:normAutofit/>
          </a:bodyPr>
          <a:lstStyle/>
          <a:p>
            <a:pPr algn="l">
              <a:spcBef>
                <a:spcPts val="0"/>
              </a:spcBef>
              <a:spcAft>
                <a:spcPts val="0"/>
              </a:spcAft>
              <a:buNone/>
            </a:pPr>
            <a:r>
              <a:rPr lang="en-US" sz="3400" b="1" i="0" dirty="0">
                <a:solidFill>
                  <a:srgbClr val="F97316"/>
                </a:solidFill>
                <a:latin typeface="Cambria"/>
                <a:cs typeface="Cambria"/>
              </a:rPr>
              <a:t>3.2/5</a:t>
            </a:r>
          </a:p>
        </p:txBody>
      </p:sp>
      <p:sp>
        <p:nvSpPr>
          <p:cNvPr id="114" name="Stat Label"/>
          <p:cNvSpPr txBox="1"/>
          <p:nvPr/>
        </p:nvSpPr>
        <p:spPr>
          <a:xfrm>
            <a:off x="9234526" y="2194560"/>
            <a:ext cx="2240280" cy="822960"/>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300" b="0" i="0" dirty="0">
                <a:solidFill>
                  <a:srgbClr val="334155"/>
                </a:solidFill>
                <a:latin typeface="Calibri"/>
                <a:cs typeface="Calibri"/>
              </a:rPr>
              <a:t>average rating for on-time medicine reminders</a:t>
            </a:r>
          </a:p>
        </p:txBody>
      </p:sp>
      <p:sp>
        <p:nvSpPr>
          <p:cNvPr id="115" name="List Card"/>
          <p:cNvSpPr/>
          <p:nvPr/>
        </p:nvSpPr>
        <p:spPr>
          <a:xfrm>
            <a:off x="548640" y="3291840"/>
            <a:ext cx="5440680" cy="2926080"/>
          </a:xfrm>
          <a:prstGeom prst="roundRect">
            <a:avLst>
              <a:gd name="adj" fmla="val 6000"/>
            </a:avLst>
          </a:prstGeom>
          <a:solidFill>
            <a:srgbClr val="DDF1EE"/>
          </a:solidFill>
          <a:ln>
            <a:noFill/>
          </a:ln>
        </p:spPr>
        <p:txBody>
          <a:bodyPr wrap="square" lIns="0" tIns="0" rIns="0" bIns="0" rtlCol="0" anchor="t">
            <a:normAutofit/>
          </a:bodyPr>
          <a:lstStyle/>
          <a:p>
            <a:endParaRPr lang="en-US"/>
          </a:p>
        </p:txBody>
      </p:sp>
      <p:sp>
        <p:nvSpPr>
          <p:cNvPr id="116" name="List Title"/>
          <p:cNvSpPr txBox="1"/>
          <p:nvPr/>
        </p:nvSpPr>
        <p:spPr>
          <a:xfrm>
            <a:off x="822960" y="3429000"/>
            <a:ext cx="4846320" cy="411480"/>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1" i="0" dirty="0">
                <a:solidFill>
                  <a:srgbClr val="0F766E"/>
                </a:solidFill>
                <a:latin typeface="Cambria"/>
                <a:cs typeface="Cambria"/>
              </a:rPr>
              <a:t>What works well</a:t>
            </a:r>
          </a:p>
        </p:txBody>
      </p:sp>
      <p:sp>
        <p:nvSpPr>
          <p:cNvPr id="117" name="Badge"/>
          <p:cNvSpPr/>
          <p:nvPr/>
        </p:nvSpPr>
        <p:spPr>
          <a:xfrm>
            <a:off x="822960" y="4023360"/>
            <a:ext cx="329184" cy="329184"/>
          </a:xfrm>
          <a:prstGeom prst="ellipse">
            <a:avLst/>
          </a:prstGeom>
          <a:solidFill>
            <a:srgbClr val="0F766E"/>
          </a:solidFill>
          <a:ln>
            <a:noFill/>
          </a:ln>
        </p:spPr>
        <p:txBody>
          <a:bodyPr wrap="square" lIns="0" tIns="0" rIns="0" bIns="0" rtlCol="0" anchor="ctr">
            <a:normAutofit/>
          </a:bodyPr>
          <a:lstStyle/>
          <a:p>
            <a:pPr algn="ctr">
              <a:spcBef>
                <a:spcPts val="0"/>
              </a:spcBef>
              <a:spcAft>
                <a:spcPts val="0"/>
              </a:spcAft>
              <a:buNone/>
            </a:pPr>
            <a:r>
              <a:rPr lang="en-US" sz="1200" b="1" i="0" dirty="0">
                <a:solidFill>
                  <a:srgbClr val="FFFFFF"/>
                </a:solidFill>
                <a:latin typeface="Calibri"/>
                <a:cs typeface="Calibri"/>
              </a:rPr>
              <a:t>✓</a:t>
            </a:r>
          </a:p>
        </p:txBody>
      </p:sp>
      <p:sp>
        <p:nvSpPr>
          <p:cNvPr id="118" name="Item"/>
          <p:cNvSpPr txBox="1"/>
          <p:nvPr/>
        </p:nvSpPr>
        <p:spPr>
          <a:xfrm>
            <a:off x="1325880" y="3977640"/>
            <a:ext cx="4434840" cy="658368"/>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400" b="1" i="0" dirty="0">
                <a:solidFill>
                  <a:srgbClr val="0F2A2E"/>
                </a:solidFill>
                <a:latin typeface="Calibri"/>
                <a:cs typeface="Calibri"/>
              </a:rPr>
              <a:t>Saves effort: </a:t>
            </a:r>
            <a:r>
              <a:rPr lang="en-US" sz="1400" b="0" i="0" dirty="0">
                <a:solidFill>
                  <a:srgbClr val="334155"/>
                </a:solidFill>
                <a:latin typeface="Calibri"/>
                <a:cs typeface="Calibri"/>
              </a:rPr>
              <a:t>43.3% said significantly and 40% said slightly.</a:t>
            </a:r>
          </a:p>
        </p:txBody>
      </p:sp>
      <p:sp>
        <p:nvSpPr>
          <p:cNvPr id="119" name="Badge"/>
          <p:cNvSpPr/>
          <p:nvPr/>
        </p:nvSpPr>
        <p:spPr>
          <a:xfrm>
            <a:off x="822960" y="4736592"/>
            <a:ext cx="329184" cy="329184"/>
          </a:xfrm>
          <a:prstGeom prst="ellipse">
            <a:avLst/>
          </a:prstGeom>
          <a:solidFill>
            <a:srgbClr val="0F766E"/>
          </a:solidFill>
          <a:ln>
            <a:noFill/>
          </a:ln>
        </p:spPr>
        <p:txBody>
          <a:bodyPr wrap="square" lIns="0" tIns="0" rIns="0" bIns="0" rtlCol="0" anchor="ctr">
            <a:normAutofit/>
          </a:bodyPr>
          <a:lstStyle/>
          <a:p>
            <a:pPr algn="ctr">
              <a:spcBef>
                <a:spcPts val="0"/>
              </a:spcBef>
              <a:spcAft>
                <a:spcPts val="0"/>
              </a:spcAft>
              <a:buNone/>
            </a:pPr>
            <a:r>
              <a:rPr lang="en-US" sz="1200" b="1" i="0" dirty="0">
                <a:solidFill>
                  <a:srgbClr val="FFFFFF"/>
                </a:solidFill>
                <a:latin typeface="Calibri"/>
                <a:cs typeface="Calibri"/>
              </a:rPr>
              <a:t>✓</a:t>
            </a:r>
          </a:p>
        </p:txBody>
      </p:sp>
      <p:sp>
        <p:nvSpPr>
          <p:cNvPr id="120" name="Item"/>
          <p:cNvSpPr txBox="1"/>
          <p:nvPr/>
        </p:nvSpPr>
        <p:spPr>
          <a:xfrm>
            <a:off x="1325880" y="4690872"/>
            <a:ext cx="4434840" cy="658368"/>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400" b="1" i="0" dirty="0">
                <a:solidFill>
                  <a:srgbClr val="0F2A2E"/>
                </a:solidFill>
                <a:latin typeface="Calibri"/>
                <a:cs typeface="Calibri"/>
              </a:rPr>
              <a:t>Fast response: </a:t>
            </a:r>
            <a:r>
              <a:rPr lang="en-US" sz="1400" b="0" i="0" dirty="0">
                <a:solidFill>
                  <a:srgbClr val="334155"/>
                </a:solidFill>
                <a:latin typeface="Calibri"/>
                <a:cs typeface="Calibri"/>
              </a:rPr>
              <a:t>23 of 34 users gave speed a 4 or 5.</a:t>
            </a:r>
          </a:p>
        </p:txBody>
      </p:sp>
      <p:sp>
        <p:nvSpPr>
          <p:cNvPr id="121" name="Badge"/>
          <p:cNvSpPr/>
          <p:nvPr/>
        </p:nvSpPr>
        <p:spPr>
          <a:xfrm>
            <a:off x="822960" y="5449824"/>
            <a:ext cx="329184" cy="329184"/>
          </a:xfrm>
          <a:prstGeom prst="ellipse">
            <a:avLst/>
          </a:prstGeom>
          <a:solidFill>
            <a:srgbClr val="0F766E"/>
          </a:solidFill>
          <a:ln>
            <a:noFill/>
          </a:ln>
        </p:spPr>
        <p:txBody>
          <a:bodyPr wrap="square" lIns="0" tIns="0" rIns="0" bIns="0" rtlCol="0" anchor="ctr">
            <a:normAutofit/>
          </a:bodyPr>
          <a:lstStyle/>
          <a:p>
            <a:pPr algn="ctr">
              <a:spcBef>
                <a:spcPts val="0"/>
              </a:spcBef>
              <a:spcAft>
                <a:spcPts val="0"/>
              </a:spcAft>
              <a:buNone/>
            </a:pPr>
            <a:r>
              <a:rPr lang="en-US" sz="1200" b="1" i="0" dirty="0">
                <a:solidFill>
                  <a:srgbClr val="FFFFFF"/>
                </a:solidFill>
                <a:latin typeface="Calibri"/>
                <a:cs typeface="Calibri"/>
              </a:rPr>
              <a:t>✓</a:t>
            </a:r>
          </a:p>
        </p:txBody>
      </p:sp>
      <p:sp>
        <p:nvSpPr>
          <p:cNvPr id="122" name="Item"/>
          <p:cNvSpPr txBox="1"/>
          <p:nvPr/>
        </p:nvSpPr>
        <p:spPr>
          <a:xfrm>
            <a:off x="1325880" y="5404104"/>
            <a:ext cx="4434840" cy="658368"/>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400" b="1" i="0" dirty="0">
                <a:solidFill>
                  <a:srgbClr val="0F2A2E"/>
                </a:solidFill>
                <a:latin typeface="Calibri"/>
                <a:cs typeface="Calibri"/>
              </a:rPr>
              <a:t>Clear benefit: </a:t>
            </a:r>
            <a:r>
              <a:rPr lang="en-US" sz="1400" b="0" i="0" dirty="0">
                <a:solidFill>
                  <a:srgbClr val="334155"/>
                </a:solidFill>
                <a:latin typeface="Calibri"/>
                <a:cs typeface="Calibri"/>
              </a:rPr>
              <a:t>only 11.8% said it is not beneficial.</a:t>
            </a:r>
          </a:p>
        </p:txBody>
      </p:sp>
      <p:sp>
        <p:nvSpPr>
          <p:cNvPr id="123" name="List Card"/>
          <p:cNvSpPr/>
          <p:nvPr/>
        </p:nvSpPr>
        <p:spPr>
          <a:xfrm>
            <a:off x="6199632" y="3291840"/>
            <a:ext cx="5440680" cy="2926080"/>
          </a:xfrm>
          <a:prstGeom prst="roundRect">
            <a:avLst>
              <a:gd name="adj" fmla="val 6000"/>
            </a:avLst>
          </a:prstGeom>
          <a:solidFill>
            <a:srgbClr val="FFEDD5"/>
          </a:solidFill>
          <a:ln>
            <a:noFill/>
          </a:ln>
        </p:spPr>
        <p:txBody>
          <a:bodyPr wrap="square" lIns="0" tIns="0" rIns="0" bIns="0" rtlCol="0" anchor="t">
            <a:normAutofit/>
          </a:bodyPr>
          <a:lstStyle/>
          <a:p>
            <a:endParaRPr lang="en-US"/>
          </a:p>
        </p:txBody>
      </p:sp>
      <p:sp>
        <p:nvSpPr>
          <p:cNvPr id="124" name="List Title"/>
          <p:cNvSpPr txBox="1"/>
          <p:nvPr/>
        </p:nvSpPr>
        <p:spPr>
          <a:xfrm>
            <a:off x="6473952" y="3429000"/>
            <a:ext cx="4846320" cy="411480"/>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1" i="0" dirty="0">
                <a:solidFill>
                  <a:srgbClr val="C2410C"/>
                </a:solidFill>
                <a:latin typeface="Cambria"/>
                <a:cs typeface="Cambria"/>
              </a:rPr>
              <a:t>What to improve</a:t>
            </a:r>
          </a:p>
        </p:txBody>
      </p:sp>
      <p:sp>
        <p:nvSpPr>
          <p:cNvPr id="125" name="Badge"/>
          <p:cNvSpPr/>
          <p:nvPr/>
        </p:nvSpPr>
        <p:spPr>
          <a:xfrm>
            <a:off x="6473952" y="4023360"/>
            <a:ext cx="329184" cy="329184"/>
          </a:xfrm>
          <a:prstGeom prst="ellipse">
            <a:avLst/>
          </a:prstGeom>
          <a:solidFill>
            <a:srgbClr val="C2410C"/>
          </a:solidFill>
          <a:ln>
            <a:noFill/>
          </a:ln>
        </p:spPr>
        <p:txBody>
          <a:bodyPr wrap="square" lIns="0" tIns="0" rIns="0" bIns="0" rtlCol="0" anchor="ctr">
            <a:normAutofit/>
          </a:bodyPr>
          <a:lstStyle/>
          <a:p>
            <a:pPr algn="ctr">
              <a:spcBef>
                <a:spcPts val="0"/>
              </a:spcBef>
              <a:spcAft>
                <a:spcPts val="0"/>
              </a:spcAft>
              <a:buNone/>
            </a:pPr>
            <a:r>
              <a:rPr lang="en-US" sz="1200" b="1" i="0" dirty="0">
                <a:solidFill>
                  <a:srgbClr val="FFFFFF"/>
                </a:solidFill>
                <a:latin typeface="Calibri"/>
                <a:cs typeface="Calibri"/>
              </a:rPr>
              <a:t>!</a:t>
            </a:r>
          </a:p>
        </p:txBody>
      </p:sp>
      <p:sp>
        <p:nvSpPr>
          <p:cNvPr id="126" name="Item"/>
          <p:cNvSpPr txBox="1"/>
          <p:nvPr/>
        </p:nvSpPr>
        <p:spPr>
          <a:xfrm>
            <a:off x="6976872" y="3977640"/>
            <a:ext cx="4434840" cy="658368"/>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400" b="1" i="0" dirty="0">
                <a:solidFill>
                  <a:srgbClr val="0F2A2E"/>
                </a:solidFill>
                <a:latin typeface="Calibri"/>
                <a:cs typeface="Calibri"/>
              </a:rPr>
              <a:t>Slow cases: </a:t>
            </a:r>
            <a:r>
              <a:rPr lang="en-US" sz="1400" b="0" i="0" dirty="0">
                <a:solidFill>
                  <a:srgbClr val="334155"/>
                </a:solidFill>
                <a:latin typeface="Calibri"/>
                <a:cs typeface="Calibri"/>
              </a:rPr>
              <a:t>7 of 34 users rated response speed only 1 or 2.</a:t>
            </a:r>
          </a:p>
        </p:txBody>
      </p:sp>
      <p:sp>
        <p:nvSpPr>
          <p:cNvPr id="127" name="Badge"/>
          <p:cNvSpPr/>
          <p:nvPr/>
        </p:nvSpPr>
        <p:spPr>
          <a:xfrm>
            <a:off x="6473952" y="4736592"/>
            <a:ext cx="329184" cy="329184"/>
          </a:xfrm>
          <a:prstGeom prst="ellipse">
            <a:avLst/>
          </a:prstGeom>
          <a:solidFill>
            <a:srgbClr val="C2410C"/>
          </a:solidFill>
          <a:ln>
            <a:noFill/>
          </a:ln>
        </p:spPr>
        <p:txBody>
          <a:bodyPr wrap="square" lIns="0" tIns="0" rIns="0" bIns="0" rtlCol="0" anchor="ctr">
            <a:normAutofit/>
          </a:bodyPr>
          <a:lstStyle/>
          <a:p>
            <a:pPr algn="ctr">
              <a:spcBef>
                <a:spcPts val="0"/>
              </a:spcBef>
              <a:spcAft>
                <a:spcPts val="0"/>
              </a:spcAft>
              <a:buNone/>
            </a:pPr>
            <a:r>
              <a:rPr lang="en-US" sz="1200" b="1" i="0" dirty="0">
                <a:solidFill>
                  <a:srgbClr val="FFFFFF"/>
                </a:solidFill>
                <a:latin typeface="Calibri"/>
                <a:cs typeface="Calibri"/>
              </a:rPr>
              <a:t>!</a:t>
            </a:r>
          </a:p>
        </p:txBody>
      </p:sp>
      <p:sp>
        <p:nvSpPr>
          <p:cNvPr id="128" name="Item"/>
          <p:cNvSpPr txBox="1"/>
          <p:nvPr/>
        </p:nvSpPr>
        <p:spPr>
          <a:xfrm>
            <a:off x="6976872" y="4690872"/>
            <a:ext cx="4434840" cy="658368"/>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400" b="1" i="0" dirty="0">
                <a:solidFill>
                  <a:srgbClr val="0F2A2E"/>
                </a:solidFill>
                <a:latin typeface="Calibri"/>
                <a:cs typeface="Calibri"/>
              </a:rPr>
              <a:t>Reminder rating: </a:t>
            </a:r>
            <a:r>
              <a:rPr lang="en-US" sz="1400" b="0" i="0" dirty="0">
                <a:solidFill>
                  <a:srgbClr val="334155"/>
                </a:solidFill>
                <a:latin typeface="Calibri"/>
                <a:cs typeface="Calibri"/>
              </a:rPr>
              <a:t>average 3.2/5; 35.3% rated it 1 or 2.</a:t>
            </a:r>
          </a:p>
        </p:txBody>
      </p:sp>
      <p:sp>
        <p:nvSpPr>
          <p:cNvPr id="129" name="Badge"/>
          <p:cNvSpPr/>
          <p:nvPr/>
        </p:nvSpPr>
        <p:spPr>
          <a:xfrm>
            <a:off x="6473952" y="5449824"/>
            <a:ext cx="329184" cy="329184"/>
          </a:xfrm>
          <a:prstGeom prst="ellipse">
            <a:avLst/>
          </a:prstGeom>
          <a:solidFill>
            <a:srgbClr val="C2410C"/>
          </a:solidFill>
          <a:ln>
            <a:noFill/>
          </a:ln>
        </p:spPr>
        <p:txBody>
          <a:bodyPr wrap="square" lIns="0" tIns="0" rIns="0" bIns="0" rtlCol="0" anchor="ctr">
            <a:normAutofit/>
          </a:bodyPr>
          <a:lstStyle/>
          <a:p>
            <a:pPr algn="ctr">
              <a:spcBef>
                <a:spcPts val="0"/>
              </a:spcBef>
              <a:spcAft>
                <a:spcPts val="0"/>
              </a:spcAft>
              <a:buNone/>
            </a:pPr>
            <a:r>
              <a:rPr lang="en-US" sz="1200" b="1" i="0" dirty="0">
                <a:solidFill>
                  <a:srgbClr val="FFFFFF"/>
                </a:solidFill>
                <a:latin typeface="Calibri"/>
                <a:cs typeface="Calibri"/>
              </a:rPr>
              <a:t>!</a:t>
            </a:r>
          </a:p>
        </p:txBody>
      </p:sp>
      <p:sp>
        <p:nvSpPr>
          <p:cNvPr id="130" name="Item"/>
          <p:cNvSpPr txBox="1"/>
          <p:nvPr/>
        </p:nvSpPr>
        <p:spPr>
          <a:xfrm>
            <a:off x="6976872" y="5404104"/>
            <a:ext cx="4434840" cy="658368"/>
          </a:xfrm>
          <a:prstGeom prst="rect">
            <a:avLst/>
          </a:prstGeom>
          <a:noFill/>
          <a:ln>
            <a:noFill/>
          </a:ln>
        </p:spPr>
        <p:txBody>
          <a:bodyPr wrap="square" lIns="0" tIns="0" rIns="0" bIns="0" rtlCol="0" anchor="t">
            <a:normAutofit/>
          </a:bodyPr>
          <a:lstStyle/>
          <a:p>
            <a:pPr algn="l">
              <a:lnSpc>
                <a:spcPct val="100000"/>
              </a:lnSpc>
              <a:spcBef>
                <a:spcPts val="0"/>
              </a:spcBef>
              <a:spcAft>
                <a:spcPts val="0"/>
              </a:spcAft>
              <a:buNone/>
            </a:pPr>
            <a:r>
              <a:rPr lang="en-US" sz="1400" b="1" i="0" dirty="0">
                <a:solidFill>
                  <a:srgbClr val="0F2A2E"/>
                </a:solidFill>
                <a:latin typeface="Calibri"/>
                <a:cs typeface="Calibri"/>
              </a:rPr>
              <a:t>Wider testing: </a:t>
            </a:r>
            <a:r>
              <a:rPr lang="en-US" sz="1400" b="0" i="0" dirty="0">
                <a:solidFill>
                  <a:srgbClr val="334155"/>
                </a:solidFill>
                <a:latin typeface="Calibri"/>
                <a:cs typeface="Calibri"/>
              </a:rPr>
              <a:t>most users were aged 40–49; test more 70+ users.</a:t>
            </a:r>
          </a:p>
        </p:txBody>
      </p:sp>
      <p:sp>
        <p:nvSpPr>
          <p:cNvPr id="131"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64748B"/>
                </a:solidFill>
                <a:latin typeface="Calibri"/>
                <a:cs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7F7"/>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0" rIns="0" tIns="0" bIns="0" anchor="ctr">
            <a:spAutoFit/>
          </a:bodyPr>
          <a:lstStyle/>
          <a:p>
            <a:pPr algn="l"/>
            <a:r>
              <a:rPr sz="1200" b="1">
                <a:solidFill>
                  <a:srgbClr val="0F766E"/>
                </a:solidFill>
                <a:latin typeface="Calibri"/>
              </a:rPr>
              <a:t>SEE IT WORKING</a:t>
            </a:r>
          </a:p>
        </p:txBody>
      </p:sp>
      <p:sp>
        <p:nvSpPr>
          <p:cNvPr id="3" name="TextBox 2"/>
          <p:cNvSpPr txBox="1"/>
          <p:nvPr/>
        </p:nvSpPr>
        <p:spPr>
          <a:xfrm>
            <a:off x="548640" y="548640"/>
            <a:ext cx="11064240" cy="640080"/>
          </a:xfrm>
          <a:prstGeom prst="rect">
            <a:avLst/>
          </a:prstGeom>
          <a:noFill/>
        </p:spPr>
        <p:txBody>
          <a:bodyPr wrap="square" lIns="0" rIns="0" tIns="0" bIns="0" anchor="t">
            <a:spAutoFit/>
          </a:bodyPr>
          <a:lstStyle/>
          <a:p>
            <a:pPr algn="l"/>
            <a:r>
              <a:rPr sz="3400" b="1">
                <a:solidFill>
                  <a:srgbClr val="0F2A2E"/>
                </a:solidFill>
                <a:latin typeface="Cambria"/>
              </a:rPr>
              <a:t>Live Demo: PicoBot in Action</a:t>
            </a:r>
          </a:p>
        </p:txBody>
      </p:sp>
      <p:sp>
        <p:nvSpPr>
          <p:cNvPr id="4" name="TextBox 3"/>
          <p:cNvSpPr txBox="1"/>
          <p:nvPr/>
        </p:nvSpPr>
        <p:spPr>
          <a:xfrm>
            <a:off x="10725912" y="6355080"/>
            <a:ext cx="914400" cy="320040"/>
          </a:xfrm>
          <a:prstGeom prst="rect">
            <a:avLst/>
          </a:prstGeom>
          <a:noFill/>
        </p:spPr>
        <p:txBody>
          <a:bodyPr wrap="square" lIns="0" rIns="0" tIns="0" bIns="0" anchor="ctr">
            <a:spAutoFit/>
          </a:bodyPr>
          <a:lstStyle/>
          <a:p>
            <a:pPr algn="r"/>
            <a:r>
              <a:rPr sz="1400" b="1">
                <a:solidFill>
                  <a:srgbClr val="64748B"/>
                </a:solidFill>
                <a:latin typeface="Calibri"/>
              </a:rPr>
              <a:t>09</a:t>
            </a:r>
          </a:p>
        </p:txBody>
      </p:sp>
      <p:sp>
        <p:nvSpPr>
          <p:cNvPr id="5" name="Rounded Rectangle 4"/>
          <p:cNvSpPr/>
          <p:nvPr/>
        </p:nvSpPr>
        <p:spPr>
          <a:xfrm>
            <a:off x="4638984" y="1325880"/>
            <a:ext cx="2914031" cy="4937760"/>
          </a:xfrm>
          <a:prstGeom prst="roundRect">
            <a:avLst>
              <a:gd name="adj" fmla="val 5000"/>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vide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913304" y="1463040"/>
            <a:ext cx="2365391" cy="4206240"/>
          </a:xfrm>
          <a:prstGeom prst="rect">
            <a:avLst/>
          </a:prstGeom>
        </p:spPr>
      </p:pic>
      <p:sp>
        <p:nvSpPr>
          <p:cNvPr id="7" name="TextBox 6"/>
          <p:cNvSpPr txBox="1"/>
          <p:nvPr/>
        </p:nvSpPr>
        <p:spPr>
          <a:xfrm>
            <a:off x="4638984" y="5729280"/>
            <a:ext cx="2914031" cy="320040"/>
          </a:xfrm>
          <a:prstGeom prst="rect">
            <a:avLst/>
          </a:prstGeom>
          <a:noFill/>
        </p:spPr>
        <p:txBody>
          <a:bodyPr wrap="square" lIns="0" rIns="0" tIns="0" bIns="0" anchor="ctr">
            <a:spAutoFit/>
          </a:bodyPr>
          <a:lstStyle/>
          <a:p>
            <a:pPr algn="ctr"/>
            <a:r>
              <a:rPr sz="1300" b="1">
                <a:solidFill>
                  <a:srgbClr val="2DD4BF"/>
                </a:solidFill>
                <a:latin typeface="Calibri"/>
              </a:rPr>
              <a:t>Click the video to play  ·  0:53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7F7"/>
        </a:solidFill>
        <a:effectLst/>
      </p:bgPr>
    </p:bg>
    <p:spTree>
      <p:nvGrpSpPr>
        <p:cNvPr id="1" name=""/>
        <p:cNvGrpSpPr/>
        <p:nvPr/>
      </p:nvGrpSpPr>
      <p:grpSpPr/>
      <p:sp>
        <p:nvSpPr>
          <p:cNvPr id="2" name="TextBox 1"/>
          <p:cNvSpPr txBox="1"/>
          <p:nvPr/>
        </p:nvSpPr>
        <p:spPr>
          <a:xfrm>
            <a:off x="548640" y="292608"/>
            <a:ext cx="8229600" cy="274320"/>
          </a:xfrm>
          <a:prstGeom prst="rect">
            <a:avLst/>
          </a:prstGeom>
          <a:noFill/>
        </p:spPr>
        <p:txBody>
          <a:bodyPr wrap="square" lIns="0" rIns="0" tIns="0" bIns="0" anchor="ctr">
            <a:spAutoFit/>
          </a:bodyPr>
          <a:lstStyle/>
          <a:p>
            <a:pPr algn="l"/>
            <a:r>
              <a:rPr sz="1200" b="1">
                <a:solidFill>
                  <a:srgbClr val="0F766E"/>
                </a:solidFill>
                <a:latin typeface="Calibri"/>
              </a:rPr>
              <a:t>PROJECT PLAN</a:t>
            </a:r>
          </a:p>
        </p:txBody>
      </p:sp>
      <p:sp>
        <p:nvSpPr>
          <p:cNvPr id="3" name="TextBox 2"/>
          <p:cNvSpPr txBox="1"/>
          <p:nvPr/>
        </p:nvSpPr>
        <p:spPr>
          <a:xfrm>
            <a:off x="548640" y="548640"/>
            <a:ext cx="11064240" cy="640080"/>
          </a:xfrm>
          <a:prstGeom prst="rect">
            <a:avLst/>
          </a:prstGeom>
          <a:noFill/>
        </p:spPr>
        <p:txBody>
          <a:bodyPr wrap="square" lIns="0" rIns="0" tIns="0" bIns="0" anchor="t">
            <a:spAutoFit/>
          </a:bodyPr>
          <a:lstStyle/>
          <a:p>
            <a:pPr algn="l"/>
            <a:r>
              <a:rPr sz="3400" b="1">
                <a:solidFill>
                  <a:srgbClr val="0F2A2E"/>
                </a:solidFill>
                <a:latin typeface="Cambria"/>
              </a:rPr>
              <a:t>Project Timeline: Gantt Chart</a:t>
            </a:r>
          </a:p>
        </p:txBody>
      </p:sp>
      <p:sp>
        <p:nvSpPr>
          <p:cNvPr id="4" name="TextBox 3"/>
          <p:cNvSpPr txBox="1"/>
          <p:nvPr/>
        </p:nvSpPr>
        <p:spPr>
          <a:xfrm>
            <a:off x="10725912" y="6355080"/>
            <a:ext cx="914400" cy="320040"/>
          </a:xfrm>
          <a:prstGeom prst="rect">
            <a:avLst/>
          </a:prstGeom>
          <a:noFill/>
        </p:spPr>
        <p:txBody>
          <a:bodyPr wrap="square" lIns="0" rIns="0" tIns="0" bIns="0" anchor="ctr">
            <a:spAutoFit/>
          </a:bodyPr>
          <a:lstStyle/>
          <a:p>
            <a:pPr algn="r"/>
            <a:r>
              <a:rPr sz="1400" b="1">
                <a:solidFill>
                  <a:srgbClr val="64748B"/>
                </a:solidFill>
                <a:latin typeface="Calibri"/>
              </a:rPr>
              <a:t>10</a:t>
            </a:r>
          </a:p>
        </p:txBody>
      </p:sp>
      <p:sp>
        <p:nvSpPr>
          <p:cNvPr id="5" name="Rounded Rectangle 4"/>
          <p:cNvSpPr/>
          <p:nvPr/>
        </p:nvSpPr>
        <p:spPr>
          <a:xfrm>
            <a:off x="457200" y="1234440"/>
            <a:ext cx="11274552" cy="4654296"/>
          </a:xfrm>
          <a:prstGeom prst="roundRect">
            <a:avLst>
              <a:gd name="adj" fmla="val 2000"/>
            </a:avLst>
          </a:prstGeom>
          <a:solidFill>
            <a:srgbClr val="FFFFFF"/>
          </a:solidFill>
          <a:ln>
            <a:noFill/>
          </a:ln>
          <a:effectLst>
            <a:outerShdw blurRad="63500" dist="19050" dir="5400000" algn="t" rotWithShape="0">
              <a:srgbClr val="0B3B40">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840480" cy="347472"/>
          </a:xfrm>
          <a:prstGeom prst="rect">
            <a:avLst/>
          </a:prstGeom>
          <a:noFill/>
        </p:spPr>
        <p:txBody>
          <a:bodyPr wrap="square" lIns="0" rIns="0" tIns="0" bIns="0" anchor="ctr">
            <a:spAutoFit/>
          </a:bodyPr>
          <a:lstStyle/>
          <a:p>
            <a:pPr algn="l"/>
            <a:r>
              <a:rPr sz="1300" b="1">
                <a:solidFill>
                  <a:srgbClr val="0F2A2E"/>
                </a:solidFill>
                <a:latin typeface="Cambria"/>
              </a:rPr>
              <a:t>Task</a:t>
            </a:r>
          </a:p>
        </p:txBody>
      </p:sp>
      <p:sp>
        <p:nvSpPr>
          <p:cNvPr id="7" name="Rectangle 6"/>
          <p:cNvSpPr/>
          <p:nvPr/>
        </p:nvSpPr>
        <p:spPr>
          <a:xfrm>
            <a:off x="4395470"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W1</a:t>
            </a:r>
          </a:p>
        </p:txBody>
      </p:sp>
      <p:sp>
        <p:nvSpPr>
          <p:cNvPr id="8" name="Rectangle 7"/>
          <p:cNvSpPr/>
          <p:nvPr/>
        </p:nvSpPr>
        <p:spPr>
          <a:xfrm>
            <a:off x="4999736"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W2</a:t>
            </a:r>
          </a:p>
        </p:txBody>
      </p:sp>
      <p:sp>
        <p:nvSpPr>
          <p:cNvPr id="9" name="Rectangle 8"/>
          <p:cNvSpPr/>
          <p:nvPr/>
        </p:nvSpPr>
        <p:spPr>
          <a:xfrm>
            <a:off x="5604002"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W3</a:t>
            </a:r>
          </a:p>
        </p:txBody>
      </p:sp>
      <p:sp>
        <p:nvSpPr>
          <p:cNvPr id="10" name="Rectangle 9"/>
          <p:cNvSpPr/>
          <p:nvPr/>
        </p:nvSpPr>
        <p:spPr>
          <a:xfrm>
            <a:off x="6208268"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W4</a:t>
            </a:r>
          </a:p>
        </p:txBody>
      </p:sp>
      <p:sp>
        <p:nvSpPr>
          <p:cNvPr id="11" name="Rectangle 10"/>
          <p:cNvSpPr/>
          <p:nvPr/>
        </p:nvSpPr>
        <p:spPr>
          <a:xfrm>
            <a:off x="6812534"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W5</a:t>
            </a:r>
          </a:p>
        </p:txBody>
      </p:sp>
      <p:sp>
        <p:nvSpPr>
          <p:cNvPr id="12" name="Rectangle 11"/>
          <p:cNvSpPr/>
          <p:nvPr/>
        </p:nvSpPr>
        <p:spPr>
          <a:xfrm>
            <a:off x="7416800"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W6</a:t>
            </a:r>
          </a:p>
        </p:txBody>
      </p:sp>
      <p:sp>
        <p:nvSpPr>
          <p:cNvPr id="13" name="Rectangle 12"/>
          <p:cNvSpPr/>
          <p:nvPr/>
        </p:nvSpPr>
        <p:spPr>
          <a:xfrm>
            <a:off x="8021066"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W7</a:t>
            </a:r>
          </a:p>
        </p:txBody>
      </p:sp>
      <p:sp>
        <p:nvSpPr>
          <p:cNvPr id="14" name="Rectangle 13"/>
          <p:cNvSpPr/>
          <p:nvPr/>
        </p:nvSpPr>
        <p:spPr>
          <a:xfrm>
            <a:off x="8625332"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W8</a:t>
            </a:r>
          </a:p>
        </p:txBody>
      </p:sp>
      <p:sp>
        <p:nvSpPr>
          <p:cNvPr id="15" name="Rectangle 14"/>
          <p:cNvSpPr/>
          <p:nvPr/>
        </p:nvSpPr>
        <p:spPr>
          <a:xfrm>
            <a:off x="9229598"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W9</a:t>
            </a:r>
          </a:p>
        </p:txBody>
      </p:sp>
      <p:sp>
        <p:nvSpPr>
          <p:cNvPr id="16" name="Rectangle 15"/>
          <p:cNvSpPr/>
          <p:nvPr/>
        </p:nvSpPr>
        <p:spPr>
          <a:xfrm>
            <a:off x="9833864"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W10</a:t>
            </a:r>
          </a:p>
        </p:txBody>
      </p:sp>
      <p:sp>
        <p:nvSpPr>
          <p:cNvPr id="17" name="Rectangle 16"/>
          <p:cNvSpPr/>
          <p:nvPr/>
        </p:nvSpPr>
        <p:spPr>
          <a:xfrm>
            <a:off x="10438130"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W11</a:t>
            </a:r>
          </a:p>
        </p:txBody>
      </p:sp>
      <p:sp>
        <p:nvSpPr>
          <p:cNvPr id="18" name="Rectangle 17"/>
          <p:cNvSpPr/>
          <p:nvPr/>
        </p:nvSpPr>
        <p:spPr>
          <a:xfrm>
            <a:off x="11042396" y="1325880"/>
            <a:ext cx="591566" cy="347472"/>
          </a:xfrm>
          <a:prstGeom prst="rect">
            <a:avLst/>
          </a:prstGeom>
          <a:solidFill>
            <a:srgbClr val="0B3B40"/>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FFFFFF"/>
                </a:solidFill>
                <a:latin typeface="Calibri"/>
              </a:rPr>
              <a:t>W12</a:t>
            </a:r>
          </a:p>
        </p:txBody>
      </p:sp>
      <p:sp>
        <p:nvSpPr>
          <p:cNvPr id="19" name="Rectangle 18"/>
          <p:cNvSpPr/>
          <p:nvPr/>
        </p:nvSpPr>
        <p:spPr>
          <a:xfrm>
            <a:off x="548640" y="2048256"/>
            <a:ext cx="11091672" cy="374904"/>
          </a:xfrm>
          <a:prstGeom prst="rect">
            <a:avLst/>
          </a:prstGeom>
          <a:solidFill>
            <a:srgbClr val="E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798064"/>
            <a:ext cx="11091672" cy="374904"/>
          </a:xfrm>
          <a:prstGeom prst="rect">
            <a:avLst/>
          </a:prstGeom>
          <a:solidFill>
            <a:srgbClr val="E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547872"/>
            <a:ext cx="11091672" cy="374904"/>
          </a:xfrm>
          <a:prstGeom prst="rect">
            <a:avLst/>
          </a:prstGeom>
          <a:solidFill>
            <a:srgbClr val="E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297680"/>
            <a:ext cx="11091672" cy="374904"/>
          </a:xfrm>
          <a:prstGeom prst="rect">
            <a:avLst/>
          </a:prstGeom>
          <a:solidFill>
            <a:srgbClr val="E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047488"/>
            <a:ext cx="11091672" cy="374904"/>
          </a:xfrm>
          <a:prstGeom prst="rect">
            <a:avLst/>
          </a:prstGeom>
          <a:solidFill>
            <a:srgbClr val="EE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990211"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594477"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8743"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03009"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07275"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1541"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15807"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20073"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824339"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428605"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032871" y="1673352"/>
            <a:ext cx="6350" cy="41239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1673352"/>
            <a:ext cx="3749040" cy="374904"/>
          </a:xfrm>
          <a:prstGeom prst="rect">
            <a:avLst/>
          </a:prstGeom>
          <a:noFill/>
        </p:spPr>
        <p:txBody>
          <a:bodyPr wrap="square" lIns="0" rIns="0" tIns="0" bIns="0" anchor="ctr">
            <a:spAutoFit/>
          </a:bodyPr>
          <a:lstStyle/>
          <a:p>
            <a:pPr algn="l"/>
            <a:r>
              <a:rPr sz="1200" b="1">
                <a:solidFill>
                  <a:srgbClr val="0F766E"/>
                </a:solidFill>
                <a:latin typeface="Calibri"/>
              </a:rPr>
              <a:t>1. </a:t>
            </a:r>
            <a:r>
              <a:rPr sz="1200" b="0">
                <a:solidFill>
                  <a:srgbClr val="334155"/>
                </a:solidFill>
                <a:latin typeface="Calibri"/>
              </a:rPr>
              <a:t>Literature review &amp; survey</a:t>
            </a:r>
          </a:p>
        </p:txBody>
      </p:sp>
      <p:sp>
        <p:nvSpPr>
          <p:cNvPr id="36" name="Rounded Rectangle 35"/>
          <p:cNvSpPr/>
          <p:nvPr/>
        </p:nvSpPr>
        <p:spPr>
          <a:xfrm>
            <a:off x="4416552" y="1737360"/>
            <a:ext cx="1757934" cy="246888"/>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3 wk</a:t>
            </a:r>
          </a:p>
        </p:txBody>
      </p:sp>
      <p:sp>
        <p:nvSpPr>
          <p:cNvPr id="37" name="TextBox 36"/>
          <p:cNvSpPr txBox="1"/>
          <p:nvPr/>
        </p:nvSpPr>
        <p:spPr>
          <a:xfrm>
            <a:off x="640080" y="2048256"/>
            <a:ext cx="3749040" cy="374904"/>
          </a:xfrm>
          <a:prstGeom prst="rect">
            <a:avLst/>
          </a:prstGeom>
          <a:noFill/>
        </p:spPr>
        <p:txBody>
          <a:bodyPr wrap="square" lIns="0" rIns="0" tIns="0" bIns="0" anchor="ctr">
            <a:spAutoFit/>
          </a:bodyPr>
          <a:lstStyle/>
          <a:p>
            <a:pPr algn="l"/>
            <a:r>
              <a:rPr sz="1200" b="1">
                <a:solidFill>
                  <a:srgbClr val="0F766E"/>
                </a:solidFill>
                <a:latin typeface="Calibri"/>
              </a:rPr>
              <a:t>2. </a:t>
            </a:r>
            <a:r>
              <a:rPr sz="1200" b="0">
                <a:solidFill>
                  <a:srgbClr val="334155"/>
                </a:solidFill>
                <a:latin typeface="Calibri"/>
              </a:rPr>
              <a:t>Problem statement &amp; objectives</a:t>
            </a:r>
          </a:p>
        </p:txBody>
      </p:sp>
      <p:sp>
        <p:nvSpPr>
          <p:cNvPr id="38" name="Rounded Rectangle 37"/>
          <p:cNvSpPr/>
          <p:nvPr/>
        </p:nvSpPr>
        <p:spPr>
          <a:xfrm>
            <a:off x="5020818" y="2112264"/>
            <a:ext cx="1153668" cy="246888"/>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2 wk</a:t>
            </a:r>
          </a:p>
        </p:txBody>
      </p:sp>
      <p:sp>
        <p:nvSpPr>
          <p:cNvPr id="39" name="TextBox 38"/>
          <p:cNvSpPr txBox="1"/>
          <p:nvPr/>
        </p:nvSpPr>
        <p:spPr>
          <a:xfrm>
            <a:off x="640080" y="2423160"/>
            <a:ext cx="3749040" cy="374904"/>
          </a:xfrm>
          <a:prstGeom prst="rect">
            <a:avLst/>
          </a:prstGeom>
          <a:noFill/>
        </p:spPr>
        <p:txBody>
          <a:bodyPr wrap="square" lIns="0" rIns="0" tIns="0" bIns="0" anchor="ctr">
            <a:spAutoFit/>
          </a:bodyPr>
          <a:lstStyle/>
          <a:p>
            <a:pPr algn="l"/>
            <a:r>
              <a:rPr sz="1200" b="1">
                <a:solidFill>
                  <a:srgbClr val="0891B2"/>
                </a:solidFill>
                <a:latin typeface="Calibri"/>
              </a:rPr>
              <a:t>3. </a:t>
            </a:r>
            <a:r>
              <a:rPr sz="1200" b="0">
                <a:solidFill>
                  <a:srgbClr val="334155"/>
                </a:solidFill>
                <a:latin typeface="Calibri"/>
              </a:rPr>
              <a:t>Concept model &amp; system design</a:t>
            </a:r>
          </a:p>
        </p:txBody>
      </p:sp>
      <p:sp>
        <p:nvSpPr>
          <p:cNvPr id="40" name="Rounded Rectangle 39"/>
          <p:cNvSpPr/>
          <p:nvPr/>
        </p:nvSpPr>
        <p:spPr>
          <a:xfrm>
            <a:off x="5625084" y="2487168"/>
            <a:ext cx="1757934" cy="246888"/>
          </a:xfrm>
          <a:prstGeom prst="roundRect">
            <a:avLst>
              <a:gd name="adj" fmla="val 30000"/>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3 wk</a:t>
            </a:r>
          </a:p>
        </p:txBody>
      </p:sp>
      <p:sp>
        <p:nvSpPr>
          <p:cNvPr id="41" name="TextBox 40"/>
          <p:cNvSpPr txBox="1"/>
          <p:nvPr/>
        </p:nvSpPr>
        <p:spPr>
          <a:xfrm>
            <a:off x="640080" y="2798064"/>
            <a:ext cx="3749040" cy="374904"/>
          </a:xfrm>
          <a:prstGeom prst="rect">
            <a:avLst/>
          </a:prstGeom>
          <a:noFill/>
        </p:spPr>
        <p:txBody>
          <a:bodyPr wrap="square" lIns="0" rIns="0" tIns="0" bIns="0" anchor="ctr">
            <a:spAutoFit/>
          </a:bodyPr>
          <a:lstStyle/>
          <a:p>
            <a:pPr algn="l"/>
            <a:r>
              <a:rPr sz="1200" b="1">
                <a:solidFill>
                  <a:srgbClr val="0891B2"/>
                </a:solidFill>
                <a:latin typeface="Calibri"/>
              </a:rPr>
              <a:t>4. </a:t>
            </a:r>
            <a:r>
              <a:rPr sz="1200" b="0">
                <a:solidFill>
                  <a:srgbClr val="334155"/>
                </a:solidFill>
                <a:latin typeface="Calibri"/>
              </a:rPr>
              <a:t>Component selection &amp; procurement</a:t>
            </a:r>
          </a:p>
        </p:txBody>
      </p:sp>
      <p:sp>
        <p:nvSpPr>
          <p:cNvPr id="42" name="Rounded Rectangle 41"/>
          <p:cNvSpPr/>
          <p:nvPr/>
        </p:nvSpPr>
        <p:spPr>
          <a:xfrm>
            <a:off x="6229350" y="2862072"/>
            <a:ext cx="1153668" cy="246888"/>
          </a:xfrm>
          <a:prstGeom prst="roundRect">
            <a:avLst>
              <a:gd name="adj" fmla="val 30000"/>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2 wk</a:t>
            </a:r>
          </a:p>
        </p:txBody>
      </p:sp>
      <p:sp>
        <p:nvSpPr>
          <p:cNvPr id="43" name="TextBox 42"/>
          <p:cNvSpPr txBox="1"/>
          <p:nvPr/>
        </p:nvSpPr>
        <p:spPr>
          <a:xfrm>
            <a:off x="640080" y="3172968"/>
            <a:ext cx="3749040" cy="374904"/>
          </a:xfrm>
          <a:prstGeom prst="rect">
            <a:avLst/>
          </a:prstGeom>
          <a:noFill/>
        </p:spPr>
        <p:txBody>
          <a:bodyPr wrap="square" lIns="0" rIns="0" tIns="0" bIns="0" anchor="ctr">
            <a:spAutoFit/>
          </a:bodyPr>
          <a:lstStyle/>
          <a:p>
            <a:pPr algn="l"/>
            <a:r>
              <a:rPr sz="1200" b="1">
                <a:solidFill>
                  <a:srgbClr val="0891B2"/>
                </a:solidFill>
                <a:latin typeface="Calibri"/>
              </a:rPr>
              <a:t>5. </a:t>
            </a:r>
            <a:r>
              <a:rPr sz="1200" b="0">
                <a:solidFill>
                  <a:srgbClr val="334155"/>
                </a:solidFill>
                <a:latin typeface="Calibri"/>
              </a:rPr>
              <a:t>Circuit design &amp; wiring</a:t>
            </a:r>
          </a:p>
        </p:txBody>
      </p:sp>
      <p:sp>
        <p:nvSpPr>
          <p:cNvPr id="44" name="Rounded Rectangle 43"/>
          <p:cNvSpPr/>
          <p:nvPr/>
        </p:nvSpPr>
        <p:spPr>
          <a:xfrm>
            <a:off x="6833616" y="3236976"/>
            <a:ext cx="1153668" cy="246888"/>
          </a:xfrm>
          <a:prstGeom prst="roundRect">
            <a:avLst>
              <a:gd name="adj" fmla="val 30000"/>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2 wk</a:t>
            </a:r>
          </a:p>
        </p:txBody>
      </p:sp>
      <p:sp>
        <p:nvSpPr>
          <p:cNvPr id="45" name="TextBox 44"/>
          <p:cNvSpPr txBox="1"/>
          <p:nvPr/>
        </p:nvSpPr>
        <p:spPr>
          <a:xfrm>
            <a:off x="640080" y="3547872"/>
            <a:ext cx="3749040" cy="374904"/>
          </a:xfrm>
          <a:prstGeom prst="rect">
            <a:avLst/>
          </a:prstGeom>
          <a:noFill/>
        </p:spPr>
        <p:txBody>
          <a:bodyPr wrap="square" lIns="0" rIns="0" tIns="0" bIns="0" anchor="ctr">
            <a:spAutoFit/>
          </a:bodyPr>
          <a:lstStyle/>
          <a:p>
            <a:pPr algn="l"/>
            <a:r>
              <a:rPr sz="1200" b="1">
                <a:solidFill>
                  <a:srgbClr val="F97316"/>
                </a:solidFill>
                <a:latin typeface="Calibri"/>
              </a:rPr>
              <a:t>6. </a:t>
            </a:r>
            <a:r>
              <a:rPr sz="1200" b="0">
                <a:solidFill>
                  <a:srgbClr val="334155"/>
                </a:solidFill>
                <a:latin typeface="Calibri"/>
              </a:rPr>
              <a:t>Reminder module: RTC, voice, button</a:t>
            </a:r>
          </a:p>
        </p:txBody>
      </p:sp>
      <p:sp>
        <p:nvSpPr>
          <p:cNvPr id="46" name="Rounded Rectangle 45"/>
          <p:cNvSpPr/>
          <p:nvPr/>
        </p:nvSpPr>
        <p:spPr>
          <a:xfrm>
            <a:off x="6833616" y="3611880"/>
            <a:ext cx="1757934" cy="246888"/>
          </a:xfrm>
          <a:prstGeom prst="roundRect">
            <a:avLst>
              <a:gd name="adj" fmla="val 3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3 wk</a:t>
            </a:r>
          </a:p>
        </p:txBody>
      </p:sp>
      <p:sp>
        <p:nvSpPr>
          <p:cNvPr id="47" name="TextBox 46"/>
          <p:cNvSpPr txBox="1"/>
          <p:nvPr/>
        </p:nvSpPr>
        <p:spPr>
          <a:xfrm>
            <a:off x="640080" y="3922776"/>
            <a:ext cx="3749040" cy="374904"/>
          </a:xfrm>
          <a:prstGeom prst="rect">
            <a:avLst/>
          </a:prstGeom>
          <a:noFill/>
        </p:spPr>
        <p:txBody>
          <a:bodyPr wrap="square" lIns="0" rIns="0" tIns="0" bIns="0" anchor="ctr">
            <a:spAutoFit/>
          </a:bodyPr>
          <a:lstStyle/>
          <a:p>
            <a:pPr algn="l"/>
            <a:r>
              <a:rPr sz="1200" b="1">
                <a:solidFill>
                  <a:srgbClr val="F97316"/>
                </a:solidFill>
                <a:latin typeface="Calibri"/>
              </a:rPr>
              <a:t>7. </a:t>
            </a:r>
            <a:r>
              <a:rPr sz="1200" b="0">
                <a:solidFill>
                  <a:srgbClr val="334155"/>
                </a:solidFill>
                <a:latin typeface="Calibri"/>
              </a:rPr>
              <a:t>Emotional engagement: OLED face, persuasion</a:t>
            </a:r>
          </a:p>
        </p:txBody>
      </p:sp>
      <p:sp>
        <p:nvSpPr>
          <p:cNvPr id="48" name="Rounded Rectangle 47"/>
          <p:cNvSpPr/>
          <p:nvPr/>
        </p:nvSpPr>
        <p:spPr>
          <a:xfrm>
            <a:off x="7437882" y="3986784"/>
            <a:ext cx="1757934" cy="246888"/>
          </a:xfrm>
          <a:prstGeom prst="roundRect">
            <a:avLst>
              <a:gd name="adj" fmla="val 3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3 wk</a:t>
            </a:r>
          </a:p>
        </p:txBody>
      </p:sp>
      <p:sp>
        <p:nvSpPr>
          <p:cNvPr id="49" name="TextBox 48"/>
          <p:cNvSpPr txBox="1"/>
          <p:nvPr/>
        </p:nvSpPr>
        <p:spPr>
          <a:xfrm>
            <a:off x="640080" y="4297680"/>
            <a:ext cx="3749040" cy="374904"/>
          </a:xfrm>
          <a:prstGeom prst="rect">
            <a:avLst/>
          </a:prstGeom>
          <a:noFill/>
        </p:spPr>
        <p:txBody>
          <a:bodyPr wrap="square" lIns="0" rIns="0" tIns="0" bIns="0" anchor="ctr">
            <a:spAutoFit/>
          </a:bodyPr>
          <a:lstStyle/>
          <a:p>
            <a:pPr algn="l"/>
            <a:r>
              <a:rPr sz="1200" b="1">
                <a:solidFill>
                  <a:srgbClr val="F97316"/>
                </a:solidFill>
                <a:latin typeface="Calibri"/>
              </a:rPr>
              <a:t>8. </a:t>
            </a:r>
            <a:r>
              <a:rPr sz="1200" b="0">
                <a:solidFill>
                  <a:srgbClr val="334155"/>
                </a:solidFill>
                <a:latin typeface="Calibri"/>
              </a:rPr>
              <a:t>Presence (PIR) &amp; gas-leak SMS alert</a:t>
            </a:r>
          </a:p>
        </p:txBody>
      </p:sp>
      <p:sp>
        <p:nvSpPr>
          <p:cNvPr id="50" name="Rounded Rectangle 49"/>
          <p:cNvSpPr/>
          <p:nvPr/>
        </p:nvSpPr>
        <p:spPr>
          <a:xfrm>
            <a:off x="8042148" y="4361688"/>
            <a:ext cx="1757934" cy="246888"/>
          </a:xfrm>
          <a:prstGeom prst="roundRect">
            <a:avLst>
              <a:gd name="adj" fmla="val 3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3 wk</a:t>
            </a:r>
          </a:p>
        </p:txBody>
      </p:sp>
      <p:sp>
        <p:nvSpPr>
          <p:cNvPr id="51" name="TextBox 50"/>
          <p:cNvSpPr txBox="1"/>
          <p:nvPr/>
        </p:nvSpPr>
        <p:spPr>
          <a:xfrm>
            <a:off x="640080" y="4672584"/>
            <a:ext cx="3749040" cy="374904"/>
          </a:xfrm>
          <a:prstGeom prst="rect">
            <a:avLst/>
          </a:prstGeom>
          <a:noFill/>
        </p:spPr>
        <p:txBody>
          <a:bodyPr wrap="square" lIns="0" rIns="0" tIns="0" bIns="0" anchor="ctr">
            <a:spAutoFit/>
          </a:bodyPr>
          <a:lstStyle/>
          <a:p>
            <a:pPr algn="l"/>
            <a:r>
              <a:rPr sz="1200" b="1">
                <a:solidFill>
                  <a:srgbClr val="F97316"/>
                </a:solidFill>
                <a:latin typeface="Calibri"/>
              </a:rPr>
              <a:t>9. </a:t>
            </a:r>
            <a:r>
              <a:rPr sz="1200" b="0">
                <a:solidFill>
                  <a:srgbClr val="334155"/>
                </a:solidFill>
                <a:latin typeface="Calibri"/>
              </a:rPr>
              <a:t>Integration, SD logging &amp; enclosure</a:t>
            </a:r>
          </a:p>
        </p:txBody>
      </p:sp>
      <p:sp>
        <p:nvSpPr>
          <p:cNvPr id="52" name="Rounded Rectangle 51"/>
          <p:cNvSpPr/>
          <p:nvPr/>
        </p:nvSpPr>
        <p:spPr>
          <a:xfrm>
            <a:off x="8646414" y="4736592"/>
            <a:ext cx="1153668" cy="246888"/>
          </a:xfrm>
          <a:prstGeom prst="roundRect">
            <a:avLst>
              <a:gd name="adj" fmla="val 3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2 wk</a:t>
            </a:r>
          </a:p>
        </p:txBody>
      </p:sp>
      <p:sp>
        <p:nvSpPr>
          <p:cNvPr id="53" name="TextBox 52"/>
          <p:cNvSpPr txBox="1"/>
          <p:nvPr/>
        </p:nvSpPr>
        <p:spPr>
          <a:xfrm>
            <a:off x="640080" y="5047488"/>
            <a:ext cx="3749040" cy="374904"/>
          </a:xfrm>
          <a:prstGeom prst="rect">
            <a:avLst/>
          </a:prstGeom>
          <a:noFill/>
        </p:spPr>
        <p:txBody>
          <a:bodyPr wrap="square" lIns="0" rIns="0" tIns="0" bIns="0" anchor="ctr">
            <a:spAutoFit/>
          </a:bodyPr>
          <a:lstStyle/>
          <a:p>
            <a:pPr algn="l"/>
            <a:r>
              <a:rPr sz="1200" b="1">
                <a:solidFill>
                  <a:srgbClr val="475569"/>
                </a:solidFill>
                <a:latin typeface="Calibri"/>
              </a:rPr>
              <a:t>10. </a:t>
            </a:r>
            <a:r>
              <a:rPr sz="1200" b="0">
                <a:solidFill>
                  <a:srgbClr val="334155"/>
                </a:solidFill>
                <a:latin typeface="Calibri"/>
              </a:rPr>
              <a:t>Testing &amp; refinement</a:t>
            </a:r>
          </a:p>
        </p:txBody>
      </p:sp>
      <p:sp>
        <p:nvSpPr>
          <p:cNvPr id="54" name="Rounded Rectangle 53"/>
          <p:cNvSpPr/>
          <p:nvPr/>
        </p:nvSpPr>
        <p:spPr>
          <a:xfrm>
            <a:off x="7437882" y="5111496"/>
            <a:ext cx="2966466" cy="246888"/>
          </a:xfrm>
          <a:prstGeom prst="roundRect">
            <a:avLst>
              <a:gd name="adj" fmla="val 30000"/>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5 wk</a:t>
            </a:r>
          </a:p>
        </p:txBody>
      </p:sp>
      <p:sp>
        <p:nvSpPr>
          <p:cNvPr id="55" name="TextBox 54"/>
          <p:cNvSpPr txBox="1"/>
          <p:nvPr/>
        </p:nvSpPr>
        <p:spPr>
          <a:xfrm>
            <a:off x="640080" y="5422392"/>
            <a:ext cx="3749040" cy="374904"/>
          </a:xfrm>
          <a:prstGeom prst="rect">
            <a:avLst/>
          </a:prstGeom>
          <a:noFill/>
        </p:spPr>
        <p:txBody>
          <a:bodyPr wrap="square" lIns="0" rIns="0" tIns="0" bIns="0" anchor="ctr">
            <a:spAutoFit/>
          </a:bodyPr>
          <a:lstStyle/>
          <a:p>
            <a:pPr algn="l"/>
            <a:r>
              <a:rPr sz="1200" b="1">
                <a:solidFill>
                  <a:srgbClr val="475569"/>
                </a:solidFill>
                <a:latin typeface="Calibri"/>
              </a:rPr>
              <a:t>11. </a:t>
            </a:r>
            <a:r>
              <a:rPr sz="1200" b="0">
                <a:solidFill>
                  <a:srgbClr val="334155"/>
                </a:solidFill>
                <a:latin typeface="Calibri"/>
              </a:rPr>
              <a:t>Paper &amp; report</a:t>
            </a:r>
          </a:p>
        </p:txBody>
      </p:sp>
      <p:sp>
        <p:nvSpPr>
          <p:cNvPr id="56" name="Rounded Rectangle 55"/>
          <p:cNvSpPr/>
          <p:nvPr/>
        </p:nvSpPr>
        <p:spPr>
          <a:xfrm>
            <a:off x="10459212" y="5486400"/>
            <a:ext cx="1153668" cy="246888"/>
          </a:xfrm>
          <a:prstGeom prst="roundRect">
            <a:avLst>
              <a:gd name="adj" fmla="val 30000"/>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Calibri"/>
              </a:rPr>
              <a:t>2 wk</a:t>
            </a:r>
          </a:p>
        </p:txBody>
      </p:sp>
      <p:sp>
        <p:nvSpPr>
          <p:cNvPr id="57" name="TextBox 56"/>
          <p:cNvSpPr txBox="1"/>
          <p:nvPr/>
        </p:nvSpPr>
        <p:spPr>
          <a:xfrm>
            <a:off x="548640" y="6025896"/>
            <a:ext cx="1005840" cy="228600"/>
          </a:xfrm>
          <a:prstGeom prst="rect">
            <a:avLst/>
          </a:prstGeom>
          <a:noFill/>
        </p:spPr>
        <p:txBody>
          <a:bodyPr wrap="square" lIns="0" rIns="0" tIns="0" bIns="0" anchor="ctr">
            <a:spAutoFit/>
          </a:bodyPr>
          <a:lstStyle/>
          <a:p>
            <a:pPr algn="l"/>
            <a:r>
              <a:rPr sz="1200" b="1">
                <a:solidFill>
                  <a:srgbClr val="0F2A2E"/>
                </a:solidFill>
                <a:latin typeface="Calibri"/>
              </a:rPr>
              <a:t>Phases:</a:t>
            </a:r>
          </a:p>
        </p:txBody>
      </p:sp>
      <p:sp>
        <p:nvSpPr>
          <p:cNvPr id="58" name="Rounded Rectangle 57"/>
          <p:cNvSpPr/>
          <p:nvPr/>
        </p:nvSpPr>
        <p:spPr>
          <a:xfrm>
            <a:off x="1554480" y="6053328"/>
            <a:ext cx="365760" cy="173736"/>
          </a:xfrm>
          <a:prstGeom prst="roundRect">
            <a:avLst>
              <a:gd name="adj" fmla="val 30000"/>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011680" y="6025896"/>
            <a:ext cx="1463040" cy="228600"/>
          </a:xfrm>
          <a:prstGeom prst="rect">
            <a:avLst/>
          </a:prstGeom>
          <a:noFill/>
        </p:spPr>
        <p:txBody>
          <a:bodyPr wrap="square" lIns="0" rIns="0" tIns="0" bIns="0" anchor="ctr">
            <a:spAutoFit/>
          </a:bodyPr>
          <a:lstStyle/>
          <a:p>
            <a:pPr algn="l"/>
            <a:r>
              <a:rPr sz="1200" b="0">
                <a:solidFill>
                  <a:srgbClr val="334155"/>
                </a:solidFill>
                <a:latin typeface="Calibri"/>
              </a:rPr>
              <a:t>Plan</a:t>
            </a:r>
          </a:p>
        </p:txBody>
      </p:sp>
      <p:sp>
        <p:nvSpPr>
          <p:cNvPr id="60" name="Rounded Rectangle 59"/>
          <p:cNvSpPr/>
          <p:nvPr/>
        </p:nvSpPr>
        <p:spPr>
          <a:xfrm>
            <a:off x="3520440" y="6053328"/>
            <a:ext cx="365760" cy="173736"/>
          </a:xfrm>
          <a:prstGeom prst="roundRect">
            <a:avLst>
              <a:gd name="adj" fmla="val 30000"/>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977640" y="6025896"/>
            <a:ext cx="1463040" cy="228600"/>
          </a:xfrm>
          <a:prstGeom prst="rect">
            <a:avLst/>
          </a:prstGeom>
          <a:noFill/>
        </p:spPr>
        <p:txBody>
          <a:bodyPr wrap="square" lIns="0" rIns="0" tIns="0" bIns="0" anchor="ctr">
            <a:spAutoFit/>
          </a:bodyPr>
          <a:lstStyle/>
          <a:p>
            <a:pPr algn="l"/>
            <a:r>
              <a:rPr sz="1200" b="0">
                <a:solidFill>
                  <a:srgbClr val="334155"/>
                </a:solidFill>
                <a:latin typeface="Calibri"/>
              </a:rPr>
              <a:t>Design</a:t>
            </a:r>
          </a:p>
        </p:txBody>
      </p:sp>
      <p:sp>
        <p:nvSpPr>
          <p:cNvPr id="62" name="Rounded Rectangle 61"/>
          <p:cNvSpPr/>
          <p:nvPr/>
        </p:nvSpPr>
        <p:spPr>
          <a:xfrm>
            <a:off x="5486400" y="6053328"/>
            <a:ext cx="365760" cy="173736"/>
          </a:xfrm>
          <a:prstGeom prst="roundRect">
            <a:avLst>
              <a:gd name="adj" fmla="val 30000"/>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0" y="6025896"/>
            <a:ext cx="1463040" cy="228600"/>
          </a:xfrm>
          <a:prstGeom prst="rect">
            <a:avLst/>
          </a:prstGeom>
          <a:noFill/>
        </p:spPr>
        <p:txBody>
          <a:bodyPr wrap="square" lIns="0" rIns="0" tIns="0" bIns="0" anchor="ctr">
            <a:spAutoFit/>
          </a:bodyPr>
          <a:lstStyle/>
          <a:p>
            <a:pPr algn="l"/>
            <a:r>
              <a:rPr sz="1200" b="0">
                <a:solidFill>
                  <a:srgbClr val="334155"/>
                </a:solidFill>
                <a:latin typeface="Calibri"/>
              </a:rPr>
              <a:t>Build</a:t>
            </a:r>
          </a:p>
        </p:txBody>
      </p:sp>
      <p:sp>
        <p:nvSpPr>
          <p:cNvPr id="64" name="Rounded Rectangle 63"/>
          <p:cNvSpPr/>
          <p:nvPr/>
        </p:nvSpPr>
        <p:spPr>
          <a:xfrm>
            <a:off x="7452360" y="6053328"/>
            <a:ext cx="365760" cy="173736"/>
          </a:xfrm>
          <a:prstGeom prst="roundRect">
            <a:avLst>
              <a:gd name="adj" fmla="val 30000"/>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09560" y="6025896"/>
            <a:ext cx="1463040" cy="228600"/>
          </a:xfrm>
          <a:prstGeom prst="rect">
            <a:avLst/>
          </a:prstGeom>
          <a:noFill/>
        </p:spPr>
        <p:txBody>
          <a:bodyPr wrap="square" lIns="0" rIns="0" tIns="0" bIns="0" anchor="ctr">
            <a:spAutoFit/>
          </a:bodyPr>
          <a:lstStyle/>
          <a:p>
            <a:pPr algn="l"/>
            <a:r>
              <a:rPr sz="1200" b="0">
                <a:solidFill>
                  <a:srgbClr val="334155"/>
                </a:solidFill>
                <a:latin typeface="Calibri"/>
              </a:rPr>
              <a:t>Test &amp; Report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3B40"/>
        </a:solidFill>
        <a:effectLst/>
      </p:bgPr>
    </p:bg>
    <p:spTree>
      <p:nvGrpSpPr>
        <p:cNvPr id="1" name=""/>
        <p:cNvGrpSpPr/>
        <p:nvPr/>
      </p:nvGrpSpPr>
      <p:grpSpPr>
        <a:xfrm>
          <a:off x="0" y="0"/>
          <a:ext cx="0" cy="0"/>
          <a:chOff x="0" y="0"/>
          <a:chExt cx="0" cy="0"/>
        </a:xfrm>
      </p:grpSpPr>
      <p:sp>
        <p:nvSpPr>
          <p:cNvPr id="101" name="Glow"/>
          <p:cNvSpPr/>
          <p:nvPr/>
        </p:nvSpPr>
        <p:spPr>
          <a:xfrm>
            <a:off x="6949440" y="731520"/>
            <a:ext cx="5120640" cy="5120640"/>
          </a:xfrm>
          <a:prstGeom prst="ellipse">
            <a:avLst/>
          </a:prstGeom>
          <a:solidFill>
            <a:srgbClr val="134E54"/>
          </a:solidFill>
          <a:ln>
            <a:noFill/>
          </a:ln>
        </p:spPr>
        <p:txBody>
          <a:bodyPr wrap="square" lIns="0" tIns="0" rIns="0" bIns="0" rtlCol="0" anchor="t">
            <a:normAutofit/>
          </a:bodyPr>
          <a:lstStyle/>
          <a:p>
            <a:endParaRPr lang="en-US"/>
          </a:p>
        </p:txBody>
      </p:sp>
      <p:pic>
        <p:nvPicPr>
          <p:cNvPr id="102" name="Robot Picture" descr="Smart Medicine Companion Robot"/>
          <p:cNvPicPr>
            <a:picLocks noChangeAspect="1"/>
          </p:cNvPicPr>
          <p:nvPr/>
        </p:nvPicPr>
        <p:blipFill>
          <a:blip r:embed="rId2">
            <a:extLst>
              <a:ext uri="{BEBA8EAE-BF5A-486C-A8C5-ECC9F3942E4B}">
                <a14:imgProps xmlns:a14="http://schemas.microsoft.com/office/drawing/2010/main">
                  <a14:imgLayer r:embed="rId3">
                    <a14:imgEffect>
                      <a14:backgroundRemoval t="0" b="100000" l="0" r="99750">
                        <a14:foregroundMark x1="10500" y1="29576" x2="12333" y2="71094"/>
                        <a14:foregroundMark x1="11167" y1="30134" x2="45750" y2="24442"/>
                        <a14:foregroundMark x1="52750" y1="24442" x2="75333" y2="20536"/>
                        <a14:foregroundMark x1="75333" y1="19866" x2="89167" y2="25000"/>
                        <a14:foregroundMark x1="90250" y1="26228" x2="87333" y2="65625"/>
                        <a14:foregroundMark x1="88917" y1="46205" x2="90250" y2="46205"/>
                        <a14:foregroundMark x1="89583" y1="46540" x2="88250" y2="64063"/>
                        <a14:foregroundMark x1="20250" y1="84933" x2="87333" y2="64955"/>
                        <a14:foregroundMark x1="69000" y1="24777" x2="71500" y2="23772"/>
                        <a14:foregroundMark x1="71083" y1="24777" x2="72917" y2="24777"/>
                      </a14:backgroundRemoval>
                    </a14:imgEffect>
                  </a14:imgLayer>
                </a14:imgProps>
              </a:ext>
            </a:extLst>
          </a:blip>
          <a:stretch>
            <a:fillRect/>
          </a:stretch>
        </p:blipFill>
        <p:spPr>
          <a:xfrm>
            <a:off x="6766560" y="1463040"/>
            <a:ext cx="5394960" cy="4028237"/>
          </a:xfrm>
          <a:prstGeom prst="rect">
            <a:avLst/>
          </a:prstGeom>
        </p:spPr>
      </p:pic>
      <p:sp>
        <p:nvSpPr>
          <p:cNvPr id="103" name="Thanks"/>
          <p:cNvSpPr txBox="1"/>
          <p:nvPr/>
        </p:nvSpPr>
        <p:spPr>
          <a:xfrm>
            <a:off x="685800" y="1920240"/>
            <a:ext cx="6217920" cy="1645920"/>
          </a:xfrm>
          <a:prstGeom prst="rect">
            <a:avLst/>
          </a:prstGeom>
          <a:noFill/>
          <a:ln>
            <a:noFill/>
          </a:ln>
        </p:spPr>
        <p:txBody>
          <a:bodyPr wrap="square" lIns="0" tIns="0" rIns="0" bIns="0" rtlCol="0" anchor="t">
            <a:normAutofit/>
          </a:bodyPr>
          <a:lstStyle/>
          <a:p>
            <a:pPr algn="l">
              <a:lnSpc>
                <a:spcPct val="90000"/>
              </a:lnSpc>
              <a:spcBef>
                <a:spcPts val="0"/>
              </a:spcBef>
              <a:spcAft>
                <a:spcPts val="0"/>
              </a:spcAft>
              <a:buNone/>
            </a:pPr>
            <a:r>
              <a:rPr lang="en-US" sz="5400" b="1" i="0" dirty="0">
                <a:solidFill>
                  <a:srgbClr val="FFFFFF"/>
                </a:solidFill>
                <a:latin typeface="Cambria"/>
                <a:cs typeface="Cambria"/>
              </a:rPr>
              <a:t>Thank You</a:t>
            </a:r>
          </a:p>
          <a:p>
            <a:pPr algn="l">
              <a:lnSpc>
                <a:spcPct val="90000"/>
              </a:lnSpc>
              <a:spcBef>
                <a:spcPts val="0"/>
              </a:spcBef>
              <a:spcAft>
                <a:spcPts val="0"/>
              </a:spcAft>
              <a:buNone/>
            </a:pPr>
            <a:r>
              <a:rPr lang="en-US" sz="3200" b="1" i="0" dirty="0">
                <a:solidFill>
                  <a:srgbClr val="2DD4BF"/>
                </a:solidFill>
                <a:latin typeface="Cambria"/>
                <a:cs typeface="Cambria"/>
              </a:rPr>
              <a:t>For Your Attention</a:t>
            </a:r>
          </a:p>
        </p:txBody>
      </p:sp>
      <p:sp>
        <p:nvSpPr>
          <p:cNvPr id="104" name="Q"/>
          <p:cNvSpPr txBox="1"/>
          <p:nvPr/>
        </p:nvSpPr>
        <p:spPr>
          <a:xfrm>
            <a:off x="685800" y="3749040"/>
            <a:ext cx="5943600" cy="457200"/>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0" i="1" dirty="0">
                <a:solidFill>
                  <a:srgbClr val="B6DCD8"/>
                </a:solidFill>
                <a:latin typeface="Calibri"/>
                <a:cs typeface="Calibri"/>
              </a:rPr>
              <a:t>Questions are welcome.</a:t>
            </a:r>
          </a:p>
        </p:txBody>
      </p:sp>
      <p:sp>
        <p:nvSpPr>
          <p:cNvPr id="105" name="Presenter"/>
          <p:cNvSpPr txBox="1"/>
          <p:nvPr/>
        </p:nvSpPr>
        <p:spPr>
          <a:xfrm>
            <a:off x="685800" y="5669280"/>
            <a:ext cx="6400800" cy="411480"/>
          </a:xfrm>
          <a:prstGeom prst="rect">
            <a:avLst/>
          </a:prstGeom>
          <a:noFill/>
          <a:ln>
            <a:noFill/>
          </a:ln>
        </p:spPr>
        <p:txBody>
          <a:bodyPr wrap="square" lIns="0" tIns="0" rIns="0" bIns="0" rtlCol="0" anchor="ctr">
            <a:normAutofit/>
          </a:bodyPr>
          <a:lstStyle/>
          <a:p>
            <a:pPr algn="l">
              <a:spcBef>
                <a:spcPts val="0"/>
              </a:spcBef>
              <a:spcAft>
                <a:spcPts val="0"/>
              </a:spcAft>
              <a:buNone/>
            </a:pPr>
            <a:r>
              <a:rPr lang="en-US" sz="1800" b="1" i="0" dirty="0">
                <a:solidFill>
                  <a:srgbClr val="FFFFFF"/>
                </a:solidFill>
                <a:latin typeface="Calibri"/>
                <a:cs typeface="Calibri"/>
              </a:rPr>
              <a:t>Tashnimul Hasan Shifat</a:t>
            </a:r>
            <a:r>
              <a:rPr lang="en-US" sz="1600" b="0" i="0" dirty="0">
                <a:solidFill>
                  <a:srgbClr val="B6DCD8"/>
                </a:solidFill>
                <a:latin typeface="Calibri"/>
                <a:cs typeface="Calibri"/>
              </a:rPr>
              <a:t>  ·  PicoBot, Group 2</a:t>
            </a:r>
          </a:p>
        </p:txBody>
      </p:sp>
      <p:sp>
        <p:nvSpPr>
          <p:cNvPr id="106" name="Page Number"/>
          <p:cNvSpPr txBox="1"/>
          <p:nvPr/>
        </p:nvSpPr>
        <p:spPr>
          <a:xfrm>
            <a:off x="10725912" y="6355080"/>
            <a:ext cx="914400" cy="320040"/>
          </a:xfrm>
          <a:prstGeom prst="rect">
            <a:avLst/>
          </a:prstGeom>
          <a:noFill/>
          <a:ln>
            <a:noFill/>
          </a:ln>
        </p:spPr>
        <p:txBody>
          <a:bodyPr wrap="square" lIns="0" tIns="0" rIns="0" bIns="0" rtlCol="0" anchor="ctr">
            <a:normAutofit/>
          </a:bodyPr>
          <a:lstStyle/>
          <a:p>
            <a:pPr algn="r">
              <a:spcBef>
                <a:spcPts val="0"/>
              </a:spcBef>
              <a:spcAft>
                <a:spcPts val="0"/>
              </a:spcAft>
              <a:buNone/>
            </a:pPr>
            <a:r>
              <a:rPr lang="en-US" sz="1400" b="1" i="0" dirty="0">
                <a:solidFill>
                  <a:srgbClr val="B6DCD8"/>
                </a:solidFill>
                <a:latin typeface="Calibri"/>
                <a:cs typeface="Calibri"/>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338CA"/>
      </a:accent1>
      <a:accent2>
        <a:srgbClr val="4F46E5"/>
      </a:accent2>
      <a:accent3>
        <a:srgbClr val="0D9488"/>
      </a:accent3>
      <a:accent4>
        <a:srgbClr val="F97316"/>
      </a:accent4>
      <a:accent5>
        <a:srgbClr val="2563EB"/>
      </a:accent5>
      <a:accent6>
        <a:srgbClr val="E11D74"/>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TotalTime>
  <Words>988</Words>
  <Application>Microsoft Office PowerPoint</Application>
  <PresentationFormat>Widescreen</PresentationFormat>
  <Paragraphs>180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Adika</dc:creator>
  <cp:lastModifiedBy>Tashnimul Hasan Shifat</cp:lastModifiedBy>
  <cp:revision>46</cp:revision>
  <dcterms:created xsi:type="dcterms:W3CDTF">2026-08-21T01:59:10Z</dcterms:created>
  <dcterms:modified xsi:type="dcterms:W3CDTF">2026-10-11T13:06:24Z</dcterms:modified>
</cp:coreProperties>
</file>